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27.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9" r:id="rId11"/>
    <p:sldId id="289" r:id="rId16"/>
    <p:sldId id="260" r:id="rId12"/>
    <p:sldId id="286" r:id="rId38"/>
    <p:sldId id="290" r:id="rId17"/>
    <p:sldId id="282" r:id="rId34"/>
    <p:sldId id="261" r:id="rId13"/>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5.xml"/><Relationship Id="rId13" Type="http://schemas.openxmlformats.org/officeDocument/2006/relationships/slide" Target="slides/slide9.xml"/><Relationship Id="rId16" Type="http://schemas.openxmlformats.org/officeDocument/2006/relationships/slide" Target="slides/slide4.xml"/><Relationship Id="rId17" Type="http://schemas.openxmlformats.org/officeDocument/2006/relationships/slide" Target="slides/slide7.xml"/><Relationship Id="rId34" Type="http://schemas.openxmlformats.org/officeDocument/2006/relationships/slide" Target="slides/slide8.xml"/><Relationship Id="rId38" Type="http://schemas.openxmlformats.org/officeDocument/2006/relationships/slide" Target="slides/slide6.xml"/><Relationship Id="rId40"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FROM ORIGINAL SLIDE 1</a:t>
            </a:r>
          </a:p>
          <a:p>
            <a:r>
              <a:t>Original slide artwork, theme, fonts, colors and layout retained. Only necessary wording and architecture labels were updated.</a:t>
            </a:r>
          </a:p>
          <a:p/>
          <a:p>
            <a:r>
              <a:t>Use the original cover to introduce the business proposition: a shared governed policy foundation, rather than a separate document pipeline in each application. The cover's illustrated rule and quotation are illustrative, not a live result. The service now supports original-passage publications as well as approved rules. Traceability and a sealed receipt do not guarantee interpretation correctness. Applications retain responsibility for business approval and action.</a:t>
            </a:r>
          </a:p>
          <a:p/>
          <a:p>
            <a:r>
              <a:t>ARCHITECTURE BASIS</a:t>
            </a:r>
          </a:p>
          <a:p>
            <a:r>
              <a:t>Current main at 4dfce681, published 22 September 2026. This is a source-defined architecture snapshot, not a live deployment audit.</a:t>
            </a:r>
          </a:p>
          <a:p>
            <a:r>
              <a:t>https://github.com/taomar/PolicyVerbAItim/blob/4dfce681/README.md</a:t>
            </a:r>
          </a:p>
          <a:p>
            <a:r>
              <a:t>https://github.com/taomar/PolicyVerbAItim/blob/4dfce681/docs/reference/architecture.md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FROM ORIGINAL SLIDE 2</a:t>
            </a:r>
          </a:p>
          <a:p>
            <a:r>
              <a:t>Original slide artwork, theme, fonts, colors and layout retained. Only necessary wording and architecture labels were updated.</a:t>
            </a:r>
          </a:p>
          <a:p/>
          <a:p>
            <a:r>
              <a:t>The original business-problem slide is retained to answer why the service is needed. These are risks of fragmented policy handling, not measured claims about a particular customer. Explain the operational and customer-facing consequences: inconsistent answers, repeated interpretation, unclear release identity and difficult audit reconstruction. VerbAItim centralizes the evidence foundation; it does not guarantee identical or correct model interpretations on every call.</a:t>
            </a:r>
          </a:p>
          <a:p/>
          <a:p>
            <a:r>
              <a:t>ARCHITECTURE BASIS</a:t>
            </a:r>
          </a:p>
          <a:p>
            <a:r>
              <a:t>Current main at 4dfce681, published 22 September 2026. This is a source-defined architecture snapshot, not a live deployment audit.</a:t>
            </a:r>
          </a:p>
          <a:p>
            <a:r>
              <a:t>https://github.com/taomar/PolicyVerbAItim/blob/4dfce681/README.md</a:t>
            </a:r>
          </a:p>
          <a:p>
            <a:r>
              <a:t>https://github.com/taomar/PolicyVerbAItim/blob/4dfce681/docs/reference/architecture.md</a:t>
            </a:r>
          </a:p>
          <a:p/>
          <a:p>
            <a:r>
              <a:t>VISUAL AND CONTENT REFINEMENT</a:t>
            </a:r>
          </a:p>
          <a:p>
            <a:r>
              <a:t>Follow the three-step visual: scattered releases and exceptions -&gt; repeated human/system interpretation -&gt; inconsistent delivery. The four consequence cards translate the operating problem into customer guidance, repeated work, version risk and explanation difficulty. These are illustrative failure modes, not measured customer outcomes. The same policy foundation can reduce fragmentation without promising identical or always-correct model answers.</a:t>
            </a:r>
          </a:p>
          <a:p/>
          <a:p>
            <a:r>
              <a:t>CONCRETE PROBLEM EXAMPLE</a:t>
            </a:r>
          </a:p>
          <a:p>
            <a:r>
              <a:t>The eligibility request and its three channel responses are explicitly illustrative. They are not an actual customer case, measured incident, or model-evaluation result, and no response is asserted to be correct. The example makes the operational risk of repeated translation concrete. These risks motivate reviewed source evidence, version control and traceable case handling; the service does not guarantee identical or correct model interpretations. The existing flow and consequence cards are retained.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FROM ORIGINAL SLIDE 4</a:t>
            </a:r>
          </a:p>
          <a:p>
            <a:r>
              <a:t>Original slide artwork, theme, fonts, colors and layout retained. Only necessary wording and architecture labels were updated.</a:t>
            </a:r>
          </a:p>
          <a:p/>
          <a:p>
            <a:r>
              <a:t>Retain the supplied solution slide and its illustration. The two paths share projects, ingestion, authentication and infrastructure, but have distinct candidate, publication, index-build and receipt identities. Choosing passage v2 does not convert approved rules. Employee Desk is the separate passage Light client with Scenarios, Information and Chat; it has a same-origin server gateway and server-held reader credential, no client-side policy judgment and no canned answers. It is not automatically hosted by the main Azure deployment.</a:t>
            </a:r>
          </a:p>
          <a:p/>
          <a:p>
            <a:r>
              <a:t>ARCHITECTURE BASIS</a:t>
            </a:r>
          </a:p>
          <a:p>
            <a:r>
              <a:t>Current main at 4dfce681, published 22 September 2026. This is a source-defined architecture snapshot, not a live deployment audit.</a:t>
            </a:r>
          </a:p>
          <a:p>
            <a:r>
              <a:t>https://github.com/taomar/PolicyVerbAItim/blob/4dfce681/README.md</a:t>
            </a:r>
          </a:p>
          <a:p>
            <a:r>
              <a:t>https://github.com/taomar/PolicyVerbAItim/blob/4dfce681/docs/reference/architecture.md</a:t>
            </a:r>
          </a:p>
          <a:p>
            <a:r>
              <a:t>https://github.com/taomar/PolicyVerbAItim/blob/4dfce681/apps/ais-self-service/README.md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FROM ORIGINAL SLIDE 5</a:t>
            </a:r>
          </a:p>
          <a:p>
            <a:r>
              <a:t>Original slide artwork, theme, fonts, colors and layout retained. Only necessary wording and architecture labels were updated.</a:t>
            </a:r>
          </a:p>
          <a:p/>
          <a:p>
            <a:r>
              <a:t>The original six-stage visual is preserved; the stages now represent the maintained lifecycle. Approved-rule review is exposed in Projects &gt; Review. Passage review currently uses an API binding the decision to candidate/review hashes with explicit issue dispositions. Passage publication creates an immutable manifest, followed by an isolated Search build with exact source/manifest readback. Case serving requires an effective reviewed publication, authorized project access, runtime opt-ins and exact publication/hash/index-build binding. Publication and readiness are not synonyms. Load work has durable records but API-owned in-process execution; restart reconciliation is not task resumption.</a:t>
            </a:r>
          </a:p>
          <a:p/>
          <a:p>
            <a:r>
              <a:t>ARCHITECTURE BASIS</a:t>
            </a:r>
          </a:p>
          <a:p>
            <a:r>
              <a:t>Current main at 4dfce681, published 22 September 2026. This is a source-defined architecture snapshot, not a live deployment audit.</a:t>
            </a:r>
          </a:p>
          <a:p>
            <a:r>
              <a:t>https://github.com/taomar/PolicyVerbAItim/blob/4dfce681/docs/reference/architecture.md</a:t>
            </a:r>
          </a:p>
          <a:p>
            <a:r>
              <a:t>https://github.com/taomar/PolicyVerbAItim/blob/4dfce681/docs/api/passage-v1.md</a:t>
            </a:r>
          </a:p>
          <a:p/>
          <a:p>
            <a:r>
              <a:t>VISUAL AND CONTENT REFINEMENT</a:t>
            </a:r>
          </a:p>
          <a:p>
            <a:r>
              <a:t>The first row is preparation and human review; the second row is publication and delivery. The purple human gate and lilac readiness gate are distinct: a completed AI Load does not approve content, and publication does not prove the Search projection is ready. The dark endpoint groups the consumer outputs: findings, unresolved points, canonical citations and the persisted receipt. Original passages and approved rules retain their distinct publication contracts. Existing locator availability and project/effective-publication/index validation limits still apply. Stage six depicts an audited case request, not retrieval-only output or a promise that every request yields a reached verdict.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FROM ORIGINAL SLIDE 6</a:t>
            </a:r>
          </a:p>
          <a:p>
            <a:r>
              <a:t>Original theme, palette, typography and header treatment retained; editable evidence-to-value diagram added.</a:t>
            </a:r>
          </a:p>
          <a:p/>
          <a:p>
            <a:r>
              <a:t>The branching diagram connects a shared reviewed publication to intended team, customer and review benefits. A shared governed service can reduce repeated pipeline implementation and improve release traceability; cited explanations and explicit missing information can support a clearer customer journey. These are intended benefits, not measured ROI, deflection-rate, satisfaction or accuracy claims. Validate in the user's own workflow.</a:t>
            </a:r>
          </a:p>
          <a:p>
            <a:r>
              <a:t>Model-mediated case interpretation is separate from eligible deterministic approved-rule evaluation. Source categories are not execution or approval permissions. Supported findings can coexist with missing case_fact or source_definition findings. Negative outcomes, missing facts, source gaps, partial results and transport failure should remain distinguishable. A receipt hash establishes identity/content integrity, not model correctness or reproducibility. Available page/span/table coordinates depend on source. Downstream action is the caller's job.</a:t>
            </a:r>
          </a:p>
          <a:p/>
          <a:p>
            <a:r>
              <a:t>ARCHITECTURE BASIS</a:t>
            </a:r>
          </a:p>
          <a:p>
            <a:r>
              <a:t>Current main at 4dfce681, published 22 September 2026. This is a source-defined architecture snapshot, not a live deployment audit.</a:t>
            </a:r>
          </a:p>
          <a:p>
            <a:r>
              <a:t>https://github.com/taomar/PolicyVerbAItim/blob/4dfce681/README.md</a:t>
            </a:r>
          </a:p>
          <a:p>
            <a:r>
              <a:t>https://github.com/taomar/PolicyVerbAItim/blob/4dfce681/docs/reference/architecture.md</a:t>
            </a:r>
          </a:p>
          <a:p>
            <a:r>
              <a:t>https://github.com/taomar/PolicyVerbAItim/blob/4dfce681/docs/api/passage-v1.md</a:t>
            </a:r>
          </a:p>
          <a:p/>
          <a:p>
            <a:r>
              <a:t>PILOT MEASUREMENT PLAN</a:t>
            </a:r>
          </a:p>
          <a:p>
            <a:r>
              <a:t>The five measures are proposed evaluation criteria, not observed improvements or numerical commitments. Agree definitions, baseline, sample and thresholds with the business owner before the pilot. Compare representative case mixes and include negative answers, missing facts, refusals, partial results and transport failures rather than reporting only successful answers. Suggested definitions: time spent handling policy questions; incidents involving a wrong policy release; repeat contacts for the same question; clarification exchanges; and effort needed to inspect a case's evidence. Efficiency must not be accepted at the expense of source-grounded correctness. Human review of findings remains a separate acceptance criterion. The five proposed measures are grouped beside the three intended beneficiary outcomes.</a:t>
            </a:r>
          </a:p>
          <a:p/>
          <a:p/>
          <a:p>
            <a:r>
              <a:t>DIAGRAM SEMANTICS</a:t>
            </a:r>
          </a:p>
          <a:p>
            <a:r>
              <a:t>The stacked pages represent reusable, versioned publication evidence. The branches show intended value relationships, not runtime execution steps or proof that any improvement has been achieved. Governance and source linkage support inspection; they do not guarantee correct interpretation, identical answers or business approval.</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ADAPTED FROM ORIGINAL SLIDE 3 — WHERE SEARCH FITS</a:t>
            </a:r>
          </a:p>
          <a:p>
            <a:r>
              <a:t>Original two-panel layout, shapes, typography and theme retained.</a:t>
            </a:r>
          </a:p>
          <a:p/>
          <a:p>
            <a:r>
              <a:t>POSITIONING, NOT A UNIVERSAL SUPERIORITY CLAIM</a:t>
            </a:r>
          </a:p>
          <a:p>
            <a:r>
              <a:t>The comparison names representative market options and their documented strengths, not an exhaustive procurement assessment or a matrix of unsupported missing-feature claims. VerbAItim is a better fit than a search-engine-only implementation when the requirement is a human-reviewed policy release, exact publication/index binding, case findings with unresolved points and canonical citations, and a durable request/result receipt in a reusable service. These are application-level policy lifecycle and case contracts; retrieval alone does not constitute human approval of the policy or establish which reviewed release governs a case. Equivalent application controls could be implemented on top of other retrieval services. VerbAItim itself uses Azure AI Search rather than replacing it.</a:t>
            </a:r>
          </a:p>
          <a:p/>
          <a:p>
            <a:r>
              <a:t>COMPETITOR CAPABILITIES RECOGNIZED</a:t>
            </a:r>
          </a:p>
          <a:p>
            <a:r>
              <a:t>Azure AI Search supports classic and agentic retrieval; current official documentation describes query planning, hybrid search, answer synthesis, references, permissions and activity logs. Do not describe modern search as only returning document links. Glean mirrors source permissions across search, AI answers/citations, agents and MCP, and documents operational audit logs and human confirmations for write actions. Do not imply that citations, MCP or auditability are unique to VerbAItim. Camunda models and executes DMN tables and expressions; it is a strong fit for explicitly modeled decision automation. This deck does not claim that VerbAItim has broader enterprise connectors, stronger security, lower cost, greater scale or better answer accuracy than those products. No head-to-head evaluation was performed. Choose by workload, and validate against source.</a:t>
            </a:r>
          </a:p>
          <a:p/>
          <a:p>
            <a:r>
              <a:t>OFFICIAL SOURCES CHECKED 22 SEPTEMBER 2026</a:t>
            </a:r>
          </a:p>
          <a:p>
            <a:r>
              <a:t>https://learn.microsoft.com/en-us/azure/search/search-what-is-azure-search</a:t>
            </a:r>
          </a:p>
          <a:p>
            <a:r>
              <a:t>https://docs.glean.com/security/security-principles</a:t>
            </a:r>
          </a:p>
          <a:p>
            <a:r>
              <a:t>https://docs.camunda.io/docs/components/modeler/dmn/</a:t>
            </a:r>
          </a:p>
          <a:p>
            <a:r>
              <a:t>https://github.com/taomar/PolicyVerbAItim/blob/4dfce681/README.md</a:t>
            </a:r>
          </a:p>
          <a:p>
            <a:r>
              <a:t>https://github.com/taomar/PolicyVerbAItim/blob/4dfce681/docs/reference/architecture.md</a:t>
            </a:r>
          </a:p>
          <a:p>
            <a:r>
              <a:t>https://github.com/taomar/PolicyVerbAItim/blob/4dfce681/docs/evaluation/latest-full-run.md</a:t>
            </a:r>
          </a:p>
          <a:p/>
          <a:p>
            <a:r>
              <a:t>RETRIEVAL AND FEEL CLARIFICATION</a:t>
            </a:r>
          </a:p>
          <a:p>
            <a:r>
              <a:t>Compared with answering directly from search-index content, the external secondary-index pattern resolves candidate IDs back to authoritative reviewed records. PolicyVerbAItim additionally checks publication/index bindings, validates citations and records receipts. These are application controls, not automatic guarantees supplied by the pattern. The benefit is evidence integrity and traceability; the trade-off is additional database access and consistency checks. This does not guarantee complete retrieval, accurate model interpretation, lower cost or lower latency, and no head-to-head advantage is asserted.</a:t>
            </a:r>
          </a:p>
          <a:p>
            <a:r>
              <a:t>Camunda is a product; DMN is the decision-modeling standard and FEEL is its expression language. PolicyVerbAItim already supports bounded expression compilation and its own typed FEEL artifacts/evaluator for eligible approved-rule routes. It does not claim a complete FEEL engine or normative DMN interchange. Passage Consume does not execute retained child-rule Boolean artifacts. Shared FEEL concepts are therefore not the differentiator; the focus is the integrated reviewed-publication, source-grounded case and receipt lifecycle.</a:t>
            </a:r>
          </a:p>
          <a:p>
            <a:r>
              <a:t>https://github.com/taomar/PolicyVerbAItim/blob/4dfce681/docs/reference/standards.md</a:t>
            </a:r>
          </a:p>
          <a:p>
            <a:r>
              <a:t>https://learn.microsoft.com/en-us/azure/architecture/patterns/index-table</a:t>
            </a:r>
          </a:p>
          <a:p>
            <a:r>
              <a:t>https://learn.microsoft.com/en-us/azure/architecture/patterns/cqrs</a:t>
            </a:r>
          </a:p>
          <a:p>
            <a:r>
              <a:t>https://docs.camunda.io/docs/components/modeler/dmn/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COMPONENT FLOW DIAGRAM</a:t>
            </a:r>
          </a:p>
          <a:p>
            <a:r>
              <a:t>The two connected rows replace the earlier component inventory. The original dark theme, Segoe UI typography and header/footer styling are retained. Boxes are application responsibilities, not a claim that each is an independently deployed microservice.</a:t>
            </a:r>
          </a:p>
          <a:p/>
          <a:p>
            <a:r>
              <a:t>PREPARATION FLOW</a:t>
            </a:r>
          </a:p>
          <a:p>
            <a:r>
              <a:t>PDF/DOCX upload preserves original files in Azure Files and canonical source identity in PostgreSQL. Application ingestion uses pdfplumber/python-docx, with optional Docling. AI Load in Microsoft Foundry proposes source-linked passages or rule candidates. Human review is explicit. Publication freezes reviewed content; the version-bound Search index must then be built and verified. The arrow to retrieval denotes a published Search projection, not a new model call or publication during each case.</a:t>
            </a:r>
          </a:p>
          <a:p/>
          <a:p>
            <a:r>
              <a:t>CASE FLOW</a:t>
            </a:r>
          </a:p>
          <a:p>
            <a:r>
              <a:t>Authorized REST clients or the operator-installed MCP adapter invoke Consume. In Azure the route is APIM -&gt; public Web/Nginx -&gt; internal FastAPI, hosted in Container Apps. The API validates caller/project access and exact effective publication/index bindings. Azure AI Search performs hybrid retrieval; application services use candidate IDs to hydrate authoritative reviewed passage/source records from PostgreSQL, then enforce the evidence budget. This is search-then-hydrate retrieval, used within a RAG flow. The established matching data-access pattern is an external secondary index, corresponding to the Index Table pattern's index-to-key-to-authoritative-record lookup. The materialized search projection is CQRS-related, but separate data stores alone are not proof of a full CQRS architecture. RAG describes using the retrieved evidence to ground a generated answer. Hybrid search means lexical plus vector search, not the combination of database and Search. Each requested judge receives the same admitted source union and original request. Microsoft Foundry supplies model interpretation, and the application validates citations and persists the request/result receipt in PostgreSQL. Explicit passage Light Information/Verdict uses no planner; auto/full retain planning. The diagram depicts audited case answering, not retrieval-only responses.</a:t>
            </a:r>
          </a:p>
          <a:p/>
          <a:p>
            <a:r>
              <a:t>BOUNDARIES AND AZURE SUPPORT</a:t>
            </a:r>
          </a:p>
          <a:p>
            <a:r>
              <a:t>PostgreSQL and canonical source files remain authoritative; Search is a projection. The MCP adapter is externally operator-managed, not another policy engine or an Azure service automatically deployed here. Product browser authoring bypasses APIM. Eligible approved-rule deterministic evaluation is separate and omitted from this main-flow diagram; passage child-rule expressions are not executed. Foundry inference uses managed identity. Key Vault, ACR, private networking/DNS and Log Analytics support the illustrated services but are intentionally omitted to keep the main flow clear. Neither a receipt nor this diagram proves interpretation correctness or live readiness.</a:t>
            </a:r>
          </a:p>
          <a:p/>
          <a:p>
            <a:r>
              <a:t>SOURCE BASIS — MAIN 4dfce681, 22 SEPTEMBER 2026</a:t>
            </a:r>
          </a:p>
          <a:p>
            <a:r>
              <a:t>https://github.com/taomar/PolicyVerbAItim/blob/4dfce681/docs/reference/architecture.md</a:t>
            </a:r>
          </a:p>
          <a:p>
            <a:r>
              <a:t>https://github.com/taomar/PolicyVerbAItim/blob/4dfce681/docs/deployment/azure-deployment.md</a:t>
            </a:r>
          </a:p>
          <a:p>
            <a:r>
              <a:t>https://github.com/taomar/PolicyVerbAItim/blob/4dfce681/docs/api/mcp-passage-operations.md</a:t>
            </a:r>
          </a:p>
          <a:p>
            <a:r>
              <a:t>https://github.com/taomar/PolicyVerbAItim/blob/4dfce681/src/policy_platform/application/passage_compact_consume.py</a:t>
            </a:r>
          </a:p>
          <a:p/>
          <a:p>
            <a:r>
              <a:t>PATTERN REFERENCES</a:t>
            </a:r>
          </a:p>
          <a:p>
            <a:r>
              <a:t>https://learn.microsoft.com/en-us/azure/architecture/patterns/index-table</a:t>
            </a:r>
          </a:p>
          <a:p>
            <a:r>
              <a:t>https://learn.microsoft.com/en-us/azure/architecture/patterns/cqrs</a:t>
            </a:r>
          </a:p>
          <a:p/>
          <a:p>
            <a:r>
              <a:t>OFFICIAL SERVICE ICONS</a:t>
            </a:r>
          </a:p>
          <a:p>
            <a:r>
              <a:t>Microsoft Azure Architecture Center public service icons V24, used under the architecture diagram permission. Icons retain their original colors, shape and aspect ratio and are placed next to the relevant service name; they are not product branding for VerbAItim. Raster derivatives are generated only for PowerPoint compatibility.</a:t>
            </a:r>
          </a:p>
          <a:p>
            <a:r>
              <a:t>https://learn.microsoft.com/en-us/azure/architecture/icons</a:t>
            </a:r>
          </a:p>
          <a:p>
            <a:r>
              <a:t>https://arch-center.azureedge.net/icons/Azure_Public_Service_Icons_V24.zip</a:t>
            </a:r>
          </a:p>
          <a:p/>
          <a:p>
            <a:r>
              <a:t>DOCUMENT SOURCE ADDITION</a:t>
            </a:r>
          </a:p>
          <a:p>
            <a:r>
              <a:t>Azure Blob Storage is shown at the user's request as an optional upstream document repository, supplying documents through the upload/ingestion boundary. It is not a claim that the current deployment provisions Blob Storage, automatically synchronizes blobs, or replaces the authoritative Azure Files mount. Source access/import integration is required. PostgreSQL remains authoritative for records and receipts, and Azure Files retains uploaded originals and raw Load artifacts in the documented deployment.</a:t>
            </a:r>
          </a:p>
          <a:p/>
          <a:p>
            <a:r>
              <a:t>CQRS LABEL</a:t>
            </a:r>
          </a:p>
          <a:p>
            <a:r>
              <a:t>CQRS expands to Command Query Responsibility Segregation. The parenthetical label highlights the read-projection aspect discussed with the user; it does not assert full CQRS adoption merely because a search index and relational database both exist. The exact index-ID-to-authoritative-record lookup is the Index Table/external secondary-index pattern. This distinction is retained in the pattern references above.</a:t>
            </a:r>
          </a:p>
          <a:p>
            <a:r>
              <a:t>The Blob icon is Microsoft's unmodified V24 Blob Block icon, with its original colors and aspect ratio preserved.</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CONNECTED EXPERIENCE MAP</a:t>
            </a:r>
          </a:p>
          <a:p>
            <a:r>
              <a:t>An editable hub-and-spoke diagram replaces the unconnected channel cards while retaining the original theme. Two-way links represent requests and evidence-bearing responses, not automatic actions or a claim that all channels are already deployed. The top publication node represents the governed evidence binding, not a cached answer. Channel-specific hosting, adapter and integration requirements remain visible.</a:t>
            </a:r>
          </a:p>
          <a:p/>
          <a:p>
            <a:r>
              <a:t>Employee Desk is an implemented, separately hosted passage client, not a claim of a live or automatically deployed service. It supplies Scenarios, Information and stateless Chat. A user must submit a selected scenario; examples are not guaranteed policy outcomes. Earlier Chat messages are not silently carried forward as case facts.</a:t>
            </a:r>
          </a:p>
          <a:p>
            <a:r>
              <a:t>AI agents and copilots can use an operator-installed MCP adapter exposing readiness, answer and receipt tools over Consume REST. It is not a separate policy engine or an automatically deployed Azure component. The hosted Desk's direct-key configuration does not use MCP.</a:t>
            </a:r>
          </a:p>
          <a:p>
            <a:r>
              <a:t>Service applications includes customer portals and staff-facing applications. Workflows can attach findings and receipts to cases; the host retains responsibility for approvals and business actions. These are integration patterns, not packaged product connectors.</a:t>
            </a:r>
          </a:p>
          <a:p>
            <a:r>
              <a:t>The shared output line summarizes evidence available through case-answering integrations. It does not claim identical response schemas across all routes or that a readiness lookup produces findings or a case receipt. Missing facts, negative answers, refusals, partial responses and transport failures must remain distinguishable.</a:t>
            </a:r>
          </a:p>
          <a:p/>
          <a:p>
            <a:r>
              <a:t>Approved rules: POST /api/policy-decisions/{project_key}/case and /case/light execute the same decision and store the full receipt; Light is representation, not a cheaper adjudicator. POST .../policies retrieves approved records without adjudication.</a:t>
            </a:r>
          </a:p>
          <a:p>
            <a:r>
              <a:t>Passages: POST .../case/passages-v2 retains planned Full behavior. The separate POST .../case/passages-v2/light accepts request_kind=information or verdict. A completed explicit request uses one embedding batch and one Terra/medium whole-request answerer, with no model planner. This describes model-service calls, not all HTTP calls. Its stored audit is passage_case_direct_v1, planning_source=caller_selected, planning_call=null. Omitted/auto Light retains Terra/high planning; unsuffixed Full rejects request_kind and can retain mixed-track planned behavior. Planned audits retain passage_case_v2; both can project to passage_case_light_v1. Every judge receives the same admitted source union and unchanged original request. Exact-ID validation, rank merging and budgets are application responsibilities; semantic meaning is interpreted by Search and models. No passage child FEEL execution or answer caching occurs. GET receipt readback does not reroute or reevaluate. Passage requests are stateless, with no implicit follow-up facts or idempotent replay. Do not claim automatic and explicit modes have proven equal accuracy.</a:t>
            </a:r>
          </a:p>
          <a:p/>
          <a:p>
            <a:r>
              <a:t>ARCHITECTURE BASIS</a:t>
            </a:r>
          </a:p>
          <a:p>
            <a:r>
              <a:t>Current main at 4dfce681, published 22 September 2026. This is a source-defined architecture snapshot, not a live deployment audit.</a:t>
            </a:r>
          </a:p>
          <a:p>
            <a:r>
              <a:t>https://github.com/taomar/PolicyVerbAItim/blob/4dfce681/docs/api/README.md</a:t>
            </a:r>
          </a:p>
          <a:p>
            <a:r>
              <a:t>https://github.com/taomar/PolicyVerbAItim/blob/4dfce681/docs/api/passage-v1.md</a:t>
            </a:r>
          </a:p>
          <a:p>
            <a:r>
              <a:t>https://github.com/taomar/PolicyVerbAItim/blob/4dfce681/docs/reference/architecture.md</a:t>
            </a:r>
          </a:p>
          <a:p>
            <a:r>
              <a:t>https://github.com/taomar/PolicyVerbAItim/blob/4dfce681/src/policy_platform/application/passage_direct_routing.py</a:t>
            </a:r>
          </a:p>
          <a:p>
            <a:r>
              <a:t>https://github.com/taomar/PolicyVerbAItim/blob/4dfce681/apps/ais-self-service/README.md</a:t>
            </a:r>
          </a:p>
          <a:p>
            <a:r>
              <a:t>https://github.com/taomar/PolicyVerbAItim/blob/4dfce681/docs/api/mcp-passage-operations.md</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FROM ORIGINAL SLIDE 31</a:t>
            </a:r>
          </a:p>
          <a:p>
            <a:r>
              <a:t>Original theme, palette, Segoe UI typography and header treatment retained; the body uses editable diagram shapes.</a:t>
            </a:r>
          </a:p>
          <a:p/>
          <a:p>
            <a:r>
              <a:t>The request-path diagram replaces the stacked inventory, preserving the original theme and header treatment. Azure external clients enter through APIM, then public Web/Nginx, then the internal FastAPI Container App. Product browser authoring bypasses APIM. Employee Desk has a separate gateway and hosting arrangement; local clients may call their configured local API. Source APIM defines twelve restricted operations, not a wildcard authoring gateway. Actual deployments can expose a different subset.</a:t>
            </a:r>
          </a:p>
          <a:p/>
          <a:p>
            <a:r>
              <a:t>MCP (Model Context Protocol) is an agent-facing integration adapter over the existing Consume REST contracts, not a separate policy engine. The operator-managed adapter exposes readiness, answer and receipt tools for the passage-v2 profile, with an approved-rule legacy profile also documented. It uses the configured API endpoint and preserves authentication, publication/index bindings and receipt semantics. The protected adapter installation is not bundled with this repository; Employee Desk's optional local MCP route is distinct from its hosted direct-HTTP route. The adapter does not cache answers or silently switch contracts.</a:t>
            </a:r>
          </a:p>
          <a:p/>
          <a:p>
            <a:r>
              <a:t>PostgreSQL and canonical records are authoritative; Azure Files preserves source and raw Load evidence. Azure AI Search is a version-bound projection. Foundry inference uses the API system-assigned managed identity. The application uses OpenAI-compatible REST, not a Foundry Agent Service, Semantic Kernel or Agent Framework runtime. Sol/max prepares source; Terra/high plans automatic cases; Terra/medium answers admitted evidence. APIM Developer has no production SLA and the Azure profile retains one API replica/worker. Private networking, Key Vault, ACR and logging support these components. No live Azure readiness claim is made.</a:t>
            </a:r>
          </a:p>
          <a:p/>
          <a:p>
            <a:r>
              <a:t>ARCHITECTURE BASIS</a:t>
            </a:r>
          </a:p>
          <a:p>
            <a:r>
              <a:t>Current main at 4dfce681, published 22 September 2026. This is a source-defined architecture snapshot, not a live deployment audit.</a:t>
            </a:r>
          </a:p>
          <a:p>
            <a:r>
              <a:t>https://github.com/taomar/PolicyVerbAItim/blob/4dfce681/docs/reference/architecture.md</a:t>
            </a:r>
          </a:p>
          <a:p>
            <a:r>
              <a:t>https://github.com/taomar/PolicyVerbAItim/blob/4dfce681/docs/deployment/azure-deployment.md</a:t>
            </a:r>
          </a:p>
          <a:p>
            <a:r>
              <a:t>https://github.com/taomar/PolicyVerbAItim/blob/4dfce681/infra/modules/apim.bicep</a:t>
            </a:r>
          </a:p>
          <a:p>
            <a:r>
              <a:t>https://github.com/taomar/PolicyVerbAItim/blob/4dfce681/infra/modules/container-apps.bicep</a:t>
            </a:r>
          </a:p>
          <a:p>
            <a:r>
              <a:t>https://github.com/taomar/PolicyVerbAItim/blob/4dfce681/docs/api/mcp-passage-operations.md</a:t>
            </a:r>
          </a:p>
          <a:p/>
          <a:p>
            <a:r>
              <a:t>DOCUMENT SOURCE ADDITION</a:t>
            </a:r>
          </a:p>
          <a:p>
            <a:r>
              <a:t>Azure Blob Storage is shown at the user's request as an optional upstream document repository, supplying documents through the upload/ingestion boundary. It is not a claim that the current deployment provisions Blob Storage, automatically synchronizes blobs, or replaces the authoritative Azure Files mount. Source access/import integration is required. PostgreSQL remains authoritative for records and receipts, and Azure Files retains uploaded originals and raw Load artifacts in the documented deployment.</a:t>
            </a:r>
          </a:p>
          <a:p/>
          <a:p/>
          <a:p>
            <a:r>
              <a:t>DIAGRAM READING</a:t>
            </a:r>
          </a:p>
          <a:p>
            <a:r>
              <a:t>The Container Apps outline contains Web/Nginx and internal FastAPI, not APIM or the managed data/model services. Arrows show request ingress and API dependencies; they do not enumerate every network hop, response or background operation. Product browser authoring bypasses APIM; external Azure Consume uses APIM -&gt; Web/Nginx -&gt; FastAPI. Read-only receipt operations and readiness checks retain their own semantics. The three dependency branches are not a claim that every request calls every service. Azure icons retain their original appearance and aspect ratio.</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FROM ORIGINAL SLIDE 33</a:t>
            </a:r>
          </a:p>
          <a:p>
            <a:r>
              <a:t>Original slide artwork, theme, fonts, colors and layout retained. Only necessary wording and architecture labels were updated.</a:t>
            </a:r>
          </a:p>
          <a:p/>
          <a:p>
            <a:r>
              <a:t>Retain the original four-step adoption slide, its success questions and summary bar. Pilot one source domain and one consumer; review and version the evidence and explicitly verify the runtime/index binding before judging service behavior.</a:t>
            </a:r>
          </a:p>
          <a:p>
            <a:r>
              <a:t>Current published evaluation (updated 22 September 2026; no new inference for publication): latest complete sixty-case evaluation had 40 passes, 16 failures and 4 uncertain results, 66.7% strict. A matched forty-case development comparison had 33 passes, 6 failures and 1 uncertain in each automatic/caller-selected arm, 82.5%, with different per-case failures. These overlapping development sets are not a before/after uplift and are not an unseen holdout. The 95% goal is not established. Later Employee Desk checks were bounded curated acceptance, not a full rerun or an accuracy benchmark. The slide intentionally makes no unsupported ROI, quality-equivalence, unattended-action or production-SLA claim.</a:t>
            </a:r>
          </a:p>
          <a:p/>
          <a:p>
            <a:r>
              <a:t>ARCHITECTURE BASIS</a:t>
            </a:r>
          </a:p>
          <a:p>
            <a:r>
              <a:t>Current main at 4dfce681, published 22 September 2026. This is a source-defined architecture snapshot, not a live deployment audit.</a:t>
            </a:r>
          </a:p>
          <a:p>
            <a:r>
              <a:t>https://github.com/taomar/PolicyVerbAItim/blob/4dfce681/docs/evaluation/latest-full-run.md</a:t>
            </a:r>
          </a:p>
          <a:p>
            <a:r>
              <a:t>https://github.com/taomar/PolicyVerbAItim/blob/4dfce681/README.md</a:t>
            </a:r>
          </a:p>
          <a:p>
            <a:r>
              <a:t>https://github.com/taomar/PolicyVerbAItim/blob/4dfce681/docs/deployment/azure-deployment.md</a:t>
            </a:r>
          </a:p>
          <a:p/>
          <a:p>
            <a:r>
              <a:t>GATED ADOPTION REFINEMENT</a:t>
            </a:r>
          </a:p>
          <a:p>
            <a:r>
              <a:t>The existing four stages are retained, with explicit outputs and a go/no-go gate. A useful pilot does not require a disputed policy: select a valuable, bounded domain and representative cases, including boundary and failure cases. Name the policy owner and reviewer, select the publication path and consumer, and agree acceptance criteria before evaluation. A completed Load is not human approval; a publication is not proof of Search readiness. Verify the index and exact serving bindings before exercising the consumer. Employee Desk is separately hosted and MCP requires an operator-installed adapter. Grade findings against source evidence and preserve missing facts, refusals and failures. Expansion is a human decision after agreed quality, evidence, operational and access-control gates pass; it is not automatic deployment or business-action approval. No fixed timeline, ROI, accuracy level or measured uplift is promised. A valid receipt still does not prove a correct interpretation.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notesSlide" Target="../notesSlides/notesSlide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6.png"/><Relationship Id="rId8"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descr="backgro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business-intro-cover" descr="PolicyVerbAItim business intro: policy documents on the left flow through a governed policy register into a published policy API serving agents, workflows and business processes."/>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descr="background"/>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descr="THE BUSINESS PROBLEM"/>
          <p:cNvSpPr txBox="1"/>
          <p:nvPr/>
        </p:nvSpPr>
        <p:spPr>
          <a:xfrm>
            <a:off x="731520" y="457200"/>
            <a:ext cx="8229600" cy="256032"/>
          </a:xfrm>
          <a:prstGeom prst="rect">
            <a:avLst/>
          </a:prstGeom>
          <a:noFill/>
        </p:spPr>
        <p:txBody>
          <a:bodyPr wrap="square" lIns="0" rIns="0" tIns="0" bIns="0">
            <a:spAutoFit/>
          </a:bodyPr>
          <a:lstStyle/>
          <a:p>
            <a:pPr algn="l">
              <a:spcAft>
                <a:spcPts val="0"/>
              </a:spcAft>
            </a:pPr>
            <a:r>
              <a:rPr sz="1100">
                <a:solidFill>
                  <a:srgbClr val="5B4DB1"/>
                </a:solidFill>
                <a:latin typeface="Segoe UI Semibold"/>
              </a:rPr>
              <a:t>THE BUSINESS PROBLEM</a:t>
            </a:r>
          </a:p>
        </p:txBody>
      </p:sp>
      <p:sp>
        <p:nvSpPr>
          <p:cNvPr id="4" name="act-label" descr="EXECUTIVE · 02"/>
          <p:cNvSpPr txBox="1"/>
          <p:nvPr/>
        </p:nvSpPr>
        <p:spPr>
          <a:xfrm>
            <a:off x="8869680" y="457200"/>
            <a:ext cx="2587752" cy="256032"/>
          </a:xfrm>
          <a:prstGeom prst="rect">
            <a:avLst/>
          </a:prstGeom>
          <a:noFill/>
        </p:spPr>
        <p:txBody>
          <a:bodyPr wrap="square" lIns="0" rIns="0" tIns="0" bIns="0">
            <a:spAutoFit/>
          </a:bodyPr>
          <a:lstStyle/>
          <a:p>
            <a:pPr algn="r">
              <a:spcAft>
                <a:spcPts val="0"/>
              </a:spcAft>
            </a:pPr>
            <a:r>
              <a:rPr sz="1000">
                <a:solidFill>
                  <a:srgbClr val="5C687C"/>
                </a:solidFill>
                <a:latin typeface="Segoe UI Semibold"/>
              </a:rPr>
              <a:t>EXECUTIVE · 02</a:t>
            </a:r>
          </a:p>
        </p:txBody>
      </p:sp>
      <p:sp>
        <p:nvSpPr>
          <p:cNvPr id="5" name="title" descr="Policy is authoritative — and trapped in prose"/>
          <p:cNvSpPr txBox="1"/>
          <p:nvPr/>
        </p:nvSpPr>
        <p:spPr>
          <a:xfrm>
            <a:off x="731520" y="777240"/>
            <a:ext cx="10725912" cy="731520"/>
          </a:xfrm>
          <a:prstGeom prst="rect">
            <a:avLst/>
          </a:prstGeom>
          <a:noFill/>
        </p:spPr>
        <p:txBody>
          <a:bodyPr wrap="square" lIns="0" rIns="0" tIns="0" bIns="0">
            <a:noAutofit/>
          </a:bodyPr>
          <a:lstStyle/>
          <a:p>
            <a:pPr algn="l">
              <a:lnSpc>
                <a:spcPct val="112000"/>
              </a:lnSpc>
              <a:spcBef>
                <a:spcPts val="0"/>
              </a:spcBef>
              <a:spcAft>
                <a:spcPts val="0"/>
              </a:spcAft>
            </a:pPr>
            <a:r>
              <a:rPr sz="3200" b="0">
                <a:solidFill>
                  <a:srgbClr val="0A1224"/>
                </a:solidFill>
                <a:latin typeface="Segoe UI Light"/>
              </a:rPr>
              <a:t>One policy. Different answers.</a:t>
            </a:r>
          </a:p>
        </p:txBody>
      </p:sp>
      <p:sp>
        <p:nvSpPr>
          <p:cNvPr id="6" name="accent-bar" descr="accent-bar"/>
          <p:cNvSpPr/>
          <p:nvPr/>
        </p:nvSpPr>
        <p:spPr>
          <a:xfrm>
            <a:off x="731520" y="1453896"/>
            <a:ext cx="960120"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title" descr="The document is the authority. Every decision taken from it is taken by someone — or something — re-reading it"/>
          <p:cNvSpPr txBox="1"/>
          <p:nvPr/>
        </p:nvSpPr>
        <p:spPr>
          <a:xfrm>
            <a:off x="731520" y="1746504"/>
            <a:ext cx="10725912" cy="548640"/>
          </a:xfrm>
          <a:prstGeom prst="rect">
            <a:avLst/>
          </a:prstGeom>
          <a:noFill/>
        </p:spPr>
        <p:txBody>
          <a:bodyPr wrap="square" lIns="0" rIns="0" tIns="0" bIns="0">
            <a:noAutofit/>
          </a:bodyPr>
          <a:lstStyle/>
          <a:p>
            <a:pPr algn="l">
              <a:lnSpc>
                <a:spcPct val="112000"/>
              </a:lnSpc>
              <a:spcBef>
                <a:spcPts val="0"/>
              </a:spcBef>
              <a:spcAft>
                <a:spcPts val="0"/>
              </a:spcAft>
            </a:pPr>
            <a:r>
              <a:rPr sz="1450">
                <a:solidFill>
                  <a:srgbClr val="5C687C"/>
                </a:solidFill>
                <a:latin typeface="Segoe UI"/>
              </a:rPr>
              <a:t>The problem is not finding a document. It is applying the right version, consistently, across people and systems.</a:t>
            </a:r>
          </a:p>
        </p:txBody>
      </p:sp>
      <p:sp>
        <p:nvSpPr>
          <p:cNvPr id="8" name="sources-card" descr="sources-card"/>
          <p:cNvSpPr/>
          <p:nvPr/>
        </p:nvSpPr>
        <p:spPr>
          <a:xfrm>
            <a:off x="731520" y="2688336"/>
            <a:ext cx="2880360" cy="1417320"/>
          </a:xfrm>
          <a:prstGeom prst="roundRect">
            <a:avLst>
              <a:gd name="adj" fmla="val 3500"/>
            </a:avLst>
          </a:prstGeom>
          <a:solidFill>
            <a:srgbClr val="FFFFFF"/>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descr="DISPERSED POLICY SOURCES"/>
          <p:cNvSpPr txBox="1"/>
          <p:nvPr/>
        </p:nvSpPr>
        <p:spPr>
          <a:xfrm>
            <a:off x="731520" y="2340864"/>
            <a:ext cx="2880360" cy="228600"/>
          </a:xfrm>
          <a:prstGeom prst="rect">
            <a:avLst/>
          </a:prstGeom>
          <a:noFill/>
        </p:spPr>
        <p:txBody>
          <a:bodyPr wrap="square" lIns="0" rIns="0" tIns="0" bIns="0">
            <a:noAutofit/>
          </a:bodyPr>
          <a:lstStyle/>
          <a:p>
            <a:pPr algn="l">
              <a:lnSpc>
                <a:spcPct val="112000"/>
              </a:lnSpc>
              <a:spcBef>
                <a:spcPts val="0"/>
              </a:spcBef>
              <a:spcAft>
                <a:spcPts val="0"/>
              </a:spcAft>
            </a:pPr>
            <a:r>
              <a:rPr sz="1100" b="0">
                <a:solidFill>
                  <a:srgbClr val="5B4DB1"/>
                </a:solidFill>
                <a:latin typeface="Segoe UI Semibold"/>
              </a:rPr>
              <a:t>01 / SCATTERED SOURCES</a:t>
            </a:r>
          </a:p>
        </p:txBody>
      </p:sp>
      <p:sp>
        <p:nvSpPr>
          <p:cNvPr id="10" name="source-chip" descr="Staff handbook · PDF · v4.2"/>
          <p:cNvSpPr/>
          <p:nvPr/>
        </p:nvSpPr>
        <p:spPr>
          <a:xfrm>
            <a:off x="914400" y="2798064"/>
            <a:ext cx="2514600" cy="237744"/>
          </a:xfrm>
          <a:prstGeom prst="rect">
            <a:avLst/>
          </a:prstGeom>
          <a:solidFill>
            <a:srgbClr val="F0F3F9"/>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descr="Staff handbook · PDF · v4.2"/>
          <p:cNvSpPr txBox="1"/>
          <p:nvPr/>
        </p:nvSpPr>
        <p:spPr>
          <a:xfrm>
            <a:off x="1005840" y="2830068"/>
            <a:ext cx="2340864" cy="192024"/>
          </a:xfrm>
          <a:prstGeom prst="rect">
            <a:avLst/>
          </a:prstGeom>
          <a:noFill/>
        </p:spPr>
        <p:txBody>
          <a:bodyPr wrap="square" lIns="0" rIns="0" tIns="0" bIns="0">
            <a:noAutofit/>
          </a:bodyPr>
          <a:lstStyle/>
          <a:p>
            <a:pPr algn="l">
              <a:lnSpc>
                <a:spcPct val="112000"/>
              </a:lnSpc>
              <a:spcBef>
                <a:spcPts val="0"/>
              </a:spcBef>
              <a:spcAft>
                <a:spcPts val="0"/>
              </a:spcAft>
            </a:pPr>
            <a:r>
              <a:rPr sz="1050">
                <a:solidFill>
                  <a:srgbClr val="5C687C"/>
                </a:solidFill>
                <a:latin typeface="Segoe UI"/>
              </a:rPr>
              <a:t>Policy / current release</a:t>
            </a:r>
          </a:p>
        </p:txBody>
      </p:sp>
      <p:sp>
        <p:nvSpPr>
          <p:cNvPr id="12" name="source-chip" descr="Procedure note · DOCX"/>
          <p:cNvSpPr/>
          <p:nvPr/>
        </p:nvSpPr>
        <p:spPr>
          <a:xfrm>
            <a:off x="914400" y="3090672"/>
            <a:ext cx="2514600" cy="237744"/>
          </a:xfrm>
          <a:prstGeom prst="rect">
            <a:avLst/>
          </a:prstGeom>
          <a:solidFill>
            <a:srgbClr val="F0F3F9"/>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descr="Procedure note · DOCX"/>
          <p:cNvSpPr txBox="1"/>
          <p:nvPr/>
        </p:nvSpPr>
        <p:spPr>
          <a:xfrm>
            <a:off x="1005840" y="3122676"/>
            <a:ext cx="2340864" cy="192024"/>
          </a:xfrm>
          <a:prstGeom prst="rect">
            <a:avLst/>
          </a:prstGeom>
          <a:noFill/>
        </p:spPr>
        <p:txBody>
          <a:bodyPr wrap="square" lIns="0" rIns="0" tIns="0" bIns="0">
            <a:noAutofit/>
          </a:bodyPr>
          <a:lstStyle/>
          <a:p>
            <a:pPr algn="l">
              <a:lnSpc>
                <a:spcPct val="112000"/>
              </a:lnSpc>
              <a:spcBef>
                <a:spcPts val="0"/>
              </a:spcBef>
              <a:spcAft>
                <a:spcPts val="0"/>
              </a:spcAft>
            </a:pPr>
            <a:r>
              <a:rPr sz="1050">
                <a:solidFill>
                  <a:srgbClr val="5C687C"/>
                </a:solidFill>
                <a:latin typeface="Segoe UI"/>
              </a:rPr>
              <a:t>Exception / local email</a:t>
            </a:r>
          </a:p>
        </p:txBody>
      </p:sp>
      <p:sp>
        <p:nvSpPr>
          <p:cNvPr id="14" name="source-chip" descr="Regional addendum · undated"/>
          <p:cNvSpPr/>
          <p:nvPr/>
        </p:nvSpPr>
        <p:spPr>
          <a:xfrm>
            <a:off x="914400" y="3383280"/>
            <a:ext cx="2514600" cy="237744"/>
          </a:xfrm>
          <a:prstGeom prst="rect">
            <a:avLst/>
          </a:prstGeom>
          <a:solidFill>
            <a:srgbClr val="F0F3F9"/>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descr="Regional addendum · undated"/>
          <p:cNvSpPr txBox="1"/>
          <p:nvPr/>
        </p:nvSpPr>
        <p:spPr>
          <a:xfrm>
            <a:off x="1005840" y="3415284"/>
            <a:ext cx="2340864" cy="192024"/>
          </a:xfrm>
          <a:prstGeom prst="rect">
            <a:avLst/>
          </a:prstGeom>
          <a:noFill/>
        </p:spPr>
        <p:txBody>
          <a:bodyPr wrap="square" lIns="0" rIns="0" tIns="0" bIns="0">
            <a:noAutofit/>
          </a:bodyPr>
          <a:lstStyle/>
          <a:p>
            <a:pPr algn="l">
              <a:lnSpc>
                <a:spcPct val="112000"/>
              </a:lnSpc>
              <a:spcBef>
                <a:spcPts val="0"/>
              </a:spcBef>
              <a:spcAft>
                <a:spcPts val="0"/>
              </a:spcAft>
            </a:pPr>
            <a:r>
              <a:rPr sz="1050">
                <a:solidFill>
                  <a:srgbClr val="5C687C"/>
                </a:solidFill>
                <a:latin typeface="Segoe UI"/>
              </a:rPr>
              <a:t>Update / changed wording</a:t>
            </a:r>
          </a:p>
        </p:txBody>
      </p:sp>
      <p:sp>
        <p:nvSpPr>
          <p:cNvPr id="16" name="source-chip" descr="Update memo · intranet page"/>
          <p:cNvSpPr/>
          <p:nvPr/>
        </p:nvSpPr>
        <p:spPr>
          <a:xfrm>
            <a:off x="914400" y="3675887"/>
            <a:ext cx="2514600" cy="237744"/>
          </a:xfrm>
          <a:prstGeom prst="rect">
            <a:avLst/>
          </a:prstGeom>
          <a:solidFill>
            <a:srgbClr val="F0F3F9"/>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descr="Update memo · intranet page"/>
          <p:cNvSpPr txBox="1"/>
          <p:nvPr/>
        </p:nvSpPr>
        <p:spPr>
          <a:xfrm>
            <a:off x="1005840" y="3707891"/>
            <a:ext cx="2340864" cy="192024"/>
          </a:xfrm>
          <a:prstGeom prst="rect">
            <a:avLst/>
          </a:prstGeom>
          <a:noFill/>
        </p:spPr>
        <p:txBody>
          <a:bodyPr wrap="square" lIns="0" rIns="0" tIns="0" bIns="0">
            <a:noAutofit/>
          </a:bodyPr>
          <a:lstStyle/>
          <a:p>
            <a:pPr algn="l">
              <a:lnSpc>
                <a:spcPct val="112000"/>
              </a:lnSpc>
              <a:spcBef>
                <a:spcPts val="0"/>
              </a:spcBef>
              <a:spcAft>
                <a:spcPts val="0"/>
              </a:spcAft>
            </a:pPr>
            <a:r>
              <a:rPr sz="1050">
                <a:solidFill>
                  <a:srgbClr val="5C687C"/>
                </a:solidFill>
                <a:latin typeface="Segoe UI"/>
              </a:rPr>
              <a:t>Application / hard-coded rule</a:t>
            </a:r>
          </a:p>
        </p:txBody>
      </p:sp>
      <p:sp>
        <p:nvSpPr>
          <p:cNvPr id="18" name="re-read-chevron" descr="Read again, case by case"/>
          <p:cNvSpPr/>
          <p:nvPr/>
        </p:nvSpPr>
        <p:spPr>
          <a:xfrm>
            <a:off x="3931920" y="2688336"/>
            <a:ext cx="2898648" cy="1417320"/>
          </a:xfrm>
          <a:prstGeom prst="roundRect"/>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8288" bIns="18288"/>
          <a:lstStyle/>
          <a:p>
            <a:pPr algn="ctr">
              <a:lnSpc>
                <a:spcPct val="102000"/>
              </a:lnSpc>
            </a:pPr>
          </a:p>
        </p:txBody>
      </p:sp>
      <p:sp>
        <p:nvSpPr>
          <p:cNvPr id="19" name="text" descr="no shared record&#10;of what was decided"/>
          <p:cNvSpPr txBox="1"/>
          <p:nvPr/>
        </p:nvSpPr>
        <p:spPr>
          <a:xfrm>
            <a:off x="3931920" y="2340864"/>
            <a:ext cx="3017520" cy="228600"/>
          </a:xfrm>
          <a:prstGeom prst="rect">
            <a:avLst/>
          </a:prstGeom>
          <a:noFill/>
        </p:spPr>
        <p:txBody>
          <a:bodyPr wrap="square" lIns="0" rIns="0" tIns="0" bIns="0">
            <a:noAutofit/>
          </a:bodyPr>
          <a:lstStyle/>
          <a:p>
            <a:pPr algn="l">
              <a:lnSpc>
                <a:spcPct val="112000"/>
              </a:lnSpc>
              <a:spcBef>
                <a:spcPts val="0"/>
              </a:spcBef>
              <a:spcAft>
                <a:spcPts val="0"/>
              </a:spcAft>
            </a:pPr>
            <a:r>
              <a:rPr sz="1050">
                <a:solidFill>
                  <a:srgbClr val="5B4DB1"/>
                </a:solidFill>
                <a:latin typeface="Segoe UI Semibold"/>
              </a:rPr>
              <a:t>02 / REPEATED TRANSLATION</a:t>
            </a:r>
          </a:p>
        </p:txBody>
      </p:sp>
      <p:sp>
        <p:nvSpPr>
          <p:cNvPr id="20" name="outcome-card" descr="outcome-card"/>
          <p:cNvSpPr/>
          <p:nvPr/>
        </p:nvSpPr>
        <p:spPr>
          <a:xfrm>
            <a:off x="7196328" y="2688336"/>
            <a:ext cx="4261104" cy="630936"/>
          </a:xfrm>
          <a:prstGeom prst="roundRect">
            <a:avLst>
              <a:gd name="adj" fmla="val 3500"/>
            </a:avLst>
          </a:prstGeom>
          <a:solidFill>
            <a:srgbClr val="FFFFFF"/>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ccent-bar" descr="accent-bar"/>
          <p:cNvSpPr/>
          <p:nvPr/>
        </p:nvSpPr>
        <p:spPr>
          <a:xfrm>
            <a:off x="7397496" y="2871216"/>
            <a:ext cx="201168" cy="54864"/>
          </a:xfrm>
          <a:prstGeom prst="rect">
            <a:avLst/>
          </a:prstGeom>
          <a:solidFill>
            <a:srgbClr val="F5B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descr="People decide"/>
          <p:cNvSpPr txBox="1"/>
          <p:nvPr/>
        </p:nvSpPr>
        <p:spPr>
          <a:xfrm>
            <a:off x="7754112" y="2779776"/>
            <a:ext cx="3456432" cy="246888"/>
          </a:xfrm>
          <a:prstGeom prst="rect">
            <a:avLst/>
          </a:prstGeom>
          <a:noFill/>
        </p:spPr>
        <p:txBody>
          <a:bodyPr wrap="square" lIns="0" rIns="0" tIns="0" bIns="0">
            <a:noAutofit/>
          </a:bodyPr>
          <a:lstStyle/>
          <a:p>
            <a:pPr algn="l">
              <a:lnSpc>
                <a:spcPct val="112000"/>
              </a:lnSpc>
              <a:spcBef>
                <a:spcPts val="0"/>
              </a:spcBef>
              <a:spcAft>
                <a:spcPts val="0"/>
              </a:spcAft>
            </a:pPr>
            <a:r>
              <a:rPr sz="1550">
                <a:solidFill>
                  <a:srgbClr val="0A1224"/>
                </a:solidFill>
                <a:latin typeface="Segoe UI"/>
              </a:rPr>
              <a:t>People reinterpret</a:t>
            </a:r>
          </a:p>
        </p:txBody>
      </p:sp>
      <p:sp>
        <p:nvSpPr>
          <p:cNvPr id="23" name="text" descr="Two readers, one paragraph, two defensible answers."/>
          <p:cNvSpPr txBox="1"/>
          <p:nvPr/>
        </p:nvSpPr>
        <p:spPr>
          <a:xfrm>
            <a:off x="7754112" y="3081528"/>
            <a:ext cx="3456432" cy="201168"/>
          </a:xfrm>
          <a:prstGeom prst="rect">
            <a:avLst/>
          </a:prstGeom>
          <a:noFill/>
        </p:spPr>
        <p:txBody>
          <a:bodyPr wrap="square" lIns="0" rIns="0" tIns="0" bIns="0">
            <a:noAutofit/>
          </a:bodyPr>
          <a:lstStyle/>
          <a:p>
            <a:pPr algn="l">
              <a:lnSpc>
                <a:spcPct val="112000"/>
              </a:lnSpc>
              <a:spcBef>
                <a:spcPts val="0"/>
              </a:spcBef>
              <a:spcAft>
                <a:spcPts val="0"/>
              </a:spcAft>
            </a:pPr>
            <a:r>
              <a:rPr sz="1150">
                <a:solidFill>
                  <a:srgbClr val="5C687C"/>
                </a:solidFill>
                <a:latin typeface="Segoe UI"/>
              </a:rPr>
              <a:t>Context and exceptions depend on who answers.</a:t>
            </a:r>
          </a:p>
        </p:txBody>
      </p:sp>
      <p:sp>
        <p:nvSpPr>
          <p:cNvPr id="24" name="outcome-card" descr="outcome-card"/>
          <p:cNvSpPr/>
          <p:nvPr/>
        </p:nvSpPr>
        <p:spPr>
          <a:xfrm>
            <a:off x="7196328" y="3474720"/>
            <a:ext cx="4261104" cy="630936"/>
          </a:xfrm>
          <a:prstGeom prst="roundRect">
            <a:avLst>
              <a:gd name="adj" fmla="val 3500"/>
            </a:avLst>
          </a:prstGeom>
          <a:solidFill>
            <a:srgbClr val="FFFFFF"/>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ccent-bar" descr="accent-bar"/>
          <p:cNvSpPr/>
          <p:nvPr/>
        </p:nvSpPr>
        <p:spPr>
          <a:xfrm>
            <a:off x="7397496" y="3657600"/>
            <a:ext cx="201168" cy="54864"/>
          </a:xfrm>
          <a:prstGeom prst="rect">
            <a:avLst/>
          </a:prstGeom>
          <a:solidFill>
            <a:srgbClr val="F5B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descr="Systems and agents decide"/>
          <p:cNvSpPr txBox="1"/>
          <p:nvPr/>
        </p:nvSpPr>
        <p:spPr>
          <a:xfrm>
            <a:off x="7754112" y="3566160"/>
            <a:ext cx="3456432" cy="246888"/>
          </a:xfrm>
          <a:prstGeom prst="rect">
            <a:avLst/>
          </a:prstGeom>
          <a:noFill/>
        </p:spPr>
        <p:txBody>
          <a:bodyPr wrap="square" lIns="0" rIns="0" tIns="0" bIns="0">
            <a:noAutofit/>
          </a:bodyPr>
          <a:lstStyle/>
          <a:p>
            <a:pPr algn="l">
              <a:lnSpc>
                <a:spcPct val="112000"/>
              </a:lnSpc>
              <a:spcBef>
                <a:spcPts val="0"/>
              </a:spcBef>
              <a:spcAft>
                <a:spcPts val="0"/>
              </a:spcAft>
            </a:pPr>
            <a:r>
              <a:rPr sz="1550">
                <a:solidFill>
                  <a:srgbClr val="0A1224"/>
                </a:solidFill>
                <a:latin typeface="Segoe UI"/>
              </a:rPr>
              <a:t>Applications drift</a:t>
            </a:r>
          </a:p>
        </p:txBody>
      </p:sp>
      <p:sp>
        <p:nvSpPr>
          <p:cNvPr id="27" name="text" descr="Each implementation re-states the rule and then drifts from it."/>
          <p:cNvSpPr txBox="1"/>
          <p:nvPr/>
        </p:nvSpPr>
        <p:spPr>
          <a:xfrm>
            <a:off x="7754112" y="3867911"/>
            <a:ext cx="3456432" cy="201168"/>
          </a:xfrm>
          <a:prstGeom prst="rect">
            <a:avLst/>
          </a:prstGeom>
          <a:noFill/>
        </p:spPr>
        <p:txBody>
          <a:bodyPr wrap="square" lIns="0" rIns="0" tIns="0" bIns="0">
            <a:noAutofit/>
          </a:bodyPr>
          <a:lstStyle/>
          <a:p>
            <a:pPr algn="l">
              <a:lnSpc>
                <a:spcPct val="112000"/>
              </a:lnSpc>
              <a:spcBef>
                <a:spcPts val="0"/>
              </a:spcBef>
              <a:spcAft>
                <a:spcPts val="0"/>
              </a:spcAft>
            </a:pPr>
            <a:r>
              <a:rPr sz="1150">
                <a:solidFill>
                  <a:srgbClr val="5C687C"/>
                </a:solidFill>
                <a:latin typeface="Segoe UI"/>
              </a:rPr>
              <a:t>Policy changes need separate code updates.</a:t>
            </a:r>
          </a:p>
        </p:txBody>
      </p:sp>
      <p:sp>
        <p:nvSpPr>
          <p:cNvPr id="28" name="rule-line" descr="rule-line"/>
          <p:cNvSpPr/>
          <p:nvPr/>
        </p:nvSpPr>
        <p:spPr>
          <a:xfrm>
            <a:off x="731520" y="4325112"/>
            <a:ext cx="10725912" cy="1024128"/>
          </a:xfrm>
          <a:prstGeom prst="rect">
            <a:avLst/>
          </a:prstGeom>
          <a:solidFill>
            <a:srgbClr val="EDE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descr="What that costs"/>
          <p:cNvSpPr txBox="1"/>
          <p:nvPr/>
        </p:nvSpPr>
        <p:spPr>
          <a:xfrm>
            <a:off x="731520" y="5422392"/>
            <a:ext cx="10725912" cy="192024"/>
          </a:xfrm>
          <a:prstGeom prst="rect">
            <a:avLst/>
          </a:prstGeom>
          <a:noFill/>
        </p:spPr>
        <p:txBody>
          <a:bodyPr wrap="square" lIns="0" rIns="0" tIns="0" bIns="0">
            <a:noAutofit/>
          </a:bodyPr>
          <a:lstStyle/>
          <a:p>
            <a:pPr algn="l">
              <a:lnSpc>
                <a:spcPct val="112000"/>
              </a:lnSpc>
              <a:spcBef>
                <a:spcPts val="0"/>
              </a:spcBef>
              <a:spcAft>
                <a:spcPts val="0"/>
              </a:spcAft>
            </a:pPr>
            <a:r>
              <a:rPr sz="1050">
                <a:solidFill>
                  <a:srgbClr val="5B4DB1"/>
                </a:solidFill>
                <a:latin typeface="Segoe UI Semibold"/>
              </a:rPr>
              <a:t>WHAT THIS COSTS THE BUSINESS AND THE CUSTOMER</a:t>
            </a:r>
          </a:p>
        </p:txBody>
      </p:sp>
      <p:sp>
        <p:nvSpPr>
          <p:cNvPr id="30" name="cost-card" descr="cost-card"/>
          <p:cNvSpPr/>
          <p:nvPr/>
        </p:nvSpPr>
        <p:spPr>
          <a:xfrm>
            <a:off x="731520" y="5641848"/>
            <a:ext cx="2523744" cy="886968"/>
          </a:xfrm>
          <a:prstGeom prst="roundRect">
            <a:avLst>
              <a:gd name="adj" fmla="val 3500"/>
            </a:avLst>
          </a:prstGeom>
          <a:solidFill>
            <a:srgbClr val="FFFFFF"/>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ccent-bar" descr="accent-bar"/>
          <p:cNvSpPr/>
          <p:nvPr/>
        </p:nvSpPr>
        <p:spPr>
          <a:xfrm>
            <a:off x="941832" y="5751576"/>
            <a:ext cx="310896" cy="50292"/>
          </a:xfrm>
          <a:prstGeom prst="rect">
            <a:avLst/>
          </a:prstGeom>
          <a:solidFill>
            <a:srgbClr val="F5B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descr="Inconsistent decisions"/>
          <p:cNvSpPr txBox="1"/>
          <p:nvPr/>
        </p:nvSpPr>
        <p:spPr>
          <a:xfrm>
            <a:off x="941832" y="5934456"/>
            <a:ext cx="2103120" cy="228600"/>
          </a:xfrm>
          <a:prstGeom prst="rect">
            <a:avLst/>
          </a:prstGeom>
          <a:noFill/>
        </p:spPr>
        <p:txBody>
          <a:bodyPr wrap="square" lIns="0" rIns="0" tIns="0" bIns="0">
            <a:noAutofit/>
          </a:bodyPr>
          <a:lstStyle/>
          <a:p>
            <a:pPr algn="l">
              <a:lnSpc>
                <a:spcPct val="112000"/>
              </a:lnSpc>
              <a:spcBef>
                <a:spcPts val="0"/>
              </a:spcBef>
              <a:spcAft>
                <a:spcPts val="0"/>
              </a:spcAft>
            </a:pPr>
            <a:r>
              <a:rPr sz="1350">
                <a:solidFill>
                  <a:srgbClr val="0A1224"/>
                </a:solidFill>
                <a:latin typeface="Segoe UI Semibold"/>
              </a:rPr>
              <a:t>Conflicting guidance</a:t>
            </a:r>
          </a:p>
        </p:txBody>
      </p:sp>
      <p:sp>
        <p:nvSpPr>
          <p:cNvPr id="33" name="text" descr="The same clause resolves differently by reader and by day."/>
          <p:cNvSpPr txBox="1"/>
          <p:nvPr/>
        </p:nvSpPr>
        <p:spPr>
          <a:xfrm>
            <a:off x="941832" y="6281928"/>
            <a:ext cx="2103120" cy="201168"/>
          </a:xfrm>
          <a:prstGeom prst="rect">
            <a:avLst/>
          </a:prstGeom>
          <a:noFill/>
        </p:spPr>
        <p:txBody>
          <a:bodyPr wrap="square" lIns="0" rIns="0" tIns="0" bIns="0">
            <a:noAutofit/>
          </a:bodyPr>
          <a:lstStyle/>
          <a:p>
            <a:pPr algn="l">
              <a:lnSpc>
                <a:spcPct val="112000"/>
              </a:lnSpc>
              <a:spcBef>
                <a:spcPts val="0"/>
              </a:spcBef>
              <a:spcAft>
                <a:spcPts val="0"/>
              </a:spcAft>
            </a:pPr>
            <a:r>
              <a:rPr sz="1050">
                <a:solidFill>
                  <a:srgbClr val="5C687C"/>
                </a:solidFill>
                <a:latin typeface="Segoe UI"/>
              </a:rPr>
              <a:t>Repeat contacts; lower trust.</a:t>
            </a:r>
          </a:p>
        </p:txBody>
      </p:sp>
      <p:sp>
        <p:nvSpPr>
          <p:cNvPr id="34" name="cost-card" descr="cost-card"/>
          <p:cNvSpPr/>
          <p:nvPr/>
        </p:nvSpPr>
        <p:spPr>
          <a:xfrm>
            <a:off x="3456432" y="5641848"/>
            <a:ext cx="2523744" cy="886968"/>
          </a:xfrm>
          <a:prstGeom prst="roundRect">
            <a:avLst>
              <a:gd name="adj" fmla="val 3500"/>
            </a:avLst>
          </a:prstGeom>
          <a:solidFill>
            <a:srgbClr val="FFFFFF"/>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ccent-bar" descr="accent-bar"/>
          <p:cNvSpPr/>
          <p:nvPr/>
        </p:nvSpPr>
        <p:spPr>
          <a:xfrm>
            <a:off x="3666744" y="5751576"/>
            <a:ext cx="310896" cy="50292"/>
          </a:xfrm>
          <a:prstGeom prst="rect">
            <a:avLst/>
          </a:prstGeom>
          <a:solidFill>
            <a:srgbClr val="F5B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descr="Reimplementation and drift"/>
          <p:cNvSpPr txBox="1"/>
          <p:nvPr/>
        </p:nvSpPr>
        <p:spPr>
          <a:xfrm>
            <a:off x="3666744" y="5934456"/>
            <a:ext cx="2103120" cy="228600"/>
          </a:xfrm>
          <a:prstGeom prst="rect">
            <a:avLst/>
          </a:prstGeom>
          <a:noFill/>
        </p:spPr>
        <p:txBody>
          <a:bodyPr wrap="square" lIns="0" rIns="0" tIns="0" bIns="0">
            <a:noAutofit/>
          </a:bodyPr>
          <a:lstStyle/>
          <a:p>
            <a:pPr algn="l">
              <a:lnSpc>
                <a:spcPct val="112000"/>
              </a:lnSpc>
              <a:spcBef>
                <a:spcPts val="0"/>
              </a:spcBef>
              <a:spcAft>
                <a:spcPts val="0"/>
              </a:spcAft>
            </a:pPr>
            <a:r>
              <a:rPr sz="1350">
                <a:solidFill>
                  <a:srgbClr val="0A1224"/>
                </a:solidFill>
                <a:latin typeface="Segoe UI Semibold"/>
              </a:rPr>
              <a:t>Repeated effort</a:t>
            </a:r>
          </a:p>
        </p:txBody>
      </p:sp>
      <p:sp>
        <p:nvSpPr>
          <p:cNvPr id="37" name="text" descr="Every consuming system re-encodes the rule, then drifts."/>
          <p:cNvSpPr txBox="1"/>
          <p:nvPr/>
        </p:nvSpPr>
        <p:spPr>
          <a:xfrm>
            <a:off x="3666744" y="6281928"/>
            <a:ext cx="2103120" cy="201168"/>
          </a:xfrm>
          <a:prstGeom prst="rect">
            <a:avLst/>
          </a:prstGeom>
          <a:noFill/>
        </p:spPr>
        <p:txBody>
          <a:bodyPr wrap="square" lIns="0" rIns="0" tIns="0" bIns="0">
            <a:noAutofit/>
          </a:bodyPr>
          <a:lstStyle/>
          <a:p>
            <a:pPr algn="l">
              <a:lnSpc>
                <a:spcPct val="112000"/>
              </a:lnSpc>
              <a:spcBef>
                <a:spcPts val="0"/>
              </a:spcBef>
              <a:spcAft>
                <a:spcPts val="0"/>
              </a:spcAft>
            </a:pPr>
            <a:r>
              <a:rPr sz="1050">
                <a:solidFill>
                  <a:srgbClr val="5C687C"/>
                </a:solidFill>
                <a:latin typeface="Segoe UI"/>
              </a:rPr>
              <a:t>Re-reading, re-coding, rework.</a:t>
            </a:r>
          </a:p>
        </p:txBody>
      </p:sp>
      <p:sp>
        <p:nvSpPr>
          <p:cNvPr id="38" name="cost-card" descr="cost-card"/>
          <p:cNvSpPr/>
          <p:nvPr/>
        </p:nvSpPr>
        <p:spPr>
          <a:xfrm>
            <a:off x="6181344" y="5641848"/>
            <a:ext cx="2523744" cy="886968"/>
          </a:xfrm>
          <a:prstGeom prst="roundRect">
            <a:avLst>
              <a:gd name="adj" fmla="val 3500"/>
            </a:avLst>
          </a:prstGeom>
          <a:solidFill>
            <a:srgbClr val="FFFFFF"/>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ccent-bar" descr="accent-bar"/>
          <p:cNvSpPr/>
          <p:nvPr/>
        </p:nvSpPr>
        <p:spPr>
          <a:xfrm>
            <a:off x="6391656" y="5751576"/>
            <a:ext cx="310896" cy="50292"/>
          </a:xfrm>
          <a:prstGeom prst="rect">
            <a:avLst/>
          </a:prstGeom>
          <a:solidFill>
            <a:srgbClr val="F5B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descr="Unclear which version applied"/>
          <p:cNvSpPr txBox="1"/>
          <p:nvPr/>
        </p:nvSpPr>
        <p:spPr>
          <a:xfrm>
            <a:off x="6391656" y="5934456"/>
            <a:ext cx="2103120" cy="228600"/>
          </a:xfrm>
          <a:prstGeom prst="rect">
            <a:avLst/>
          </a:prstGeom>
          <a:noFill/>
        </p:spPr>
        <p:txBody>
          <a:bodyPr wrap="square" lIns="0" rIns="0" tIns="0" bIns="0">
            <a:noAutofit/>
          </a:bodyPr>
          <a:lstStyle/>
          <a:p>
            <a:pPr algn="l">
              <a:lnSpc>
                <a:spcPct val="112000"/>
              </a:lnSpc>
              <a:spcBef>
                <a:spcPts val="0"/>
              </a:spcBef>
              <a:spcAft>
                <a:spcPts val="0"/>
              </a:spcAft>
            </a:pPr>
            <a:r>
              <a:rPr sz="1350">
                <a:solidFill>
                  <a:srgbClr val="0A1224"/>
                </a:solidFill>
                <a:latin typeface="Segoe UI Semibold"/>
              </a:rPr>
              <a:t>Wrong-version risk</a:t>
            </a:r>
          </a:p>
        </p:txBody>
      </p:sp>
      <p:sp>
        <p:nvSpPr>
          <p:cNvPr id="41" name="text" descr="Nobody can say which edition governed a past decision."/>
          <p:cNvSpPr txBox="1"/>
          <p:nvPr/>
        </p:nvSpPr>
        <p:spPr>
          <a:xfrm>
            <a:off x="6391656" y="6281928"/>
            <a:ext cx="2103120" cy="201168"/>
          </a:xfrm>
          <a:prstGeom prst="rect">
            <a:avLst/>
          </a:prstGeom>
          <a:noFill/>
        </p:spPr>
        <p:txBody>
          <a:bodyPr wrap="square" lIns="0" rIns="0" tIns="0" bIns="0">
            <a:noAutofit/>
          </a:bodyPr>
          <a:lstStyle/>
          <a:p>
            <a:pPr algn="l">
              <a:lnSpc>
                <a:spcPct val="112000"/>
              </a:lnSpc>
              <a:spcBef>
                <a:spcPts val="0"/>
              </a:spcBef>
              <a:spcAft>
                <a:spcPts val="0"/>
              </a:spcAft>
            </a:pPr>
            <a:r>
              <a:rPr sz="1050">
                <a:solidFill>
                  <a:srgbClr val="5C687C"/>
                </a:solidFill>
                <a:latin typeface="Segoe UI"/>
              </a:rPr>
              <a:t>New cases use old policy logic.</a:t>
            </a:r>
          </a:p>
        </p:txBody>
      </p:sp>
      <p:sp>
        <p:nvSpPr>
          <p:cNvPr id="42" name="cost-card" descr="cost-card"/>
          <p:cNvSpPr/>
          <p:nvPr/>
        </p:nvSpPr>
        <p:spPr>
          <a:xfrm>
            <a:off x="8906256" y="5641848"/>
            <a:ext cx="2523744" cy="886968"/>
          </a:xfrm>
          <a:prstGeom prst="roundRect">
            <a:avLst>
              <a:gd name="adj" fmla="val 3500"/>
            </a:avLst>
          </a:prstGeom>
          <a:solidFill>
            <a:srgbClr val="FFFFFF"/>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ccent-bar" descr="accent-bar"/>
          <p:cNvSpPr/>
          <p:nvPr/>
        </p:nvSpPr>
        <p:spPr>
          <a:xfrm>
            <a:off x="9116568" y="5751576"/>
            <a:ext cx="310896" cy="50292"/>
          </a:xfrm>
          <a:prstGeom prst="rect">
            <a:avLst/>
          </a:prstGeom>
          <a:solidFill>
            <a:srgbClr val="F5B0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descr="Weak auditability"/>
          <p:cNvSpPr txBox="1"/>
          <p:nvPr/>
        </p:nvSpPr>
        <p:spPr>
          <a:xfrm>
            <a:off x="9116568" y="5934456"/>
            <a:ext cx="2103120" cy="228600"/>
          </a:xfrm>
          <a:prstGeom prst="rect">
            <a:avLst/>
          </a:prstGeom>
          <a:noFill/>
        </p:spPr>
        <p:txBody>
          <a:bodyPr wrap="square" lIns="0" rIns="0" tIns="0" bIns="0">
            <a:noAutofit/>
          </a:bodyPr>
          <a:lstStyle/>
          <a:p>
            <a:pPr algn="l">
              <a:lnSpc>
                <a:spcPct val="112000"/>
              </a:lnSpc>
              <a:spcBef>
                <a:spcPts val="0"/>
              </a:spcBef>
              <a:spcAft>
                <a:spcPts val="0"/>
              </a:spcAft>
            </a:pPr>
            <a:r>
              <a:rPr sz="1350">
                <a:solidFill>
                  <a:srgbClr val="0A1224"/>
                </a:solidFill>
                <a:latin typeface="Segoe UI Semibold"/>
              </a:rPr>
              <a:t>Harder to defend</a:t>
            </a:r>
          </a:p>
        </p:txBody>
      </p:sp>
      <p:sp>
        <p:nvSpPr>
          <p:cNvPr id="45" name="text" descr="The sentence behind an outcome cannot be produced on request."/>
          <p:cNvSpPr txBox="1"/>
          <p:nvPr/>
        </p:nvSpPr>
        <p:spPr>
          <a:xfrm>
            <a:off x="9116568" y="6281928"/>
            <a:ext cx="2103120" cy="201168"/>
          </a:xfrm>
          <a:prstGeom prst="rect">
            <a:avLst/>
          </a:prstGeom>
          <a:noFill/>
        </p:spPr>
        <p:txBody>
          <a:bodyPr wrap="square" lIns="0" rIns="0" tIns="0" bIns="0">
            <a:noAutofit/>
          </a:bodyPr>
          <a:lstStyle/>
          <a:p>
            <a:pPr algn="l">
              <a:lnSpc>
                <a:spcPct val="112000"/>
              </a:lnSpc>
              <a:spcBef>
                <a:spcPts val="0"/>
              </a:spcBef>
              <a:spcAft>
                <a:spcPts val="0"/>
              </a:spcAft>
            </a:pPr>
            <a:r>
              <a:rPr sz="1050">
                <a:solidFill>
                  <a:srgbClr val="5C687C"/>
                </a:solidFill>
                <a:latin typeface="Segoe UI"/>
              </a:rPr>
              <a:t>Time spent rebuilding the why.</a:t>
            </a:r>
          </a:p>
        </p:txBody>
      </p:sp>
      <p:sp>
        <p:nvSpPr>
          <p:cNvPr id="46" name="TextBox 45"/>
          <p:cNvSpPr txBox="1"/>
          <p:nvPr/>
        </p:nvSpPr>
        <p:spPr>
          <a:xfrm>
            <a:off x="4178808" y="2852928"/>
            <a:ext cx="2450592" cy="694944"/>
          </a:xfrm>
          <a:prstGeom prst="rect">
            <a:avLst/>
          </a:prstGeom>
          <a:noFill/>
        </p:spPr>
        <p:txBody>
          <a:bodyPr wrap="square" lIns="0" rIns="0" tIns="0" bIns="0">
            <a:noAutofit/>
          </a:bodyPr>
          <a:lstStyle/>
          <a:p>
            <a:pPr algn="l">
              <a:lnSpc>
                <a:spcPct val="112000"/>
              </a:lnSpc>
              <a:spcBef>
                <a:spcPts val="0"/>
              </a:spcBef>
              <a:spcAft>
                <a:spcPts val="0"/>
              </a:spcAft>
            </a:pPr>
            <a:r>
              <a:rPr sz="2000">
                <a:solidFill>
                  <a:srgbClr val="FFFFFF"/>
                </a:solidFill>
                <a:latin typeface="Segoe UI"/>
              </a:rPr>
              <a:t>Interpret again.</a:t>
            </a:r>
          </a:p>
          <a:p>
            <a:pPr>
              <a:lnSpc>
                <a:spcPct val="112000"/>
              </a:lnSpc>
              <a:spcBef>
                <a:spcPts val="0"/>
              </a:spcBef>
              <a:spcAft>
                <a:spcPts val="0"/>
              </a:spcAft>
            </a:pPr>
            <a:r>
              <a:rPr sz="2000">
                <a:solidFill>
                  <a:srgbClr val="FFFFFF"/>
                </a:solidFill>
                <a:latin typeface="Segoe UI"/>
              </a:rPr>
              <a:t>Rebuild the rules.</a:t>
            </a:r>
          </a:p>
        </p:txBody>
      </p:sp>
      <p:sp>
        <p:nvSpPr>
          <p:cNvPr id="47" name="TextBox 46"/>
          <p:cNvSpPr txBox="1"/>
          <p:nvPr/>
        </p:nvSpPr>
        <p:spPr>
          <a:xfrm>
            <a:off x="4178808" y="3776472"/>
            <a:ext cx="2450592" cy="210312"/>
          </a:xfrm>
          <a:prstGeom prst="rect">
            <a:avLst/>
          </a:prstGeom>
          <a:noFill/>
        </p:spPr>
        <p:txBody>
          <a:bodyPr wrap="square" lIns="0" rIns="0" tIns="0" bIns="0">
            <a:noAutofit/>
          </a:bodyPr>
          <a:lstStyle/>
          <a:p>
            <a:pPr algn="l">
              <a:lnSpc>
                <a:spcPct val="112000"/>
              </a:lnSpc>
              <a:spcBef>
                <a:spcPts val="0"/>
              </a:spcBef>
              <a:spcAft>
                <a:spcPts val="0"/>
              </a:spcAft>
            </a:pPr>
            <a:r>
              <a:rPr sz="1150">
                <a:solidFill>
                  <a:srgbClr val="FFFFFF"/>
                </a:solidFill>
                <a:latin typeface="Segoe UI"/>
              </a:rPr>
              <a:t>Across people and applications</a:t>
            </a:r>
          </a:p>
        </p:txBody>
      </p:sp>
      <p:sp>
        <p:nvSpPr>
          <p:cNvPr id="48" name="TextBox 47"/>
          <p:cNvSpPr txBox="1"/>
          <p:nvPr/>
        </p:nvSpPr>
        <p:spPr>
          <a:xfrm>
            <a:off x="7196328" y="2340864"/>
            <a:ext cx="4261104" cy="228600"/>
          </a:xfrm>
          <a:prstGeom prst="rect">
            <a:avLst/>
          </a:prstGeom>
          <a:noFill/>
        </p:spPr>
        <p:txBody>
          <a:bodyPr wrap="square" lIns="0" rIns="0" tIns="0" bIns="0">
            <a:noAutofit/>
          </a:bodyPr>
          <a:lstStyle/>
          <a:p>
            <a:pPr algn="l">
              <a:lnSpc>
                <a:spcPct val="112000"/>
              </a:lnSpc>
              <a:spcBef>
                <a:spcPts val="0"/>
              </a:spcBef>
              <a:spcAft>
                <a:spcPts val="0"/>
              </a:spcAft>
            </a:pPr>
            <a:r>
              <a:rPr sz="1100" b="0">
                <a:solidFill>
                  <a:srgbClr val="5B4DB1"/>
                </a:solidFill>
                <a:latin typeface="Segoe UI Semibold"/>
              </a:rPr>
              <a:t>03 / INCONSISTENT DELIVERY</a:t>
            </a:r>
          </a:p>
        </p:txBody>
      </p:sp>
      <p:sp>
        <p:nvSpPr>
          <p:cNvPr id="50" name="Chevron 49"/>
          <p:cNvSpPr/>
          <p:nvPr/>
        </p:nvSpPr>
        <p:spPr>
          <a:xfrm>
            <a:off x="3785615" y="3296412"/>
            <a:ext cx="118872" cy="201168"/>
          </a:xfrm>
          <a:prstGeom prst="chevron">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hevron 54"/>
          <p:cNvSpPr/>
          <p:nvPr/>
        </p:nvSpPr>
        <p:spPr>
          <a:xfrm>
            <a:off x="7077456" y="2921508"/>
            <a:ext cx="91440" cy="164592"/>
          </a:xfrm>
          <a:prstGeom prst="chevron">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hevron 55"/>
          <p:cNvSpPr/>
          <p:nvPr/>
        </p:nvSpPr>
        <p:spPr>
          <a:xfrm>
            <a:off x="7077456" y="3707891"/>
            <a:ext cx="91440" cy="164592"/>
          </a:xfrm>
          <a:prstGeom prst="chevron">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39312" y="3396996"/>
            <a:ext cx="146303" cy="1905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858000" y="3396996"/>
            <a:ext cx="164591" cy="1905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022592" y="3003804"/>
            <a:ext cx="19050" cy="786383"/>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022592" y="3003804"/>
            <a:ext cx="54864" cy="1905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022592" y="3790187"/>
            <a:ext cx="54864" cy="1905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50976" y="4443984"/>
            <a:ext cx="3675887" cy="192024"/>
          </a:xfrm>
          <a:prstGeom prst="rect">
            <a:avLst/>
          </a:prstGeom>
          <a:noFill/>
        </p:spPr>
        <p:txBody>
          <a:bodyPr wrap="square" lIns="0" rIns="0" tIns="0" bIns="0">
            <a:noAutofit/>
          </a:bodyPr>
          <a:lstStyle/>
          <a:p>
            <a:pPr>
              <a:lnSpc>
                <a:spcPct val="112000"/>
              </a:lnSpc>
              <a:spcBef>
                <a:spcPts val="0"/>
              </a:spcBef>
              <a:spcAft>
                <a:spcPts val="0"/>
              </a:spcAft>
            </a:pPr>
            <a:r>
              <a:rPr sz="1000">
                <a:solidFill>
                  <a:srgbClr val="5B4DB1"/>
                </a:solidFill>
                <a:latin typeface="Segoe UI Semibold"/>
              </a:rPr>
              <a:t>ILLUSTRATIVE REQUEST / SAME FACTS</a:t>
            </a:r>
          </a:p>
        </p:txBody>
      </p:sp>
      <p:sp>
        <p:nvSpPr>
          <p:cNvPr id="63" name="TextBox 62"/>
          <p:cNvSpPr txBox="1"/>
          <p:nvPr/>
        </p:nvSpPr>
        <p:spPr>
          <a:xfrm>
            <a:off x="950976" y="4681728"/>
            <a:ext cx="3675887" cy="301752"/>
          </a:xfrm>
          <a:prstGeom prst="rect">
            <a:avLst/>
          </a:prstGeom>
          <a:noFill/>
        </p:spPr>
        <p:txBody>
          <a:bodyPr wrap="square" lIns="0" rIns="0" tIns="0" bIns="0">
            <a:noAutofit/>
          </a:bodyPr>
          <a:lstStyle/>
          <a:p>
            <a:pPr>
              <a:lnSpc>
                <a:spcPct val="112000"/>
              </a:lnSpc>
              <a:spcBef>
                <a:spcPts val="0"/>
              </a:spcBef>
              <a:spcAft>
                <a:spcPts val="0"/>
              </a:spcAft>
            </a:pPr>
            <a:r>
              <a:rPr sz="1800">
                <a:solidFill>
                  <a:srgbClr val="0A1224"/>
                </a:solidFill>
                <a:latin typeface="Segoe UI Semibold"/>
              </a:rPr>
              <a:t>Am I eligible under this policy?</a:t>
            </a:r>
          </a:p>
        </p:txBody>
      </p:sp>
      <p:sp>
        <p:nvSpPr>
          <p:cNvPr id="64" name="TextBox 63"/>
          <p:cNvSpPr txBox="1"/>
          <p:nvPr/>
        </p:nvSpPr>
        <p:spPr>
          <a:xfrm>
            <a:off x="950976" y="5084064"/>
            <a:ext cx="3675887" cy="192024"/>
          </a:xfrm>
          <a:prstGeom prst="rect">
            <a:avLst/>
          </a:prstGeom>
          <a:noFill/>
        </p:spPr>
        <p:txBody>
          <a:bodyPr wrap="square" lIns="0" rIns="0" tIns="0" bIns="0">
            <a:noAutofit/>
          </a:bodyPr>
          <a:lstStyle/>
          <a:p>
            <a:pPr>
              <a:lnSpc>
                <a:spcPct val="112000"/>
              </a:lnSpc>
              <a:spcBef>
                <a:spcPts val="0"/>
              </a:spcBef>
              <a:spcAft>
                <a:spcPts val="0"/>
              </a:spcAft>
            </a:pPr>
            <a:r>
              <a:rPr sz="1100">
                <a:solidFill>
                  <a:srgbClr val="5C687C"/>
                </a:solidFill>
                <a:latin typeface="Segoe UI"/>
              </a:rPr>
              <a:t>Different channels. Conflicting guidance.</a:t>
            </a:r>
          </a:p>
        </p:txBody>
      </p:sp>
      <p:sp>
        <p:nvSpPr>
          <p:cNvPr id="65" name="Rounded Rectangle 64"/>
          <p:cNvSpPr/>
          <p:nvPr/>
        </p:nvSpPr>
        <p:spPr>
          <a:xfrm>
            <a:off x="4828032" y="4498848"/>
            <a:ext cx="1965960" cy="667512"/>
          </a:xfrm>
          <a:prstGeom prst="roundRect">
            <a:avLst>
              <a:gd name="adj" fmla="val 10000"/>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956048" y="4585716"/>
            <a:ext cx="1709928" cy="173736"/>
          </a:xfrm>
          <a:prstGeom prst="rect">
            <a:avLst/>
          </a:prstGeom>
          <a:noFill/>
        </p:spPr>
        <p:txBody>
          <a:bodyPr wrap="square" lIns="0" rIns="0" tIns="0" bIns="0">
            <a:noAutofit/>
          </a:bodyPr>
          <a:lstStyle/>
          <a:p>
            <a:pPr>
              <a:lnSpc>
                <a:spcPct val="112000"/>
              </a:lnSpc>
              <a:spcBef>
                <a:spcPts val="0"/>
              </a:spcBef>
              <a:spcAft>
                <a:spcPts val="0"/>
              </a:spcAft>
            </a:pPr>
            <a:r>
              <a:rPr sz="950">
                <a:solidFill>
                  <a:srgbClr val="5B4DB1"/>
                </a:solidFill>
                <a:latin typeface="Segoe UI Semibold"/>
              </a:rPr>
              <a:t>PORTAL</a:t>
            </a:r>
          </a:p>
        </p:txBody>
      </p:sp>
      <p:sp>
        <p:nvSpPr>
          <p:cNvPr id="67" name="TextBox 66"/>
          <p:cNvSpPr txBox="1"/>
          <p:nvPr/>
        </p:nvSpPr>
        <p:spPr>
          <a:xfrm>
            <a:off x="4956048" y="4832604"/>
            <a:ext cx="1709928" cy="246888"/>
          </a:xfrm>
          <a:prstGeom prst="rect">
            <a:avLst/>
          </a:prstGeom>
          <a:noFill/>
        </p:spPr>
        <p:txBody>
          <a:bodyPr wrap="square" lIns="0" rIns="0" tIns="0" bIns="0">
            <a:noAutofit/>
          </a:bodyPr>
          <a:lstStyle/>
          <a:p>
            <a:pPr>
              <a:lnSpc>
                <a:spcPct val="112000"/>
              </a:lnSpc>
              <a:spcBef>
                <a:spcPts val="0"/>
              </a:spcBef>
              <a:spcAft>
                <a:spcPts val="0"/>
              </a:spcAft>
            </a:pPr>
            <a:r>
              <a:rPr sz="1600">
                <a:solidFill>
                  <a:srgbClr val="0A1224"/>
                </a:solidFill>
                <a:latin typeface="Segoe UI Semibold"/>
              </a:rPr>
              <a:t>Eligible</a:t>
            </a:r>
          </a:p>
        </p:txBody>
      </p:sp>
      <p:sp>
        <p:nvSpPr>
          <p:cNvPr id="68" name="Rounded Rectangle 67"/>
          <p:cNvSpPr/>
          <p:nvPr/>
        </p:nvSpPr>
        <p:spPr>
          <a:xfrm>
            <a:off x="7040880" y="4498848"/>
            <a:ext cx="1965960" cy="667512"/>
          </a:xfrm>
          <a:prstGeom prst="roundRect">
            <a:avLst>
              <a:gd name="adj" fmla="val 10000"/>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168896" y="4585716"/>
            <a:ext cx="1709928" cy="173736"/>
          </a:xfrm>
          <a:prstGeom prst="rect">
            <a:avLst/>
          </a:prstGeom>
          <a:noFill/>
        </p:spPr>
        <p:txBody>
          <a:bodyPr wrap="square" lIns="0" rIns="0" tIns="0" bIns="0">
            <a:noAutofit/>
          </a:bodyPr>
          <a:lstStyle/>
          <a:p>
            <a:pPr>
              <a:lnSpc>
                <a:spcPct val="112000"/>
              </a:lnSpc>
              <a:spcBef>
                <a:spcPts val="0"/>
              </a:spcBef>
              <a:spcAft>
                <a:spcPts val="0"/>
              </a:spcAft>
            </a:pPr>
            <a:r>
              <a:rPr sz="950">
                <a:solidFill>
                  <a:srgbClr val="5B4DB1"/>
                </a:solidFill>
                <a:latin typeface="Segoe UI Semibold"/>
              </a:rPr>
              <a:t>SERVICE DESK</a:t>
            </a:r>
          </a:p>
        </p:txBody>
      </p:sp>
      <p:sp>
        <p:nvSpPr>
          <p:cNvPr id="70" name="TextBox 69"/>
          <p:cNvSpPr txBox="1"/>
          <p:nvPr/>
        </p:nvSpPr>
        <p:spPr>
          <a:xfrm>
            <a:off x="7168896" y="4832604"/>
            <a:ext cx="1709928" cy="246888"/>
          </a:xfrm>
          <a:prstGeom prst="rect">
            <a:avLst/>
          </a:prstGeom>
          <a:noFill/>
        </p:spPr>
        <p:txBody>
          <a:bodyPr wrap="square" lIns="0" rIns="0" tIns="0" bIns="0">
            <a:noAutofit/>
          </a:bodyPr>
          <a:lstStyle/>
          <a:p>
            <a:pPr>
              <a:lnSpc>
                <a:spcPct val="112000"/>
              </a:lnSpc>
              <a:spcBef>
                <a:spcPts val="0"/>
              </a:spcBef>
              <a:spcAft>
                <a:spcPts val="0"/>
              </a:spcAft>
            </a:pPr>
            <a:r>
              <a:rPr sz="1600">
                <a:solidFill>
                  <a:srgbClr val="0A1224"/>
                </a:solidFill>
                <a:latin typeface="Segoe UI Semibold"/>
              </a:rPr>
              <a:t>Not eligible</a:t>
            </a:r>
          </a:p>
        </p:txBody>
      </p:sp>
      <p:sp>
        <p:nvSpPr>
          <p:cNvPr id="71" name="Rounded Rectangle 70"/>
          <p:cNvSpPr/>
          <p:nvPr/>
        </p:nvSpPr>
        <p:spPr>
          <a:xfrm>
            <a:off x="9253728" y="4498848"/>
            <a:ext cx="1965960" cy="667512"/>
          </a:xfrm>
          <a:prstGeom prst="roundRect">
            <a:avLst>
              <a:gd name="adj" fmla="val 10000"/>
            </a:avLst>
          </a:prstGeom>
          <a:solidFill>
            <a:srgbClr val="FFFFFF"/>
          </a:solidFill>
          <a:ln w="1270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81744" y="4585716"/>
            <a:ext cx="1709928" cy="173736"/>
          </a:xfrm>
          <a:prstGeom prst="rect">
            <a:avLst/>
          </a:prstGeom>
          <a:noFill/>
        </p:spPr>
        <p:txBody>
          <a:bodyPr wrap="square" lIns="0" rIns="0" tIns="0" bIns="0">
            <a:noAutofit/>
          </a:bodyPr>
          <a:lstStyle/>
          <a:p>
            <a:pPr>
              <a:lnSpc>
                <a:spcPct val="112000"/>
              </a:lnSpc>
              <a:spcBef>
                <a:spcPts val="0"/>
              </a:spcBef>
              <a:spcAft>
                <a:spcPts val="0"/>
              </a:spcAft>
            </a:pPr>
            <a:r>
              <a:rPr sz="950">
                <a:solidFill>
                  <a:srgbClr val="5B4DB1"/>
                </a:solidFill>
                <a:latin typeface="Segoe UI Semibold"/>
              </a:rPr>
              <a:t>EMAIL RESPONSE</a:t>
            </a:r>
          </a:p>
        </p:txBody>
      </p:sp>
      <p:sp>
        <p:nvSpPr>
          <p:cNvPr id="73" name="TextBox 72"/>
          <p:cNvSpPr txBox="1"/>
          <p:nvPr/>
        </p:nvSpPr>
        <p:spPr>
          <a:xfrm>
            <a:off x="9381744" y="4832604"/>
            <a:ext cx="1709928" cy="246888"/>
          </a:xfrm>
          <a:prstGeom prst="rect">
            <a:avLst/>
          </a:prstGeom>
          <a:noFill/>
        </p:spPr>
        <p:txBody>
          <a:bodyPr wrap="square" lIns="0" rIns="0" tIns="0" bIns="0">
            <a:noAutofit/>
          </a:bodyPr>
          <a:lstStyle/>
          <a:p>
            <a:pPr>
              <a:lnSpc>
                <a:spcPct val="112000"/>
              </a:lnSpc>
              <a:spcBef>
                <a:spcPts val="0"/>
              </a:spcBef>
              <a:spcAft>
                <a:spcPts val="0"/>
              </a:spcAft>
            </a:pPr>
            <a:r>
              <a:rPr sz="1600">
                <a:solidFill>
                  <a:srgbClr val="0A1224"/>
                </a:solidFill>
                <a:latin typeface="Segoe UI Semibold"/>
              </a:rPr>
              <a:t>Need more facts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descr="background"/>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descr="THE SOLUTION"/>
          <p:cNvSpPr txBox="1"/>
          <p:nvPr/>
        </p:nvSpPr>
        <p:spPr>
          <a:xfrm>
            <a:off x="731520" y="457200"/>
            <a:ext cx="8229600" cy="256032"/>
          </a:xfrm>
          <a:prstGeom prst="rect">
            <a:avLst/>
          </a:prstGeom>
          <a:noFill/>
        </p:spPr>
        <p:txBody>
          <a:bodyPr wrap="square" lIns="0" rIns="0" tIns="0" bIns="0">
            <a:spAutoFit/>
          </a:bodyPr>
          <a:lstStyle/>
          <a:p>
            <a:pPr algn="l">
              <a:spcAft>
                <a:spcPts val="0"/>
              </a:spcAft>
            </a:pPr>
            <a:r>
              <a:rPr sz="1100">
                <a:solidFill>
                  <a:srgbClr val="5B4DB1"/>
                </a:solidFill>
                <a:latin typeface="Segoe UI Semibold"/>
              </a:rPr>
              <a:t>THE SOLUTION</a:t>
            </a:r>
          </a:p>
        </p:txBody>
      </p:sp>
      <p:sp>
        <p:nvSpPr>
          <p:cNvPr id="4" name="act-label" descr="EXECUTIVE · 04"/>
          <p:cNvSpPr txBox="1"/>
          <p:nvPr/>
        </p:nvSpPr>
        <p:spPr>
          <a:xfrm>
            <a:off x="8869680" y="457200"/>
            <a:ext cx="2587752" cy="256032"/>
          </a:xfrm>
          <a:prstGeom prst="rect">
            <a:avLst/>
          </a:prstGeom>
          <a:noFill/>
        </p:spPr>
        <p:txBody>
          <a:bodyPr wrap="square" lIns="0" rIns="0" tIns="0" bIns="0">
            <a:spAutoFit/>
          </a:bodyPr>
          <a:lstStyle/>
          <a:p>
            <a:pPr algn="r">
              <a:spcAft>
                <a:spcPts val="0"/>
              </a:spcAft>
            </a:pPr>
            <a:r>
              <a:rPr sz="1000">
                <a:solidFill>
                  <a:srgbClr val="5C687C"/>
                </a:solidFill>
                <a:latin typeface="Segoe UI Semibold"/>
              </a:rPr>
              <a:t>EXECUTIVE · 03</a:t>
            </a:r>
          </a:p>
        </p:txBody>
      </p:sp>
      <p:sp>
        <p:nvSpPr>
          <p:cNvPr id="5" name="title" descr="PolicyVerbAItim is the governed policy layer"/>
          <p:cNvSpPr txBox="1"/>
          <p:nvPr/>
        </p:nvSpPr>
        <p:spPr>
          <a:xfrm>
            <a:off x="731520" y="777240"/>
            <a:ext cx="10725912" cy="731520"/>
          </a:xfrm>
          <a:prstGeom prst="rect">
            <a:avLst/>
          </a:prstGeom>
          <a:noFill/>
        </p:spPr>
        <p:txBody>
          <a:bodyPr wrap="square" lIns="0" rIns="0" tIns="0" bIns="0">
            <a:spAutoFit/>
          </a:bodyPr>
          <a:lstStyle/>
          <a:p>
            <a:pPr algn="l">
              <a:spcAft>
                <a:spcPts val="0"/>
              </a:spcAft>
            </a:pPr>
            <a:r>
              <a:rPr sz="3000">
                <a:solidFill>
                  <a:srgbClr val="0A1224"/>
                </a:solidFill>
                <a:latin typeface="Segoe UI Light"/>
              </a:rPr>
              <a:t>PolicyVerbAItim is the governed policy layer</a:t>
            </a:r>
          </a:p>
        </p:txBody>
      </p:sp>
      <p:sp>
        <p:nvSpPr>
          <p:cNvPr id="6" name="accent-bar" descr="accent-bar"/>
          <p:cNvSpPr/>
          <p:nvPr/>
        </p:nvSpPr>
        <p:spPr>
          <a:xfrm>
            <a:off x="731520" y="1453896"/>
            <a:ext cx="960120"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title" descr="A reviewed, versioned, source-traceable register of policy records, sitting between your documents and the sys"/>
          <p:cNvSpPr txBox="1"/>
          <p:nvPr/>
        </p:nvSpPr>
        <p:spPr>
          <a:xfrm>
            <a:off x="731520" y="1746504"/>
            <a:ext cx="10058400" cy="603504"/>
          </a:xfrm>
          <a:prstGeom prst="rect">
            <a:avLst/>
          </a:prstGeom>
          <a:noFill/>
        </p:spPr>
        <p:txBody>
          <a:bodyPr wrap="square" lIns="0" rIns="0" tIns="0" bIns="0">
            <a:spAutoFit/>
          </a:bodyPr>
          <a:lstStyle/>
          <a:p>
            <a:pPr algn="l">
              <a:lnSpc>
                <a:spcPct val="126000"/>
              </a:lnSpc>
              <a:spcAft>
                <a:spcPts val="0"/>
              </a:spcAft>
            </a:pPr>
            <a:r>
              <a:rPr sz="1450">
                <a:solidFill>
                  <a:srgbClr val="2B354A"/>
                </a:solidFill>
                <a:latin typeface="Segoe UI"/>
              </a:rPr>
              <a:t>A shared policy service: prepare and govern the source, answer questions and cases, and return evidence that people can inspect.</a:t>
            </a:r>
          </a:p>
        </p:txBody>
      </p:sp>
      <p:sp>
        <p:nvSpPr>
          <p:cNvPr id="8" name="accent-bar" descr="accent-bar"/>
          <p:cNvSpPr/>
          <p:nvPr/>
        </p:nvSpPr>
        <p:spPr>
          <a:xfrm>
            <a:off x="731520" y="2596896"/>
            <a:ext cx="256032"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llet-head" descr="Between documents and systems"/>
          <p:cNvSpPr txBox="1"/>
          <p:nvPr/>
        </p:nvSpPr>
        <p:spPr>
          <a:xfrm>
            <a:off x="1152144" y="2514600"/>
            <a:ext cx="5888736" cy="256032"/>
          </a:xfrm>
          <a:prstGeom prst="rect">
            <a:avLst/>
          </a:prstGeom>
          <a:noFill/>
        </p:spPr>
        <p:txBody>
          <a:bodyPr wrap="square" lIns="0" rIns="0" tIns="0" bIns="0">
            <a:spAutoFit/>
          </a:bodyPr>
          <a:lstStyle/>
          <a:p>
            <a:pPr algn="l">
              <a:spcAft>
                <a:spcPts val="0"/>
              </a:spcAft>
            </a:pPr>
            <a:r>
              <a:rPr sz="1400">
                <a:solidFill>
                  <a:srgbClr val="0A1224"/>
                </a:solidFill>
                <a:latin typeface="Segoe UI Semibold"/>
              </a:rPr>
              <a:t>Turn documents into governed evidence</a:t>
            </a:r>
          </a:p>
        </p:txBody>
      </p:sp>
      <p:sp>
        <p:nvSpPr>
          <p:cNvPr id="10" name="bullet-body" descr="One register, maintained once — instead of a private copy of the rule inside every application."/>
          <p:cNvSpPr txBox="1"/>
          <p:nvPr/>
        </p:nvSpPr>
        <p:spPr>
          <a:xfrm>
            <a:off x="1152144" y="2761488"/>
            <a:ext cx="5888736" cy="566928"/>
          </a:xfrm>
          <a:prstGeom prst="rect">
            <a:avLst/>
          </a:prstGeom>
          <a:noFill/>
        </p:spPr>
        <p:txBody>
          <a:bodyPr wrap="square" lIns="0" rIns="0" tIns="0" bIns="0">
            <a:spAutoFit/>
          </a:bodyPr>
          <a:lstStyle/>
          <a:p>
            <a:pPr algn="l">
              <a:lnSpc>
                <a:spcPct val="120000"/>
              </a:lnSpc>
              <a:spcAft>
                <a:spcPts val="0"/>
              </a:spcAft>
            </a:pPr>
            <a:r>
              <a:rPr sz="1250">
                <a:solidFill>
                  <a:srgbClr val="5C687C"/>
                </a:solidFill>
                <a:latin typeface="Segoe UI"/>
              </a:rPr>
              <a:t>Preserve source text, prepare candidates and review before publication.</a:t>
            </a:r>
          </a:p>
        </p:txBody>
      </p:sp>
      <p:sp>
        <p:nvSpPr>
          <p:cNvPr id="11" name="accent-bar" descr="accent-bar"/>
          <p:cNvSpPr/>
          <p:nvPr/>
        </p:nvSpPr>
        <p:spPr>
          <a:xfrm>
            <a:off x="731520" y="3493008"/>
            <a:ext cx="256032"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ullet-head" descr="Reviewed before it is served"/>
          <p:cNvSpPr txBox="1"/>
          <p:nvPr/>
        </p:nvSpPr>
        <p:spPr>
          <a:xfrm>
            <a:off x="1152144" y="3410712"/>
            <a:ext cx="5888736" cy="256032"/>
          </a:xfrm>
          <a:prstGeom prst="rect">
            <a:avLst/>
          </a:prstGeom>
          <a:noFill/>
        </p:spPr>
        <p:txBody>
          <a:bodyPr wrap="square" lIns="0" rIns="0" tIns="0" bIns="0">
            <a:spAutoFit/>
          </a:bodyPr>
          <a:lstStyle/>
          <a:p>
            <a:pPr algn="l">
              <a:spcAft>
                <a:spcPts val="0"/>
              </a:spcAft>
            </a:pPr>
            <a:r>
              <a:rPr sz="1400">
                <a:solidFill>
                  <a:srgbClr val="0A1224"/>
                </a:solidFill>
                <a:latin typeface="Segoe UI Semibold"/>
              </a:rPr>
              <a:t>Answer questions and assess cases</a:t>
            </a:r>
          </a:p>
        </p:txBody>
      </p:sp>
      <p:sp>
        <p:nvSpPr>
          <p:cNvPr id="13" name="bullet-body" descr="Nothing reaches a consuming system that a named person did not approve."/>
          <p:cNvSpPr txBox="1"/>
          <p:nvPr/>
        </p:nvSpPr>
        <p:spPr>
          <a:xfrm>
            <a:off x="1152144" y="3657600"/>
            <a:ext cx="5888736" cy="566928"/>
          </a:xfrm>
          <a:prstGeom prst="rect">
            <a:avLst/>
          </a:prstGeom>
          <a:noFill/>
        </p:spPr>
        <p:txBody>
          <a:bodyPr wrap="square" lIns="0" rIns="0" tIns="0" bIns="0">
            <a:spAutoFit/>
          </a:bodyPr>
          <a:lstStyle/>
          <a:p>
            <a:pPr algn="l">
              <a:lnSpc>
                <a:spcPct val="120000"/>
              </a:lnSpc>
              <a:spcAft>
                <a:spcPts val="0"/>
              </a:spcAft>
            </a:pPr>
            <a:r>
              <a:rPr sz="1250">
                <a:solidFill>
                  <a:srgbClr val="5C687C"/>
                </a:solidFill>
                <a:latin typeface="Segoe UI"/>
              </a:rPr>
              <a:t>Return policy information, case findings and what is still missing.</a:t>
            </a:r>
          </a:p>
        </p:txBody>
      </p:sp>
      <p:sp>
        <p:nvSpPr>
          <p:cNvPr id="14" name="accent-bar" descr="accent-bar"/>
          <p:cNvSpPr/>
          <p:nvPr/>
        </p:nvSpPr>
        <p:spPr>
          <a:xfrm>
            <a:off x="731520" y="4389120"/>
            <a:ext cx="256032"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ullet-head" descr="Versioned, with a change boundary"/>
          <p:cNvSpPr txBox="1"/>
          <p:nvPr/>
        </p:nvSpPr>
        <p:spPr>
          <a:xfrm>
            <a:off x="1152144" y="4306824"/>
            <a:ext cx="5888736" cy="256032"/>
          </a:xfrm>
          <a:prstGeom prst="rect">
            <a:avLst/>
          </a:prstGeom>
          <a:noFill/>
        </p:spPr>
        <p:txBody>
          <a:bodyPr wrap="square" lIns="0" rIns="0" tIns="0" bIns="0">
            <a:spAutoFit/>
          </a:bodyPr>
          <a:lstStyle/>
          <a:p>
            <a:pPr algn="l">
              <a:spcAft>
                <a:spcPts val="0"/>
              </a:spcAft>
            </a:pPr>
            <a:r>
              <a:rPr sz="1400">
                <a:solidFill>
                  <a:srgbClr val="0A1224"/>
                </a:solidFill>
                <a:latin typeface="Segoe UI Semibold"/>
              </a:rPr>
              <a:t>Publish once, govern every change</a:t>
            </a:r>
          </a:p>
        </p:txBody>
      </p:sp>
      <p:sp>
        <p:nvSpPr>
          <p:cNvPr id="16" name="bullet-body" descr="Publication freezes a version; a correction is a new version, not an edit in place."/>
          <p:cNvSpPr txBox="1"/>
          <p:nvPr/>
        </p:nvSpPr>
        <p:spPr>
          <a:xfrm>
            <a:off x="1152144" y="4553712"/>
            <a:ext cx="5888736" cy="566928"/>
          </a:xfrm>
          <a:prstGeom prst="rect">
            <a:avLst/>
          </a:prstGeom>
          <a:noFill/>
        </p:spPr>
        <p:txBody>
          <a:bodyPr wrap="square" lIns="0" rIns="0" tIns="0" bIns="0">
            <a:spAutoFit/>
          </a:bodyPr>
          <a:lstStyle/>
          <a:p>
            <a:pPr algn="l">
              <a:lnSpc>
                <a:spcPct val="120000"/>
              </a:lnSpc>
              <a:spcAft>
                <a:spcPts val="0"/>
              </a:spcAft>
            </a:pPr>
            <a:r>
              <a:rPr sz="1250">
                <a:solidFill>
                  <a:srgbClr val="5C687C"/>
                </a:solidFill>
                <a:latin typeface="Segoe UI"/>
              </a:rPr>
              <a:t>Publication freezes a version; a correction is a new version, not an edit in place.</a:t>
            </a:r>
          </a:p>
        </p:txBody>
      </p:sp>
      <p:sp>
        <p:nvSpPr>
          <p:cNvPr id="17" name="accent-bar" descr="accent-bar"/>
          <p:cNvSpPr/>
          <p:nvPr/>
        </p:nvSpPr>
        <p:spPr>
          <a:xfrm>
            <a:off x="731520" y="5285232"/>
            <a:ext cx="256032"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ullet-head" descr="Source-traceable by construction"/>
          <p:cNvSpPr txBox="1"/>
          <p:nvPr/>
        </p:nvSpPr>
        <p:spPr>
          <a:xfrm>
            <a:off x="1152144" y="5202936"/>
            <a:ext cx="5888736" cy="256032"/>
          </a:xfrm>
          <a:prstGeom prst="rect">
            <a:avLst/>
          </a:prstGeom>
          <a:noFill/>
        </p:spPr>
        <p:txBody>
          <a:bodyPr wrap="square" lIns="0" rIns="0" tIns="0" bIns="0">
            <a:spAutoFit/>
          </a:bodyPr>
          <a:lstStyle/>
          <a:p>
            <a:pPr algn="l">
              <a:spcAft>
                <a:spcPts val="0"/>
              </a:spcAft>
            </a:pPr>
            <a:r>
              <a:rPr sz="1400">
                <a:solidFill>
                  <a:srgbClr val="0A1224"/>
                </a:solidFill>
                <a:latin typeface="Segoe UI Semibold"/>
              </a:rPr>
              <a:t>Serve people and business systems</a:t>
            </a:r>
          </a:p>
        </p:txBody>
      </p:sp>
      <p:sp>
        <p:nvSpPr>
          <p:cNvPr id="19" name="bullet-body" descr="The passage that produced the rule stays attached to it, through to the answer."/>
          <p:cNvSpPr txBox="1"/>
          <p:nvPr/>
        </p:nvSpPr>
        <p:spPr>
          <a:xfrm>
            <a:off x="1152144" y="5449824"/>
            <a:ext cx="5888736" cy="566928"/>
          </a:xfrm>
          <a:prstGeom prst="rect">
            <a:avLst/>
          </a:prstGeom>
          <a:noFill/>
        </p:spPr>
        <p:txBody>
          <a:bodyPr wrap="square" lIns="0" rIns="0" tIns="0" bIns="0">
            <a:spAutoFit/>
          </a:bodyPr>
          <a:lstStyle/>
          <a:p>
            <a:pPr algn="l">
              <a:lnSpc>
                <a:spcPct val="120000"/>
              </a:lnSpc>
              <a:spcAft>
                <a:spcPts val="0"/>
              </a:spcAft>
            </a:pPr>
            <a:r>
              <a:rPr sz="1250">
                <a:solidFill>
                  <a:srgbClr val="5C687C"/>
                </a:solidFill>
                <a:latin typeface="Segoe UI"/>
              </a:rPr>
              <a:t>Employee Desk, applications and agents consume cited answers over an API.</a:t>
            </a:r>
          </a:p>
        </p:txBody>
      </p:sp>
      <p:pic>
        <p:nvPicPr>
          <p:cNvPr id="20" name="identity-panel-excerpt" descr="PolicyVerbAItim identity panel: from policy text to decisions you can prove."/>
          <p:cNvPicPr>
            <a:picLocks noChangeAspect="1"/>
          </p:cNvPicPr>
          <p:nvPr/>
        </p:nvPicPr>
        <p:blipFill>
          <a:blip r:embed="rId2"/>
          <a:stretch>
            <a:fillRect/>
          </a:stretch>
        </p:blipFill>
        <p:spPr>
          <a:xfrm>
            <a:off x="7424928" y="2551176"/>
            <a:ext cx="4023360" cy="3295731"/>
          </a:xfrm>
          <a:prstGeom prst="rect">
            <a:avLst/>
          </a:prstGeom>
        </p:spPr>
      </p:pic>
      <p:sp>
        <p:nvSpPr>
          <p:cNvPr id="21" name="footer-bar" descr="footer-bar"/>
          <p:cNvSpPr/>
          <p:nvPr/>
        </p:nvSpPr>
        <p:spPr>
          <a:xfrm>
            <a:off x="731520" y="5943600"/>
            <a:ext cx="10725912" cy="475488"/>
          </a:xfrm>
          <a:prstGeom prst="rect">
            <a:avLst/>
          </a:prstGeom>
          <a:solidFill>
            <a:srgbClr val="EDE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ooter-text" descr="The register is the product. The screens and the API are how people and systems reach it."/>
          <p:cNvSpPr txBox="1"/>
          <p:nvPr/>
        </p:nvSpPr>
        <p:spPr>
          <a:xfrm>
            <a:off x="987552" y="6067044"/>
            <a:ext cx="10213848" cy="274320"/>
          </a:xfrm>
          <a:prstGeom prst="rect">
            <a:avLst/>
          </a:prstGeom>
          <a:noFill/>
        </p:spPr>
        <p:txBody>
          <a:bodyPr wrap="square" lIns="0" rIns="0" tIns="0" bIns="0">
            <a:spAutoFit/>
          </a:bodyPr>
          <a:lstStyle/>
          <a:p>
            <a:pPr algn="l">
              <a:spcAft>
                <a:spcPts val="0"/>
              </a:spcAft>
            </a:pPr>
            <a:r>
              <a:rPr sz="1300">
                <a:solidFill>
                  <a:srgbClr val="5B4DB1"/>
                </a:solidFill>
                <a:latin typeface="Segoe UI Semibold"/>
              </a:rPr>
              <a:t>Two paths coexist: original passages (opt-in) and approved policy rules (the default UI).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descr="background"/>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descr="WHERE SEARCH FITS"/>
          <p:cNvSpPr txBox="1"/>
          <p:nvPr/>
        </p:nvSpPr>
        <p:spPr>
          <a:xfrm>
            <a:off x="731520" y="457200"/>
            <a:ext cx="8229600" cy="256032"/>
          </a:xfrm>
          <a:prstGeom prst="rect">
            <a:avLst/>
          </a:prstGeom>
          <a:noFill/>
        </p:spPr>
        <p:txBody>
          <a:bodyPr wrap="square" lIns="0" rIns="0" tIns="0" bIns="0">
            <a:spAutoFit/>
          </a:bodyPr>
          <a:lstStyle/>
          <a:p>
            <a:pPr algn="l">
              <a:spcAft>
                <a:spcPts val="0"/>
              </a:spcAft>
            </a:pPr>
            <a:r>
              <a:rPr sz="1100">
                <a:solidFill>
                  <a:srgbClr val="5B4DB1"/>
                </a:solidFill>
                <a:latin typeface="Segoe UI Semibold"/>
              </a:rPr>
              <a:t>MARKET COMPARISON</a:t>
            </a:r>
          </a:p>
        </p:txBody>
      </p:sp>
      <p:sp>
        <p:nvSpPr>
          <p:cNvPr id="4" name="act-label" descr="EXECUTIVE · 03"/>
          <p:cNvSpPr txBox="1"/>
          <p:nvPr/>
        </p:nvSpPr>
        <p:spPr>
          <a:xfrm>
            <a:off x="8869680" y="457200"/>
            <a:ext cx="2587752" cy="256032"/>
          </a:xfrm>
          <a:prstGeom prst="rect">
            <a:avLst/>
          </a:prstGeom>
          <a:noFill/>
        </p:spPr>
        <p:txBody>
          <a:bodyPr wrap="square" lIns="0" rIns="0" tIns="0" bIns="0">
            <a:spAutoFit/>
          </a:bodyPr>
          <a:lstStyle/>
          <a:p>
            <a:pPr algn="r">
              <a:spcAft>
                <a:spcPts val="0"/>
              </a:spcAft>
            </a:pPr>
            <a:r>
              <a:rPr sz="1000">
                <a:solidFill>
                  <a:srgbClr val="5C687C"/>
                </a:solidFill>
                <a:latin typeface="Segoe UI Semibold"/>
              </a:rPr>
              <a:t>POSITIONING · 04</a:t>
            </a:r>
          </a:p>
        </p:txBody>
      </p:sp>
      <p:sp>
        <p:nvSpPr>
          <p:cNvPr id="5" name="title" descr="Retrieval finds evidence. It does not establish policy authority"/>
          <p:cNvSpPr txBox="1"/>
          <p:nvPr/>
        </p:nvSpPr>
        <p:spPr>
          <a:xfrm>
            <a:off x="731520" y="777240"/>
            <a:ext cx="10725912" cy="731520"/>
          </a:xfrm>
          <a:prstGeom prst="rect">
            <a:avLst/>
          </a:prstGeom>
          <a:noFill/>
        </p:spPr>
        <p:txBody>
          <a:bodyPr wrap="square" lIns="0" rIns="0" tIns="0" bIns="0">
            <a:spAutoFit/>
          </a:bodyPr>
          <a:lstStyle/>
          <a:p>
            <a:pPr algn="l">
              <a:spcAft>
                <a:spcPts val="0"/>
              </a:spcAft>
            </a:pPr>
            <a:r>
              <a:rPr sz="2800">
                <a:solidFill>
                  <a:srgbClr val="0A1224"/>
                </a:solidFill>
                <a:latin typeface="Segoe UI Light"/>
              </a:rPr>
              <a:t>Why a policy service—not search alone</a:t>
            </a:r>
          </a:p>
        </p:txBody>
      </p:sp>
      <p:sp>
        <p:nvSpPr>
          <p:cNvPr id="6" name="accent-bar" descr="accent-bar"/>
          <p:cNvSpPr/>
          <p:nvPr/>
        </p:nvSpPr>
        <p:spPr>
          <a:xfrm>
            <a:off x="731520" y="1453896"/>
            <a:ext cx="960120"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title" descr="Both belong in the same architecture. They answer different questions, and only one of them can be defended af"/>
          <p:cNvSpPr txBox="1"/>
          <p:nvPr/>
        </p:nvSpPr>
        <p:spPr>
          <a:xfrm>
            <a:off x="731520" y="1746504"/>
            <a:ext cx="10058400" cy="603504"/>
          </a:xfrm>
          <a:prstGeom prst="rect">
            <a:avLst/>
          </a:prstGeom>
          <a:noFill/>
        </p:spPr>
        <p:txBody>
          <a:bodyPr wrap="square" lIns="0" rIns="0" tIns="0" bIns="0">
            <a:spAutoFit/>
          </a:bodyPr>
          <a:lstStyle/>
          <a:p>
            <a:pPr algn="l">
              <a:lnSpc>
                <a:spcPct val="126000"/>
              </a:lnSpc>
              <a:spcAft>
                <a:spcPts val="0"/>
              </a:spcAft>
            </a:pPr>
            <a:r>
              <a:rPr sz="1450">
                <a:solidFill>
                  <a:srgbClr val="2B354A"/>
                </a:solidFill>
                <a:latin typeface="Segoe UI"/>
              </a:rPr>
              <a:t>Search, enterprise AI and decision engines solve different jobs. VerbAItim brings publication governance and case evidence into one service.</a:t>
            </a:r>
          </a:p>
        </p:txBody>
      </p:sp>
      <p:sp>
        <p:nvSpPr>
          <p:cNvPr id="8" name="retrieval-card" descr="retrieval-card"/>
          <p:cNvSpPr/>
          <p:nvPr/>
        </p:nvSpPr>
        <p:spPr>
          <a:xfrm>
            <a:off x="731520" y="2459736"/>
            <a:ext cx="5230368" cy="3310128"/>
          </a:xfrm>
          <a:prstGeom prst="roundRect">
            <a:avLst>
              <a:gd name="adj" fmla="val 3500"/>
            </a:avLst>
          </a:prstGeom>
          <a:solidFill>
            <a:srgbClr val="FFFFFF"/>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ccent-bar" descr="accent-bar"/>
          <p:cNvSpPr/>
          <p:nvPr/>
        </p:nvSpPr>
        <p:spPr>
          <a:xfrm>
            <a:off x="1042416" y="2770632"/>
            <a:ext cx="457200" cy="57150"/>
          </a:xfrm>
          <a:prstGeom prst="rect">
            <a:avLst/>
          </a:prstGeom>
          <a:solidFill>
            <a:srgbClr val="32D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descr="AI SEARCH / RAG · VALUABLE"/>
          <p:cNvSpPr txBox="1"/>
          <p:nvPr/>
        </p:nvSpPr>
        <p:spPr>
          <a:xfrm>
            <a:off x="1042416" y="2990088"/>
            <a:ext cx="4608576" cy="274320"/>
          </a:xfrm>
          <a:prstGeom prst="rect">
            <a:avLst/>
          </a:prstGeom>
          <a:noFill/>
        </p:spPr>
        <p:txBody>
          <a:bodyPr wrap="square" lIns="0" rIns="0" tIns="0" bIns="0">
            <a:spAutoFit/>
          </a:bodyPr>
          <a:lstStyle/>
          <a:p>
            <a:pPr algn="l">
              <a:spcAft>
                <a:spcPts val="0"/>
              </a:spcAft>
            </a:pPr>
            <a:r>
              <a:rPr sz="1000">
                <a:solidFill>
                  <a:srgbClr val="5B4DB1"/>
                </a:solidFill>
                <a:latin typeface="Segoe UI Semibold"/>
              </a:rPr>
              <a:t>MARKET OPTIONS · CORE STRENGTHS</a:t>
            </a:r>
          </a:p>
        </p:txBody>
      </p:sp>
      <p:sp>
        <p:nvSpPr>
          <p:cNvPr id="11" name="text" descr="Good at finding and narrowing"/>
          <p:cNvSpPr txBox="1"/>
          <p:nvPr/>
        </p:nvSpPr>
        <p:spPr>
          <a:xfrm>
            <a:off x="1042416" y="3246120"/>
            <a:ext cx="4608576" cy="310896"/>
          </a:xfrm>
          <a:prstGeom prst="rect">
            <a:avLst/>
          </a:prstGeom>
          <a:noFill/>
        </p:spPr>
        <p:txBody>
          <a:bodyPr wrap="square" lIns="0" rIns="0" tIns="0" bIns="0">
            <a:spAutoFit/>
          </a:bodyPr>
          <a:lstStyle/>
          <a:p>
            <a:pPr algn="l">
              <a:spcAft>
                <a:spcPts val="0"/>
              </a:spcAft>
            </a:pPr>
            <a:r>
              <a:rPr sz="1700">
                <a:solidFill>
                  <a:srgbClr val="0A1224"/>
                </a:solidFill>
                <a:latin typeface="Segoe UI Semibold"/>
              </a:rPr>
              <a:t>Retrieve, assist or execute</a:t>
            </a:r>
          </a:p>
        </p:txBody>
      </p:sp>
      <p:sp>
        <p:nvSpPr>
          <p:cNvPr id="12" name="text" descr="•  Finds likely passages across many files and formats"/>
          <p:cNvSpPr txBox="1"/>
          <p:nvPr/>
        </p:nvSpPr>
        <p:spPr>
          <a:xfrm>
            <a:off x="1042416" y="3648456"/>
            <a:ext cx="4608576" cy="365760"/>
          </a:xfrm>
          <a:prstGeom prst="rect">
            <a:avLst/>
          </a:prstGeom>
          <a:noFill/>
        </p:spPr>
        <p:txBody>
          <a:bodyPr wrap="square" lIns="0" rIns="0" tIns="0" bIns="0">
            <a:spAutoFit/>
          </a:bodyPr>
          <a:lstStyle/>
          <a:p>
            <a:pPr algn="l">
              <a:lnSpc>
                <a:spcPct val="116000"/>
              </a:lnSpc>
              <a:spcAft>
                <a:spcPts val="0"/>
              </a:spcAft>
            </a:pPr>
            <a:r>
              <a:rPr sz="1200">
                <a:solidFill>
                  <a:srgbClr val="5C687C"/>
                </a:solidFill>
                <a:latin typeface="Segoe UI"/>
              </a:rPr>
              <a:t>•  Azure AI Search: hybrid and agentic retrieval</a:t>
            </a:r>
          </a:p>
        </p:txBody>
      </p:sp>
      <p:sp>
        <p:nvSpPr>
          <p:cNvPr id="13" name="text" descr="•  Narrows a large corpus to a short, workable set"/>
          <p:cNvSpPr txBox="1"/>
          <p:nvPr/>
        </p:nvSpPr>
        <p:spPr>
          <a:xfrm>
            <a:off x="1042416" y="4069080"/>
            <a:ext cx="4608576" cy="365760"/>
          </a:xfrm>
          <a:prstGeom prst="rect">
            <a:avLst/>
          </a:prstGeom>
          <a:noFill/>
        </p:spPr>
        <p:txBody>
          <a:bodyPr wrap="square" lIns="0" rIns="0" tIns="0" bIns="0">
            <a:spAutoFit/>
          </a:bodyPr>
          <a:lstStyle/>
          <a:p>
            <a:pPr algn="l">
              <a:lnSpc>
                <a:spcPct val="116000"/>
              </a:lnSpc>
              <a:spcAft>
                <a:spcPts val="0"/>
              </a:spcAft>
            </a:pPr>
            <a:r>
              <a:rPr sz="1200">
                <a:solidFill>
                  <a:srgbClr val="5C687C"/>
                </a:solidFill>
                <a:latin typeface="Segoe UI"/>
              </a:rPr>
              <a:t>•  Glean: permission-aware enterprise answers</a:t>
            </a:r>
          </a:p>
        </p:txBody>
      </p:sp>
      <p:sp>
        <p:nvSpPr>
          <p:cNvPr id="14" name="text" descr="•  Ranks by relevance, cheaply and continuously"/>
          <p:cNvSpPr txBox="1"/>
          <p:nvPr/>
        </p:nvSpPr>
        <p:spPr>
          <a:xfrm>
            <a:off x="1042416" y="4489704"/>
            <a:ext cx="4608576" cy="365760"/>
          </a:xfrm>
          <a:prstGeom prst="rect">
            <a:avLst/>
          </a:prstGeom>
          <a:noFill/>
        </p:spPr>
        <p:txBody>
          <a:bodyPr wrap="square" lIns="0" rIns="0" tIns="0" bIns="0">
            <a:spAutoFit/>
          </a:bodyPr>
          <a:lstStyle/>
          <a:p>
            <a:pPr algn="l">
              <a:lnSpc>
                <a:spcPct val="116000"/>
              </a:lnSpc>
              <a:spcAft>
                <a:spcPts val="0"/>
              </a:spcAft>
            </a:pPr>
            <a:r>
              <a:rPr sz="1200">
                <a:solidFill>
                  <a:srgbClr val="5C687C"/>
                </a:solidFill>
                <a:latin typeface="Segoe UI"/>
              </a:rPr>
              <a:t>•  Camunda: DMN models and FEEL execution</a:t>
            </a:r>
          </a:p>
        </p:txBody>
      </p:sp>
      <p:sp>
        <p:nvSpPr>
          <p:cNvPr id="15" name="text" descr="•  Surfaces candidates a reviewer would not have found"/>
          <p:cNvSpPr txBox="1"/>
          <p:nvPr/>
        </p:nvSpPr>
        <p:spPr>
          <a:xfrm>
            <a:off x="1042416" y="4910328"/>
            <a:ext cx="4608576" cy="365760"/>
          </a:xfrm>
          <a:prstGeom prst="rect">
            <a:avLst/>
          </a:prstGeom>
          <a:noFill/>
        </p:spPr>
        <p:txBody>
          <a:bodyPr wrap="square" lIns="0" rIns="0" tIns="0" bIns="0">
            <a:spAutoFit/>
          </a:bodyPr>
          <a:lstStyle/>
          <a:p>
            <a:pPr algn="l">
              <a:lnSpc>
                <a:spcPct val="116000"/>
              </a:lnSpc>
              <a:spcAft>
                <a:spcPts val="0"/>
              </a:spcAft>
            </a:pPr>
            <a:r>
              <a:rPr sz="1200">
                <a:solidFill>
                  <a:srgbClr val="5C687C"/>
                </a:solidFill>
                <a:latin typeface="Segoe UI"/>
              </a:rPr>
              <a:t>•  Modern search can also synthesize and cite answers</a:t>
            </a:r>
          </a:p>
        </p:txBody>
      </p:sp>
      <p:sp>
        <p:nvSpPr>
          <p:cNvPr id="16" name="rule-line" descr="rule-line"/>
          <p:cNvSpPr/>
          <p:nvPr/>
        </p:nvSpPr>
        <p:spPr>
          <a:xfrm>
            <a:off x="1042416" y="5221224"/>
            <a:ext cx="4608576" cy="952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descr="Output: candidate passages."/>
          <p:cNvSpPr txBox="1"/>
          <p:nvPr/>
        </p:nvSpPr>
        <p:spPr>
          <a:xfrm>
            <a:off x="1042416" y="5330952"/>
            <a:ext cx="4608576" cy="274320"/>
          </a:xfrm>
          <a:prstGeom prst="rect">
            <a:avLst/>
          </a:prstGeom>
          <a:noFill/>
        </p:spPr>
        <p:txBody>
          <a:bodyPr wrap="square" lIns="0" rIns="0" tIns="0" bIns="0">
            <a:spAutoFit/>
          </a:bodyPr>
          <a:lstStyle/>
          <a:p>
            <a:pPr algn="l">
              <a:spcAft>
                <a:spcPts val="0"/>
              </a:spcAft>
            </a:pPr>
            <a:r>
              <a:rPr sz="1150">
                <a:solidFill>
                  <a:srgbClr val="2B354A"/>
                </a:solidFill>
                <a:latin typeface="Segoe UI Semibold"/>
              </a:rPr>
              <a:t>Strong for enterprise discovery and rule automation.</a:t>
            </a:r>
          </a:p>
        </p:txBody>
      </p:sp>
      <p:sp>
        <p:nvSpPr>
          <p:cNvPr id="18" name="governed-card" descr="governed-card"/>
          <p:cNvSpPr/>
          <p:nvPr/>
        </p:nvSpPr>
        <p:spPr>
          <a:xfrm>
            <a:off x="6227064" y="2459736"/>
            <a:ext cx="5230368" cy="3310128"/>
          </a:xfrm>
          <a:prstGeom prst="roundRect">
            <a:avLst>
              <a:gd name="adj" fmla="val 3500"/>
            </a:avLst>
          </a:prstGeom>
          <a:solidFill>
            <a:srgbClr val="EDEAF9"/>
          </a:solidFill>
          <a:ln w="12700">
            <a:solidFill>
              <a:srgbClr val="9B8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ccent-bar" descr="accent-bar"/>
          <p:cNvSpPr/>
          <p:nvPr/>
        </p:nvSpPr>
        <p:spPr>
          <a:xfrm>
            <a:off x="6537960" y="2770632"/>
            <a:ext cx="457200"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descr="GOVERNED POLICY LAYER · ADDS"/>
          <p:cNvSpPr txBox="1"/>
          <p:nvPr/>
        </p:nvSpPr>
        <p:spPr>
          <a:xfrm>
            <a:off x="6537960" y="2990088"/>
            <a:ext cx="4608576" cy="274320"/>
          </a:xfrm>
          <a:prstGeom prst="rect">
            <a:avLst/>
          </a:prstGeom>
          <a:noFill/>
        </p:spPr>
        <p:txBody>
          <a:bodyPr wrap="square" lIns="0" rIns="0" tIns="0" bIns="0">
            <a:spAutoFit/>
          </a:bodyPr>
          <a:lstStyle/>
          <a:p>
            <a:pPr algn="l">
              <a:spcAft>
                <a:spcPts val="0"/>
              </a:spcAft>
            </a:pPr>
            <a:r>
              <a:rPr sz="1000">
                <a:solidFill>
                  <a:srgbClr val="5B4DB1"/>
                </a:solidFill>
                <a:latin typeface="Segoe UI Semibold"/>
              </a:rPr>
              <a:t>VERBAITIM · GOVERNED POLICY ANSWERS</a:t>
            </a:r>
          </a:p>
        </p:txBody>
      </p:sp>
      <p:sp>
        <p:nvSpPr>
          <p:cNvPr id="21" name="text" descr="What makes a record authoritative"/>
          <p:cNvSpPr txBox="1"/>
          <p:nvPr/>
        </p:nvSpPr>
        <p:spPr>
          <a:xfrm>
            <a:off x="6537960" y="3246120"/>
            <a:ext cx="4608576" cy="310896"/>
          </a:xfrm>
          <a:prstGeom prst="rect">
            <a:avLst/>
          </a:prstGeom>
          <a:noFill/>
        </p:spPr>
        <p:txBody>
          <a:bodyPr wrap="square" lIns="0" rIns="0" tIns="0" bIns="0">
            <a:spAutoFit/>
          </a:bodyPr>
          <a:lstStyle/>
          <a:p>
            <a:pPr algn="l">
              <a:spcAft>
                <a:spcPts val="0"/>
              </a:spcAft>
            </a:pPr>
            <a:r>
              <a:rPr sz="1700">
                <a:solidFill>
                  <a:srgbClr val="0A1224"/>
                </a:solidFill>
                <a:latin typeface="Segoe UI Semibold"/>
              </a:rPr>
              <a:t>Better fit for governed policy cases</a:t>
            </a:r>
          </a:p>
        </p:txBody>
      </p:sp>
      <p:sp>
        <p:nvSpPr>
          <p:cNvPr id="22" name="text" descr="•  A named human approves the rule before it is served"/>
          <p:cNvSpPr txBox="1"/>
          <p:nvPr/>
        </p:nvSpPr>
        <p:spPr>
          <a:xfrm>
            <a:off x="6537960" y="3648456"/>
            <a:ext cx="4608576" cy="365760"/>
          </a:xfrm>
          <a:prstGeom prst="rect">
            <a:avLst/>
          </a:prstGeom>
          <a:noFill/>
        </p:spPr>
        <p:txBody>
          <a:bodyPr wrap="square" lIns="0" rIns="0" tIns="0" bIns="0">
            <a:spAutoFit/>
          </a:bodyPr>
          <a:lstStyle/>
          <a:p>
            <a:pPr algn="l">
              <a:lnSpc>
                <a:spcPct val="116000"/>
              </a:lnSpc>
              <a:spcAft>
                <a:spcPts val="0"/>
              </a:spcAft>
            </a:pPr>
            <a:r>
              <a:rPr sz="1200">
                <a:solidFill>
                  <a:srgbClr val="2B354A"/>
                </a:solidFill>
                <a:latin typeface="Segoe UI"/>
              </a:rPr>
              <a:t>•  Human-reviewed, immutable policy publications</a:t>
            </a:r>
          </a:p>
        </p:txBody>
      </p:sp>
      <p:sp>
        <p:nvSpPr>
          <p:cNvPr id="23" name="text" descr="•  An immutable version, with an effective date"/>
          <p:cNvSpPr txBox="1"/>
          <p:nvPr/>
        </p:nvSpPr>
        <p:spPr>
          <a:xfrm>
            <a:off x="6537960" y="4069080"/>
            <a:ext cx="4608576" cy="365760"/>
          </a:xfrm>
          <a:prstGeom prst="rect">
            <a:avLst/>
          </a:prstGeom>
          <a:noFill/>
        </p:spPr>
        <p:txBody>
          <a:bodyPr wrap="square" lIns="0" rIns="0" tIns="0" bIns="0">
            <a:spAutoFit/>
          </a:bodyPr>
          <a:lstStyle/>
          <a:p>
            <a:pPr algn="l">
              <a:lnSpc>
                <a:spcPct val="116000"/>
              </a:lnSpc>
              <a:spcAft>
                <a:spcPts val="0"/>
              </a:spcAft>
            </a:pPr>
            <a:r>
              <a:rPr sz="1200">
                <a:solidFill>
                  <a:srgbClr val="2B354A"/>
                </a:solidFill>
                <a:latin typeface="Segoe UI"/>
              </a:rPr>
              <a:t>•  Index IDs resolve to authoritative, reviewed records</a:t>
            </a:r>
          </a:p>
        </p:txBody>
      </p:sp>
      <p:sp>
        <p:nvSpPr>
          <p:cNvPr id="24" name="text" descr="•  The rule stated explicitly — not inferred per call"/>
          <p:cNvSpPr txBox="1"/>
          <p:nvPr/>
        </p:nvSpPr>
        <p:spPr>
          <a:xfrm>
            <a:off x="6537960" y="4489704"/>
            <a:ext cx="4608576" cy="365760"/>
          </a:xfrm>
          <a:prstGeom prst="rect">
            <a:avLst/>
          </a:prstGeom>
          <a:noFill/>
        </p:spPr>
        <p:txBody>
          <a:bodyPr wrap="square" lIns="0" rIns="0" tIns="0" bIns="0">
            <a:spAutoFit/>
          </a:bodyPr>
          <a:lstStyle/>
          <a:p>
            <a:pPr algn="l">
              <a:lnSpc>
                <a:spcPct val="116000"/>
              </a:lnSpc>
              <a:spcAft>
                <a:spcPts val="0"/>
              </a:spcAft>
            </a:pPr>
            <a:r>
              <a:rPr sz="1200">
                <a:solidFill>
                  <a:srgbClr val="2B354A"/>
                </a:solidFill>
                <a:latin typeface="Segoe UI"/>
              </a:rPr>
              <a:t>•  Supported FEEL rules + source-grounded AI cases</a:t>
            </a:r>
          </a:p>
        </p:txBody>
      </p:sp>
      <p:sp>
        <p:nvSpPr>
          <p:cNvPr id="25" name="text" descr="•  The exact source passage travels with the answer"/>
          <p:cNvSpPr txBox="1"/>
          <p:nvPr/>
        </p:nvSpPr>
        <p:spPr>
          <a:xfrm>
            <a:off x="6537960" y="4910328"/>
            <a:ext cx="4608576" cy="365760"/>
          </a:xfrm>
          <a:prstGeom prst="rect">
            <a:avLst/>
          </a:prstGeom>
          <a:noFill/>
        </p:spPr>
        <p:txBody>
          <a:bodyPr wrap="square" lIns="0" rIns="0" tIns="0" bIns="0">
            <a:spAutoFit/>
          </a:bodyPr>
          <a:lstStyle/>
          <a:p>
            <a:pPr algn="l">
              <a:lnSpc>
                <a:spcPct val="116000"/>
              </a:lnSpc>
              <a:spcAft>
                <a:spcPts val="0"/>
              </a:spcAft>
            </a:pPr>
            <a:r>
              <a:rPr sz="1200">
                <a:solidFill>
                  <a:srgbClr val="2B354A"/>
                </a:solidFill>
                <a:latin typeface="Segoe UI"/>
              </a:rPr>
              <a:t>•  Release-bound answers, citations and stored receipts</a:t>
            </a:r>
          </a:p>
        </p:txBody>
      </p:sp>
      <p:sp>
        <p:nvSpPr>
          <p:cNvPr id="26" name="rule-line" descr="rule-line"/>
          <p:cNvSpPr/>
          <p:nvPr/>
        </p:nvSpPr>
        <p:spPr>
          <a:xfrm>
            <a:off x="6537960" y="5221224"/>
            <a:ext cx="4608576" cy="9525"/>
          </a:xfrm>
          <a:prstGeom prst="rect">
            <a:avLst/>
          </a:prstGeom>
          <a:solidFill>
            <a:srgbClr val="9B8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descr="Output: a decision record."/>
          <p:cNvSpPr txBox="1"/>
          <p:nvPr/>
        </p:nvSpPr>
        <p:spPr>
          <a:xfrm>
            <a:off x="6537960" y="5330952"/>
            <a:ext cx="4608576" cy="274320"/>
          </a:xfrm>
          <a:prstGeom prst="rect">
            <a:avLst/>
          </a:prstGeom>
          <a:noFill/>
        </p:spPr>
        <p:txBody>
          <a:bodyPr wrap="square" lIns="0" rIns="0" tIns="0" bIns="0">
            <a:spAutoFit/>
          </a:bodyPr>
          <a:lstStyle/>
          <a:p>
            <a:pPr algn="l">
              <a:spcAft>
                <a:spcPts val="0"/>
              </a:spcAft>
            </a:pPr>
            <a:r>
              <a:rPr sz="1150">
                <a:solidFill>
                  <a:srgbClr val="5B4DB1"/>
                </a:solidFill>
                <a:latin typeface="Segoe UI Semibold"/>
              </a:rPr>
              <a:t>Governance + rule evaluation + case evidence.</a:t>
            </a:r>
          </a:p>
        </p:txBody>
      </p:sp>
      <p:sp>
        <p:nvSpPr>
          <p:cNvPr id="28" name="footer-bar" descr="footer-bar"/>
          <p:cNvSpPr/>
          <p:nvPr/>
        </p:nvSpPr>
        <p:spPr>
          <a:xfrm>
            <a:off x="731520" y="6053328"/>
            <a:ext cx="10725912" cy="475488"/>
          </a:xfrm>
          <a:prstGeom prst="rect">
            <a:avLst/>
          </a:prstGeom>
          <a:solidFill>
            <a:srgbClr val="EDE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ooter-text" descr="Use both. Retrieval narrows the search. The approved, versioned record is what decides — and what you can defe"/>
          <p:cNvSpPr txBox="1"/>
          <p:nvPr/>
        </p:nvSpPr>
        <p:spPr>
          <a:xfrm>
            <a:off x="987552" y="6176772"/>
            <a:ext cx="10213848" cy="274320"/>
          </a:xfrm>
          <a:prstGeom prst="rect">
            <a:avLst/>
          </a:prstGeom>
          <a:noFill/>
        </p:spPr>
        <p:txBody>
          <a:bodyPr wrap="square" lIns="0" rIns="0" tIns="0" bIns="0">
            <a:spAutoFit/>
          </a:bodyPr>
          <a:lstStyle/>
          <a:p>
            <a:pPr algn="l">
              <a:spcAft>
                <a:spcPts val="0"/>
              </a:spcAft>
            </a:pPr>
            <a:r>
              <a:rPr sz="1300">
                <a:solidFill>
                  <a:srgbClr val="5B4DB1"/>
                </a:solidFill>
                <a:latin typeface="Segoe UI Semibold"/>
              </a:rPr>
              <a:t>Search locates. PostgreSQL supplies reviewed evidence. AI interprets; supported FEEL evaluates eligible rules.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descr="background"/>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descr="HOW IT WORKS"/>
          <p:cNvSpPr txBox="1"/>
          <p:nvPr/>
        </p:nvSpPr>
        <p:spPr>
          <a:xfrm>
            <a:off x="731520" y="457200"/>
            <a:ext cx="8229600" cy="256032"/>
          </a:xfrm>
          <a:prstGeom prst="rect">
            <a:avLst/>
          </a:prstGeom>
          <a:noFill/>
        </p:spPr>
        <p:txBody>
          <a:bodyPr wrap="square" lIns="0" rIns="0" tIns="0" bIns="0">
            <a:spAutoFit/>
          </a:bodyPr>
          <a:lstStyle/>
          <a:p>
            <a:pPr algn="l">
              <a:spcAft>
                <a:spcPts val="0"/>
              </a:spcAft>
            </a:pPr>
            <a:r>
              <a:rPr sz="1100">
                <a:solidFill>
                  <a:srgbClr val="5B4DB1"/>
                </a:solidFill>
                <a:latin typeface="Segoe UI Semibold"/>
              </a:rPr>
              <a:t>HOW IT WORKS</a:t>
            </a:r>
          </a:p>
        </p:txBody>
      </p:sp>
      <p:sp>
        <p:nvSpPr>
          <p:cNvPr id="4" name="act-label" descr="EXECUTIVE · 05"/>
          <p:cNvSpPr txBox="1"/>
          <p:nvPr/>
        </p:nvSpPr>
        <p:spPr>
          <a:xfrm>
            <a:off x="8869680" y="457200"/>
            <a:ext cx="2587752" cy="256032"/>
          </a:xfrm>
          <a:prstGeom prst="rect">
            <a:avLst/>
          </a:prstGeom>
          <a:noFill/>
        </p:spPr>
        <p:txBody>
          <a:bodyPr wrap="square" lIns="0" rIns="0" tIns="0" bIns="0">
            <a:spAutoFit/>
          </a:bodyPr>
          <a:lstStyle/>
          <a:p>
            <a:pPr algn="r">
              <a:spcAft>
                <a:spcPts val="0"/>
              </a:spcAft>
            </a:pPr>
            <a:r>
              <a:rPr sz="1000">
                <a:solidFill>
                  <a:srgbClr val="5C687C"/>
                </a:solidFill>
                <a:latin typeface="Segoe UI Semibold"/>
              </a:rPr>
              <a:t>HOW IT WORKS · 05</a:t>
            </a:r>
          </a:p>
        </p:txBody>
      </p:sp>
      <p:sp>
        <p:nvSpPr>
          <p:cNvPr id="5" name="title" descr="From document to published policy"/>
          <p:cNvSpPr txBox="1"/>
          <p:nvPr/>
        </p:nvSpPr>
        <p:spPr>
          <a:xfrm>
            <a:off x="731520" y="777240"/>
            <a:ext cx="10725912" cy="731520"/>
          </a:xfrm>
          <a:prstGeom prst="rect">
            <a:avLst/>
          </a:prstGeom>
          <a:noFill/>
        </p:spPr>
        <p:txBody>
          <a:bodyPr wrap="square" lIns="0" rIns="0" tIns="0" bIns="0">
            <a:noAutofit/>
          </a:bodyPr>
          <a:lstStyle/>
          <a:p>
            <a:pPr algn="l">
              <a:lnSpc>
                <a:spcPct val="112000"/>
              </a:lnSpc>
              <a:spcBef>
                <a:spcPts val="0"/>
              </a:spcBef>
              <a:spcAft>
                <a:spcPts val="0"/>
              </a:spcAft>
            </a:pPr>
            <a:r>
              <a:rPr sz="3000" b="0">
                <a:solidFill>
                  <a:srgbClr val="0A1224"/>
                </a:solidFill>
                <a:latin typeface="Segoe UI Light"/>
              </a:rPr>
              <a:t>From source document to an inspectable answer</a:t>
            </a:r>
          </a:p>
        </p:txBody>
      </p:sp>
      <p:sp>
        <p:nvSpPr>
          <p:cNvPr id="6" name="accent-bar" descr="accent-bar"/>
          <p:cNvSpPr/>
          <p:nvPr/>
        </p:nvSpPr>
        <p:spPr>
          <a:xfrm>
            <a:off x="731520" y="1453896"/>
            <a:ext cx="960120"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title" descr="One cycle, six stages. The order matters: nothing is published that was not read from the source, checked, and"/>
          <p:cNvSpPr txBox="1"/>
          <p:nvPr/>
        </p:nvSpPr>
        <p:spPr>
          <a:xfrm>
            <a:off x="731520" y="1746504"/>
            <a:ext cx="10725912" cy="512064"/>
          </a:xfrm>
          <a:prstGeom prst="rect">
            <a:avLst/>
          </a:prstGeom>
          <a:noFill/>
        </p:spPr>
        <p:txBody>
          <a:bodyPr wrap="square" lIns="0" rIns="0" tIns="0" bIns="0">
            <a:noAutofit/>
          </a:bodyPr>
          <a:lstStyle/>
          <a:p>
            <a:pPr algn="l">
              <a:lnSpc>
                <a:spcPct val="112000"/>
              </a:lnSpc>
              <a:spcBef>
                <a:spcPts val="0"/>
              </a:spcBef>
              <a:spcAft>
                <a:spcPts val="0"/>
              </a:spcAft>
            </a:pPr>
            <a:r>
              <a:rPr sz="1450" b="0">
                <a:solidFill>
                  <a:srgbClr val="2B354A"/>
                </a:solidFill>
                <a:latin typeface="Segoe UI"/>
              </a:rPr>
              <a:t>Two phases, six steps. Human review approves the content; a verified index makes the published release usable.</a:t>
            </a:r>
          </a:p>
        </p:txBody>
      </p:sp>
      <p:sp>
        <p:nvSpPr>
          <p:cNvPr id="8" name="stage-card" descr="stage-card"/>
          <p:cNvSpPr/>
          <p:nvPr/>
        </p:nvSpPr>
        <p:spPr>
          <a:xfrm>
            <a:off x="731520" y="2697480"/>
            <a:ext cx="3429000" cy="1261872"/>
          </a:xfrm>
          <a:prstGeom prst="roundRect">
            <a:avLst>
              <a:gd name="adj" fmla="val 3500"/>
            </a:avLst>
          </a:prstGeom>
          <a:solidFill>
            <a:srgbClr val="FFFFFF"/>
          </a:solidFill>
          <a:ln w="1524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descr="01"/>
          <p:cNvSpPr txBox="1"/>
          <p:nvPr/>
        </p:nvSpPr>
        <p:spPr>
          <a:xfrm>
            <a:off x="960120" y="2834640"/>
            <a:ext cx="457200" cy="210312"/>
          </a:xfrm>
          <a:prstGeom prst="rect">
            <a:avLst/>
          </a:prstGeom>
          <a:noFill/>
        </p:spPr>
        <p:txBody>
          <a:bodyPr wrap="square" lIns="0" rIns="0" tIns="0" bIns="0">
            <a:noAutofit/>
          </a:bodyPr>
          <a:lstStyle/>
          <a:p>
            <a:pPr algn="l">
              <a:lnSpc>
                <a:spcPct val="112000"/>
              </a:lnSpc>
              <a:spcBef>
                <a:spcPts val="0"/>
              </a:spcBef>
              <a:spcAft>
                <a:spcPts val="0"/>
              </a:spcAft>
            </a:pPr>
            <a:r>
              <a:rPr sz="1100" b="0">
                <a:solidFill>
                  <a:srgbClr val="5B4DB1"/>
                </a:solidFill>
                <a:latin typeface="Segoe UI Semibold"/>
              </a:rPr>
              <a:t>01</a:t>
            </a:r>
          </a:p>
        </p:txBody>
      </p:sp>
      <p:sp>
        <p:nvSpPr>
          <p:cNvPr id="10" name="text" descr="Source preserved"/>
          <p:cNvSpPr txBox="1"/>
          <p:nvPr/>
        </p:nvSpPr>
        <p:spPr>
          <a:xfrm>
            <a:off x="960120" y="3145536"/>
            <a:ext cx="2971800" cy="301752"/>
          </a:xfrm>
          <a:prstGeom prst="rect">
            <a:avLst/>
          </a:prstGeom>
          <a:noFill/>
        </p:spPr>
        <p:txBody>
          <a:bodyPr wrap="square" lIns="0" rIns="0" tIns="0" bIns="0">
            <a:noAutofit/>
          </a:bodyPr>
          <a:lstStyle/>
          <a:p>
            <a:pPr algn="l">
              <a:lnSpc>
                <a:spcPct val="112000"/>
              </a:lnSpc>
              <a:spcBef>
                <a:spcPts val="0"/>
              </a:spcBef>
              <a:spcAft>
                <a:spcPts val="0"/>
              </a:spcAft>
            </a:pPr>
            <a:r>
              <a:rPr sz="1700" b="0">
                <a:solidFill>
                  <a:srgbClr val="0A1224"/>
                </a:solidFill>
                <a:latin typeface="Segoe UI Semibold"/>
              </a:rPr>
              <a:t>Preserve the source</a:t>
            </a:r>
          </a:p>
        </p:txBody>
      </p:sp>
      <p:sp>
        <p:nvSpPr>
          <p:cNvPr id="11" name="text" descr="The original document is stored first, with its version, pages and layout."/>
          <p:cNvSpPr txBox="1"/>
          <p:nvPr/>
        </p:nvSpPr>
        <p:spPr>
          <a:xfrm>
            <a:off x="960120" y="3538728"/>
            <a:ext cx="2971800" cy="365760"/>
          </a:xfrm>
          <a:prstGeom prst="rect">
            <a:avLst/>
          </a:prstGeom>
          <a:noFill/>
        </p:spPr>
        <p:txBody>
          <a:bodyPr wrap="square" lIns="0" rIns="0" tIns="0" bIns="0">
            <a:noAutofit/>
          </a:bodyPr>
          <a:lstStyle/>
          <a:p>
            <a:pPr algn="l">
              <a:lnSpc>
                <a:spcPct val="112000"/>
              </a:lnSpc>
              <a:spcBef>
                <a:spcPts val="0"/>
              </a:spcBef>
              <a:spcAft>
                <a:spcPts val="0"/>
              </a:spcAft>
            </a:pPr>
            <a:r>
              <a:rPr sz="1200" b="0">
                <a:solidFill>
                  <a:srgbClr val="5C687C"/>
                </a:solidFill>
                <a:latin typeface="Segoe UI"/>
              </a:rPr>
              <a:t>Original file + source version</a:t>
            </a:r>
          </a:p>
          <a:p>
            <a:pPr algn="l">
              <a:lnSpc>
                <a:spcPct val="112000"/>
              </a:lnSpc>
              <a:spcBef>
                <a:spcPts val="0"/>
              </a:spcBef>
              <a:spcAft>
                <a:spcPts val="0"/>
              </a:spcAft>
            </a:pPr>
            <a:r>
              <a:rPr sz="1200" b="0">
                <a:solidFill>
                  <a:srgbClr val="5C687C"/>
                </a:solidFill>
                <a:latin typeface="Segoe UI"/>
              </a:rPr>
              <a:t>Canonical text + available locators</a:t>
            </a:r>
          </a:p>
        </p:txBody>
      </p:sp>
      <p:sp>
        <p:nvSpPr>
          <p:cNvPr id="12" name="text" descr="›"/>
          <p:cNvSpPr txBox="1"/>
          <p:nvPr/>
        </p:nvSpPr>
        <p:spPr>
          <a:xfrm>
            <a:off x="4160520" y="3227832"/>
            <a:ext cx="219456" cy="365760"/>
          </a:xfrm>
          <a:prstGeom prst="rect">
            <a:avLst/>
          </a:prstGeom>
          <a:noFill/>
        </p:spPr>
        <p:txBody>
          <a:bodyPr wrap="square" lIns="0" rIns="0" tIns="0" bIns="0">
            <a:noAutofit/>
          </a:bodyPr>
          <a:lstStyle/>
          <a:p>
            <a:pPr algn="ctr">
              <a:lnSpc>
                <a:spcPct val="112000"/>
              </a:lnSpc>
              <a:spcBef>
                <a:spcPts val="0"/>
              </a:spcBef>
              <a:spcAft>
                <a:spcPts val="0"/>
              </a:spcAft>
            </a:pPr>
            <a:r>
              <a:rPr sz="2500" b="0">
                <a:solidFill>
                  <a:srgbClr val="5B4DB1"/>
                </a:solidFill>
                <a:latin typeface="Segoe UI"/>
              </a:rPr>
              <a:t>›</a:t>
            </a:r>
          </a:p>
        </p:txBody>
      </p:sp>
      <p:sp>
        <p:nvSpPr>
          <p:cNvPr id="13" name="stage-card" descr="stage-card"/>
          <p:cNvSpPr/>
          <p:nvPr/>
        </p:nvSpPr>
        <p:spPr>
          <a:xfrm>
            <a:off x="4379976" y="2697480"/>
            <a:ext cx="3429000" cy="1261872"/>
          </a:xfrm>
          <a:prstGeom prst="roundRect">
            <a:avLst>
              <a:gd name="adj" fmla="val 3500"/>
            </a:avLst>
          </a:prstGeom>
          <a:solidFill>
            <a:srgbClr val="FFFFFF"/>
          </a:solidFill>
          <a:ln w="1524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descr="02"/>
          <p:cNvSpPr txBox="1"/>
          <p:nvPr/>
        </p:nvSpPr>
        <p:spPr>
          <a:xfrm>
            <a:off x="4608576" y="2834640"/>
            <a:ext cx="457200" cy="210312"/>
          </a:xfrm>
          <a:prstGeom prst="rect">
            <a:avLst/>
          </a:prstGeom>
          <a:noFill/>
        </p:spPr>
        <p:txBody>
          <a:bodyPr wrap="square" lIns="0" rIns="0" tIns="0" bIns="0">
            <a:noAutofit/>
          </a:bodyPr>
          <a:lstStyle/>
          <a:p>
            <a:pPr algn="l">
              <a:lnSpc>
                <a:spcPct val="112000"/>
              </a:lnSpc>
              <a:spcBef>
                <a:spcPts val="0"/>
              </a:spcBef>
              <a:spcAft>
                <a:spcPts val="0"/>
              </a:spcAft>
            </a:pPr>
            <a:r>
              <a:rPr sz="1100" b="0">
                <a:solidFill>
                  <a:srgbClr val="5B4DB1"/>
                </a:solidFill>
                <a:latin typeface="Segoe UI Semibold"/>
              </a:rPr>
              <a:t>02</a:t>
            </a:r>
          </a:p>
        </p:txBody>
      </p:sp>
      <p:sp>
        <p:nvSpPr>
          <p:cNvPr id="15" name="text" descr="Canonical clauses"/>
          <p:cNvSpPr txBox="1"/>
          <p:nvPr/>
        </p:nvSpPr>
        <p:spPr>
          <a:xfrm>
            <a:off x="4608576" y="3145536"/>
            <a:ext cx="2971800" cy="301752"/>
          </a:xfrm>
          <a:prstGeom prst="rect">
            <a:avLst/>
          </a:prstGeom>
          <a:noFill/>
        </p:spPr>
        <p:txBody>
          <a:bodyPr wrap="square" lIns="0" rIns="0" tIns="0" bIns="0">
            <a:noAutofit/>
          </a:bodyPr>
          <a:lstStyle/>
          <a:p>
            <a:pPr algn="l">
              <a:lnSpc>
                <a:spcPct val="112000"/>
              </a:lnSpc>
              <a:spcBef>
                <a:spcPts val="0"/>
              </a:spcBef>
              <a:spcAft>
                <a:spcPts val="0"/>
              </a:spcAft>
            </a:pPr>
            <a:r>
              <a:rPr sz="1700" b="0">
                <a:solidFill>
                  <a:srgbClr val="0A1224"/>
                </a:solidFill>
                <a:latin typeface="Segoe UI Semibold"/>
              </a:rPr>
              <a:t>AI prepares candidates</a:t>
            </a:r>
          </a:p>
        </p:txBody>
      </p:sp>
      <p:sp>
        <p:nvSpPr>
          <p:cNvPr id="16" name="text" descr="Text is segmented into numbered clauses that keep page, section and offsets."/>
          <p:cNvSpPr txBox="1"/>
          <p:nvPr/>
        </p:nvSpPr>
        <p:spPr>
          <a:xfrm>
            <a:off x="4608576" y="3538728"/>
            <a:ext cx="2971800" cy="365760"/>
          </a:xfrm>
          <a:prstGeom prst="rect">
            <a:avLst/>
          </a:prstGeom>
          <a:noFill/>
        </p:spPr>
        <p:txBody>
          <a:bodyPr wrap="square" lIns="0" rIns="0" tIns="0" bIns="0">
            <a:noAutofit/>
          </a:bodyPr>
          <a:lstStyle/>
          <a:p>
            <a:pPr algn="l">
              <a:lnSpc>
                <a:spcPct val="112000"/>
              </a:lnSpc>
              <a:spcBef>
                <a:spcPts val="0"/>
              </a:spcBef>
              <a:spcAft>
                <a:spcPts val="0"/>
              </a:spcAft>
            </a:pPr>
            <a:r>
              <a:rPr sz="1200" b="0">
                <a:solidFill>
                  <a:srgbClr val="5C687C"/>
                </a:solidFill>
                <a:latin typeface="Segoe UI"/>
              </a:rPr>
              <a:t>Source-linked passages or rules</a:t>
            </a:r>
          </a:p>
          <a:p>
            <a:pPr algn="l">
              <a:lnSpc>
                <a:spcPct val="112000"/>
              </a:lnSpc>
              <a:spcBef>
                <a:spcPts val="0"/>
              </a:spcBef>
              <a:spcAft>
                <a:spcPts val="0"/>
              </a:spcAft>
            </a:pPr>
            <a:r>
              <a:rPr sz="1200" b="0">
                <a:solidFill>
                  <a:srgbClr val="5C687C"/>
                </a:solidFill>
                <a:latin typeface="Segoe UI"/>
              </a:rPr>
              <a:t>Coverage gaps remain visible</a:t>
            </a:r>
          </a:p>
        </p:txBody>
      </p:sp>
      <p:sp>
        <p:nvSpPr>
          <p:cNvPr id="17" name="text" descr="›"/>
          <p:cNvSpPr txBox="1"/>
          <p:nvPr/>
        </p:nvSpPr>
        <p:spPr>
          <a:xfrm>
            <a:off x="7808975" y="3227832"/>
            <a:ext cx="219456" cy="365760"/>
          </a:xfrm>
          <a:prstGeom prst="rect">
            <a:avLst/>
          </a:prstGeom>
          <a:noFill/>
        </p:spPr>
        <p:txBody>
          <a:bodyPr wrap="square" lIns="0" rIns="0" tIns="0" bIns="0">
            <a:noAutofit/>
          </a:bodyPr>
          <a:lstStyle/>
          <a:p>
            <a:pPr algn="ctr">
              <a:lnSpc>
                <a:spcPct val="112000"/>
              </a:lnSpc>
              <a:spcBef>
                <a:spcPts val="0"/>
              </a:spcBef>
              <a:spcAft>
                <a:spcPts val="0"/>
              </a:spcAft>
            </a:pPr>
            <a:r>
              <a:rPr sz="2500" b="0">
                <a:solidFill>
                  <a:srgbClr val="5B4DB1"/>
                </a:solidFill>
                <a:latin typeface="Segoe UI"/>
              </a:rPr>
              <a:t>›</a:t>
            </a:r>
          </a:p>
        </p:txBody>
      </p:sp>
      <p:sp>
        <p:nvSpPr>
          <p:cNvPr id="18" name="stage-card" descr="stage-card"/>
          <p:cNvSpPr/>
          <p:nvPr/>
        </p:nvSpPr>
        <p:spPr>
          <a:xfrm>
            <a:off x="8028431" y="2697480"/>
            <a:ext cx="3429000" cy="1261872"/>
          </a:xfrm>
          <a:prstGeom prst="roundRect">
            <a:avLst>
              <a:gd name="adj" fmla="val 3500"/>
            </a:avLst>
          </a:prstGeom>
          <a:solidFill>
            <a:srgbClr val="5B4DB1"/>
          </a:solidFill>
          <a:ln w="15240">
            <a:solidFill>
              <a:srgbClr val="5B4D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descr="03"/>
          <p:cNvSpPr txBox="1"/>
          <p:nvPr/>
        </p:nvSpPr>
        <p:spPr>
          <a:xfrm>
            <a:off x="8257031" y="2834640"/>
            <a:ext cx="457200" cy="210312"/>
          </a:xfrm>
          <a:prstGeom prst="rect">
            <a:avLst/>
          </a:prstGeom>
          <a:noFill/>
        </p:spPr>
        <p:txBody>
          <a:bodyPr wrap="square" lIns="0" rIns="0" tIns="0" bIns="0">
            <a:noAutofit/>
          </a:bodyPr>
          <a:lstStyle/>
          <a:p>
            <a:pPr algn="l">
              <a:lnSpc>
                <a:spcPct val="112000"/>
              </a:lnSpc>
              <a:spcBef>
                <a:spcPts val="0"/>
              </a:spcBef>
              <a:spcAft>
                <a:spcPts val="0"/>
              </a:spcAft>
            </a:pPr>
            <a:r>
              <a:rPr sz="1100" b="0">
                <a:solidFill>
                  <a:srgbClr val="32D4F0"/>
                </a:solidFill>
                <a:latin typeface="Segoe UI Semibold"/>
              </a:rPr>
              <a:t>03</a:t>
            </a:r>
          </a:p>
        </p:txBody>
      </p:sp>
      <p:sp>
        <p:nvSpPr>
          <p:cNvPr id="20" name="text" descr="Verbatim passage check"/>
          <p:cNvSpPr txBox="1"/>
          <p:nvPr/>
        </p:nvSpPr>
        <p:spPr>
          <a:xfrm>
            <a:off x="8257031" y="3145536"/>
            <a:ext cx="2971800" cy="301752"/>
          </a:xfrm>
          <a:prstGeom prst="rect">
            <a:avLst/>
          </a:prstGeom>
          <a:noFill/>
        </p:spPr>
        <p:txBody>
          <a:bodyPr wrap="square" lIns="0" rIns="0" tIns="0" bIns="0">
            <a:noAutofit/>
          </a:bodyPr>
          <a:lstStyle/>
          <a:p>
            <a:pPr algn="l">
              <a:lnSpc>
                <a:spcPct val="112000"/>
              </a:lnSpc>
              <a:spcBef>
                <a:spcPts val="0"/>
              </a:spcBef>
              <a:spcAft>
                <a:spcPts val="0"/>
              </a:spcAft>
            </a:pPr>
            <a:r>
              <a:rPr sz="1700" b="0">
                <a:solidFill>
                  <a:srgbClr val="FFFFFF"/>
                </a:solidFill>
                <a:latin typeface="Segoe UI Semibold"/>
              </a:rPr>
              <a:t>A person reviews</a:t>
            </a:r>
          </a:p>
        </p:txBody>
      </p:sp>
      <p:sp>
        <p:nvSpPr>
          <p:cNvPr id="21" name="text" descr="A passage the model did not copy from the clause text is discarded, with a diagnostic."/>
          <p:cNvSpPr txBox="1"/>
          <p:nvPr/>
        </p:nvSpPr>
        <p:spPr>
          <a:xfrm>
            <a:off x="8257031" y="3538728"/>
            <a:ext cx="2971800" cy="365760"/>
          </a:xfrm>
          <a:prstGeom prst="rect">
            <a:avLst/>
          </a:prstGeom>
          <a:noFill/>
        </p:spPr>
        <p:txBody>
          <a:bodyPr wrap="square" lIns="0" rIns="0" tIns="0" bIns="0">
            <a:noAutofit/>
          </a:bodyPr>
          <a:lstStyle/>
          <a:p>
            <a:pPr algn="l">
              <a:lnSpc>
                <a:spcPct val="112000"/>
              </a:lnSpc>
              <a:spcBef>
                <a:spcPts val="0"/>
              </a:spcBef>
              <a:spcAft>
                <a:spcPts val="0"/>
              </a:spcAft>
            </a:pPr>
            <a:r>
              <a:rPr sz="1200" b="0">
                <a:solidFill>
                  <a:srgbClr val="FFFFFF"/>
                </a:solidFill>
                <a:latin typeface="Segoe UI"/>
              </a:rPr>
              <a:t>Check meaning against the source</a:t>
            </a:r>
          </a:p>
          <a:p>
            <a:pPr algn="l">
              <a:lnSpc>
                <a:spcPct val="112000"/>
              </a:lnSpc>
              <a:spcBef>
                <a:spcPts val="0"/>
              </a:spcBef>
              <a:spcAft>
                <a:spcPts val="0"/>
              </a:spcAft>
            </a:pPr>
            <a:r>
              <a:rPr sz="1200" b="0">
                <a:solidFill>
                  <a:srgbClr val="FFFFFF"/>
                </a:solidFill>
                <a:latin typeface="Segoe UI"/>
              </a:rPr>
              <a:t>Approve, reject or resolve issues</a:t>
            </a:r>
          </a:p>
        </p:txBody>
      </p:sp>
      <p:sp>
        <p:nvSpPr>
          <p:cNvPr id="22" name="stage-card" descr="stage-card"/>
          <p:cNvSpPr/>
          <p:nvPr/>
        </p:nvSpPr>
        <p:spPr>
          <a:xfrm>
            <a:off x="731520" y="4526280"/>
            <a:ext cx="3429000" cy="1261872"/>
          </a:xfrm>
          <a:prstGeom prst="roundRect">
            <a:avLst>
              <a:gd name="adj" fmla="val 3500"/>
            </a:avLst>
          </a:prstGeom>
          <a:solidFill>
            <a:srgbClr val="FFFFFF"/>
          </a:solidFill>
          <a:ln w="1524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descr="04"/>
          <p:cNvSpPr txBox="1"/>
          <p:nvPr/>
        </p:nvSpPr>
        <p:spPr>
          <a:xfrm>
            <a:off x="960120" y="4663440"/>
            <a:ext cx="457200" cy="210312"/>
          </a:xfrm>
          <a:prstGeom prst="rect">
            <a:avLst/>
          </a:prstGeom>
          <a:noFill/>
        </p:spPr>
        <p:txBody>
          <a:bodyPr wrap="square" lIns="0" rIns="0" tIns="0" bIns="0">
            <a:noAutofit/>
          </a:bodyPr>
          <a:lstStyle/>
          <a:p>
            <a:pPr algn="l">
              <a:lnSpc>
                <a:spcPct val="112000"/>
              </a:lnSpc>
              <a:spcBef>
                <a:spcPts val="0"/>
              </a:spcBef>
              <a:spcAft>
                <a:spcPts val="0"/>
              </a:spcAft>
            </a:pPr>
            <a:r>
              <a:rPr sz="1100" b="0">
                <a:solidFill>
                  <a:srgbClr val="5B4DB1"/>
                </a:solidFill>
                <a:latin typeface="Segoe UI Semibold"/>
              </a:rPr>
              <a:t>04</a:t>
            </a:r>
          </a:p>
        </p:txBody>
      </p:sp>
      <p:sp>
        <p:nvSpPr>
          <p:cNvPr id="24" name="text" descr="Candidate rules drafted"/>
          <p:cNvSpPr txBox="1"/>
          <p:nvPr/>
        </p:nvSpPr>
        <p:spPr>
          <a:xfrm>
            <a:off x="960120" y="4974336"/>
            <a:ext cx="2971800" cy="301752"/>
          </a:xfrm>
          <a:prstGeom prst="rect">
            <a:avLst/>
          </a:prstGeom>
          <a:noFill/>
        </p:spPr>
        <p:txBody>
          <a:bodyPr wrap="square" lIns="0" rIns="0" tIns="0" bIns="0">
            <a:noAutofit/>
          </a:bodyPr>
          <a:lstStyle/>
          <a:p>
            <a:pPr algn="l">
              <a:lnSpc>
                <a:spcPct val="112000"/>
              </a:lnSpc>
              <a:spcBef>
                <a:spcPts val="0"/>
              </a:spcBef>
              <a:spcAft>
                <a:spcPts val="0"/>
              </a:spcAft>
            </a:pPr>
            <a:r>
              <a:rPr sz="1700" b="0">
                <a:solidFill>
                  <a:srgbClr val="0A1224"/>
                </a:solidFill>
                <a:latin typeface="Segoe UI Semibold"/>
              </a:rPr>
              <a:t>Publish a fixed release</a:t>
            </a:r>
          </a:p>
        </p:txBody>
      </p:sp>
      <p:sp>
        <p:nvSpPr>
          <p:cNvPr id="25" name="text" descr="Subject, condition and outcome are drafted from the verified passage."/>
          <p:cNvSpPr txBox="1"/>
          <p:nvPr/>
        </p:nvSpPr>
        <p:spPr>
          <a:xfrm>
            <a:off x="960120" y="5367528"/>
            <a:ext cx="2971800" cy="365760"/>
          </a:xfrm>
          <a:prstGeom prst="rect">
            <a:avLst/>
          </a:prstGeom>
          <a:noFill/>
        </p:spPr>
        <p:txBody>
          <a:bodyPr wrap="square" lIns="0" rIns="0" tIns="0" bIns="0">
            <a:noAutofit/>
          </a:bodyPr>
          <a:lstStyle/>
          <a:p>
            <a:pPr algn="l">
              <a:lnSpc>
                <a:spcPct val="112000"/>
              </a:lnSpc>
              <a:spcBef>
                <a:spcPts val="0"/>
              </a:spcBef>
              <a:spcAft>
                <a:spcPts val="0"/>
              </a:spcAft>
            </a:pPr>
            <a:r>
              <a:rPr sz="1200" b="0">
                <a:solidFill>
                  <a:srgbClr val="5C687C"/>
                </a:solidFill>
                <a:latin typeface="Segoe UI"/>
              </a:rPr>
              <a:t>Reviewed content becomes immutable</a:t>
            </a:r>
          </a:p>
          <a:p>
            <a:pPr algn="l">
              <a:lnSpc>
                <a:spcPct val="112000"/>
              </a:lnSpc>
              <a:spcBef>
                <a:spcPts val="0"/>
              </a:spcBef>
              <a:spcAft>
                <a:spcPts val="0"/>
              </a:spcAft>
            </a:pPr>
            <a:r>
              <a:rPr sz="1200" b="0">
                <a:solidFill>
                  <a:srgbClr val="5C687C"/>
                </a:solidFill>
                <a:latin typeface="Segoe UI"/>
              </a:rPr>
              <a:t>A correction creates a new version</a:t>
            </a:r>
          </a:p>
        </p:txBody>
      </p:sp>
      <p:sp>
        <p:nvSpPr>
          <p:cNvPr id="26" name="text" descr="›"/>
          <p:cNvSpPr txBox="1"/>
          <p:nvPr/>
        </p:nvSpPr>
        <p:spPr>
          <a:xfrm>
            <a:off x="4160520" y="5056632"/>
            <a:ext cx="219456" cy="365760"/>
          </a:xfrm>
          <a:prstGeom prst="rect">
            <a:avLst/>
          </a:prstGeom>
          <a:noFill/>
        </p:spPr>
        <p:txBody>
          <a:bodyPr wrap="square" lIns="0" rIns="0" tIns="0" bIns="0">
            <a:noAutofit/>
          </a:bodyPr>
          <a:lstStyle/>
          <a:p>
            <a:pPr algn="ctr">
              <a:lnSpc>
                <a:spcPct val="112000"/>
              </a:lnSpc>
              <a:spcBef>
                <a:spcPts val="0"/>
              </a:spcBef>
              <a:spcAft>
                <a:spcPts val="0"/>
              </a:spcAft>
            </a:pPr>
            <a:r>
              <a:rPr sz="2500" b="0">
                <a:solidFill>
                  <a:srgbClr val="5B4DB1"/>
                </a:solidFill>
                <a:latin typeface="Segoe UI"/>
              </a:rPr>
              <a:t>›</a:t>
            </a:r>
          </a:p>
        </p:txBody>
      </p:sp>
      <p:sp>
        <p:nvSpPr>
          <p:cNvPr id="27" name="stage-card" descr="stage-card"/>
          <p:cNvSpPr/>
          <p:nvPr/>
        </p:nvSpPr>
        <p:spPr>
          <a:xfrm>
            <a:off x="4379976" y="4526280"/>
            <a:ext cx="3429000" cy="1261872"/>
          </a:xfrm>
          <a:prstGeom prst="roundRect">
            <a:avLst>
              <a:gd name="adj" fmla="val 3500"/>
            </a:avLst>
          </a:prstGeom>
          <a:solidFill>
            <a:srgbClr val="EDEAF9"/>
          </a:solidFill>
          <a:ln w="15240">
            <a:solidFill>
              <a:srgbClr val="5B4D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descr="05"/>
          <p:cNvSpPr txBox="1"/>
          <p:nvPr/>
        </p:nvSpPr>
        <p:spPr>
          <a:xfrm>
            <a:off x="4608576" y="4663440"/>
            <a:ext cx="457200" cy="210312"/>
          </a:xfrm>
          <a:prstGeom prst="rect">
            <a:avLst/>
          </a:prstGeom>
          <a:noFill/>
        </p:spPr>
        <p:txBody>
          <a:bodyPr wrap="square" lIns="0" rIns="0" tIns="0" bIns="0">
            <a:noAutofit/>
          </a:bodyPr>
          <a:lstStyle/>
          <a:p>
            <a:pPr algn="l">
              <a:lnSpc>
                <a:spcPct val="112000"/>
              </a:lnSpc>
              <a:spcBef>
                <a:spcPts val="0"/>
              </a:spcBef>
              <a:spcAft>
                <a:spcPts val="0"/>
              </a:spcAft>
            </a:pPr>
            <a:r>
              <a:rPr sz="1100" b="0">
                <a:solidFill>
                  <a:srgbClr val="5B4DB1"/>
                </a:solidFill>
                <a:latin typeface="Segoe UI Semibold"/>
              </a:rPr>
              <a:t>05</a:t>
            </a:r>
          </a:p>
        </p:txBody>
      </p:sp>
      <p:sp>
        <p:nvSpPr>
          <p:cNvPr id="29" name="text" descr="Human review"/>
          <p:cNvSpPr txBox="1"/>
          <p:nvPr/>
        </p:nvSpPr>
        <p:spPr>
          <a:xfrm>
            <a:off x="4608576" y="4974336"/>
            <a:ext cx="2971800" cy="301752"/>
          </a:xfrm>
          <a:prstGeom prst="rect">
            <a:avLst/>
          </a:prstGeom>
          <a:noFill/>
        </p:spPr>
        <p:txBody>
          <a:bodyPr wrap="square" lIns="0" rIns="0" tIns="0" bIns="0">
            <a:noAutofit/>
          </a:bodyPr>
          <a:lstStyle/>
          <a:p>
            <a:pPr algn="l">
              <a:lnSpc>
                <a:spcPct val="112000"/>
              </a:lnSpc>
              <a:spcBef>
                <a:spcPts val="0"/>
              </a:spcBef>
              <a:spcAft>
                <a:spcPts val="0"/>
              </a:spcAft>
            </a:pPr>
            <a:r>
              <a:rPr sz="1700" b="0">
                <a:solidFill>
                  <a:srgbClr val="0A1224"/>
                </a:solidFill>
                <a:latin typeface="Segoe UI Semibold"/>
              </a:rPr>
              <a:t>Verify Search readiness</a:t>
            </a:r>
          </a:p>
        </p:txBody>
      </p:sp>
      <p:sp>
        <p:nvSpPr>
          <p:cNvPr id="30" name="text" descr="A named reviewer approves, rewrites or rejects every candidate."/>
          <p:cNvSpPr txBox="1"/>
          <p:nvPr/>
        </p:nvSpPr>
        <p:spPr>
          <a:xfrm>
            <a:off x="4608576" y="5367528"/>
            <a:ext cx="2971800" cy="365760"/>
          </a:xfrm>
          <a:prstGeom prst="rect">
            <a:avLst/>
          </a:prstGeom>
          <a:noFill/>
        </p:spPr>
        <p:txBody>
          <a:bodyPr wrap="square" lIns="0" rIns="0" tIns="0" bIns="0">
            <a:noAutofit/>
          </a:bodyPr>
          <a:lstStyle/>
          <a:p>
            <a:pPr algn="l">
              <a:lnSpc>
                <a:spcPct val="112000"/>
              </a:lnSpc>
              <a:spcBef>
                <a:spcPts val="0"/>
              </a:spcBef>
              <a:spcAft>
                <a:spcPts val="0"/>
              </a:spcAft>
            </a:pPr>
            <a:r>
              <a:rPr sz="1200" b="0">
                <a:solidFill>
                  <a:srgbClr val="5C687C"/>
                </a:solidFill>
                <a:latin typeface="Segoe UI"/>
              </a:rPr>
              <a:t>Build the version-bound Search index</a:t>
            </a:r>
          </a:p>
          <a:p>
            <a:pPr algn="l">
              <a:lnSpc>
                <a:spcPct val="112000"/>
              </a:lnSpc>
              <a:spcBef>
                <a:spcPts val="0"/>
              </a:spcBef>
              <a:spcAft>
                <a:spcPts val="0"/>
              </a:spcAft>
            </a:pPr>
            <a:r>
              <a:rPr sz="1200" b="0">
                <a:solidFill>
                  <a:srgbClr val="5C687C"/>
                </a:solidFill>
                <a:latin typeface="Segoe UI"/>
              </a:rPr>
              <a:t>Bind the effective, authorized release</a:t>
            </a:r>
          </a:p>
        </p:txBody>
      </p:sp>
      <p:sp>
        <p:nvSpPr>
          <p:cNvPr id="31" name="text" descr="›"/>
          <p:cNvSpPr txBox="1"/>
          <p:nvPr/>
        </p:nvSpPr>
        <p:spPr>
          <a:xfrm>
            <a:off x="7808975" y="5056632"/>
            <a:ext cx="219456" cy="365760"/>
          </a:xfrm>
          <a:prstGeom prst="rect">
            <a:avLst/>
          </a:prstGeom>
          <a:noFill/>
        </p:spPr>
        <p:txBody>
          <a:bodyPr wrap="square" lIns="0" rIns="0" tIns="0" bIns="0">
            <a:noAutofit/>
          </a:bodyPr>
          <a:lstStyle/>
          <a:p>
            <a:pPr algn="ctr">
              <a:lnSpc>
                <a:spcPct val="112000"/>
              </a:lnSpc>
              <a:spcBef>
                <a:spcPts val="0"/>
              </a:spcBef>
              <a:spcAft>
                <a:spcPts val="0"/>
              </a:spcAft>
            </a:pPr>
            <a:r>
              <a:rPr sz="2500" b="0">
                <a:solidFill>
                  <a:srgbClr val="5B4DB1"/>
                </a:solidFill>
                <a:latin typeface="Segoe UI"/>
              </a:rPr>
              <a:t>›</a:t>
            </a:r>
          </a:p>
        </p:txBody>
      </p:sp>
      <p:sp>
        <p:nvSpPr>
          <p:cNvPr id="32" name="stage-card" descr="stage-card"/>
          <p:cNvSpPr/>
          <p:nvPr/>
        </p:nvSpPr>
        <p:spPr>
          <a:xfrm>
            <a:off x="8028431" y="4526280"/>
            <a:ext cx="3429000" cy="1261872"/>
          </a:xfrm>
          <a:prstGeom prst="roundRect">
            <a:avLst>
              <a:gd name="adj" fmla="val 3500"/>
            </a:avLst>
          </a:prstGeom>
          <a:solidFill>
            <a:srgbClr val="0A1224"/>
          </a:solidFill>
          <a:ln w="1524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descr="06"/>
          <p:cNvSpPr txBox="1"/>
          <p:nvPr/>
        </p:nvSpPr>
        <p:spPr>
          <a:xfrm>
            <a:off x="8257031" y="4663440"/>
            <a:ext cx="457200" cy="210312"/>
          </a:xfrm>
          <a:prstGeom prst="rect">
            <a:avLst/>
          </a:prstGeom>
          <a:noFill/>
        </p:spPr>
        <p:txBody>
          <a:bodyPr wrap="square" lIns="0" rIns="0" tIns="0" bIns="0">
            <a:noAutofit/>
          </a:bodyPr>
          <a:lstStyle/>
          <a:p>
            <a:pPr algn="l">
              <a:lnSpc>
                <a:spcPct val="112000"/>
              </a:lnSpc>
              <a:spcBef>
                <a:spcPts val="0"/>
              </a:spcBef>
              <a:spcAft>
                <a:spcPts val="0"/>
              </a:spcAft>
            </a:pPr>
            <a:r>
              <a:rPr sz="1100" b="0">
                <a:solidFill>
                  <a:srgbClr val="32D4F0"/>
                </a:solidFill>
                <a:latin typeface="Segoe UI Semibold"/>
              </a:rPr>
              <a:t>06</a:t>
            </a:r>
          </a:p>
        </p:txBody>
      </p:sp>
      <p:sp>
        <p:nvSpPr>
          <p:cNvPr id="34" name="text" descr="Immutable publish"/>
          <p:cNvSpPr txBox="1"/>
          <p:nvPr/>
        </p:nvSpPr>
        <p:spPr>
          <a:xfrm>
            <a:off x="8257031" y="4974336"/>
            <a:ext cx="2971800" cy="301752"/>
          </a:xfrm>
          <a:prstGeom prst="rect">
            <a:avLst/>
          </a:prstGeom>
          <a:noFill/>
        </p:spPr>
        <p:txBody>
          <a:bodyPr wrap="square" lIns="0" rIns="0" tIns="0" bIns="0">
            <a:noAutofit/>
          </a:bodyPr>
          <a:lstStyle/>
          <a:p>
            <a:pPr algn="l">
              <a:lnSpc>
                <a:spcPct val="112000"/>
              </a:lnSpc>
              <a:spcBef>
                <a:spcPts val="0"/>
              </a:spcBef>
              <a:spcAft>
                <a:spcPts val="0"/>
              </a:spcAft>
            </a:pPr>
            <a:r>
              <a:rPr sz="1700" b="0">
                <a:solidFill>
                  <a:srgbClr val="FFFFFF"/>
                </a:solidFill>
                <a:latin typeface="Segoe UI Semibold"/>
              </a:rPr>
              <a:t>Answer with evidence</a:t>
            </a:r>
          </a:p>
        </p:txBody>
      </p:sp>
      <p:sp>
        <p:nvSpPr>
          <p:cNvPr id="35" name="text" descr="Approved rules are frozen into a numbered version with an approver."/>
          <p:cNvSpPr txBox="1"/>
          <p:nvPr/>
        </p:nvSpPr>
        <p:spPr>
          <a:xfrm>
            <a:off x="8257031" y="5367528"/>
            <a:ext cx="2971800" cy="365760"/>
          </a:xfrm>
          <a:prstGeom prst="rect">
            <a:avLst/>
          </a:prstGeom>
          <a:noFill/>
        </p:spPr>
        <p:txBody>
          <a:bodyPr wrap="square" lIns="0" rIns="0" tIns="0" bIns="0">
            <a:noAutofit/>
          </a:bodyPr>
          <a:lstStyle/>
          <a:p>
            <a:pPr algn="l">
              <a:lnSpc>
                <a:spcPct val="112000"/>
              </a:lnSpc>
              <a:spcBef>
                <a:spcPts val="0"/>
              </a:spcBef>
              <a:spcAft>
                <a:spcPts val="0"/>
              </a:spcAft>
            </a:pPr>
            <a:r>
              <a:rPr sz="1200" b="0">
                <a:solidFill>
                  <a:srgbClr val="B9C7DD"/>
                </a:solidFill>
                <a:latin typeface="Segoe UI"/>
              </a:rPr>
              <a:t>Findings + gaps + source citations</a:t>
            </a:r>
          </a:p>
          <a:p>
            <a:pPr algn="l">
              <a:lnSpc>
                <a:spcPct val="112000"/>
              </a:lnSpc>
              <a:spcBef>
                <a:spcPts val="0"/>
              </a:spcBef>
              <a:spcAft>
                <a:spcPts val="0"/>
              </a:spcAft>
            </a:pPr>
            <a:r>
              <a:rPr sz="1200" b="0">
                <a:solidFill>
                  <a:srgbClr val="B9C7DD"/>
                </a:solidFill>
                <a:latin typeface="Segoe UI"/>
              </a:rPr>
              <a:t>Store the request and result receipt</a:t>
            </a:r>
          </a:p>
        </p:txBody>
      </p:sp>
      <p:sp>
        <p:nvSpPr>
          <p:cNvPr id="36" name="footer-bar" descr="footer-bar"/>
          <p:cNvSpPr/>
          <p:nvPr/>
        </p:nvSpPr>
        <p:spPr>
          <a:xfrm>
            <a:off x="731520" y="6099048"/>
            <a:ext cx="10725912" cy="429768"/>
          </a:xfrm>
          <a:prstGeom prst="rect">
            <a:avLst/>
          </a:prstGeom>
          <a:solidFill>
            <a:srgbClr val="EDE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ooter-text" descr="AI drafts. The system verifies. A person decides what goes live."/>
          <p:cNvSpPr txBox="1"/>
          <p:nvPr/>
        </p:nvSpPr>
        <p:spPr>
          <a:xfrm>
            <a:off x="969264" y="6208776"/>
            <a:ext cx="10241280" cy="228600"/>
          </a:xfrm>
          <a:prstGeom prst="rect">
            <a:avLst/>
          </a:prstGeom>
          <a:noFill/>
        </p:spPr>
        <p:txBody>
          <a:bodyPr wrap="square" lIns="0" rIns="0" tIns="0" bIns="0">
            <a:noAutofit/>
          </a:bodyPr>
          <a:lstStyle/>
          <a:p>
            <a:pPr algn="l">
              <a:lnSpc>
                <a:spcPct val="112000"/>
              </a:lnSpc>
              <a:spcBef>
                <a:spcPts val="0"/>
              </a:spcBef>
              <a:spcAft>
                <a:spcPts val="0"/>
              </a:spcAft>
            </a:pPr>
            <a:r>
              <a:rPr sz="1300" b="0">
                <a:solidFill>
                  <a:srgbClr val="5B4DB1"/>
                </a:solidFill>
                <a:latin typeface="Segoe UI Semibold"/>
              </a:rPr>
              <a:t>AI prepares. A person approves. The index is verified. The caller still owns the business action.</a:t>
            </a:r>
          </a:p>
        </p:txBody>
      </p:sp>
      <p:sp>
        <p:nvSpPr>
          <p:cNvPr id="38" name="TextBox 37"/>
          <p:cNvSpPr txBox="1"/>
          <p:nvPr/>
        </p:nvSpPr>
        <p:spPr>
          <a:xfrm>
            <a:off x="731520" y="2340864"/>
            <a:ext cx="10725912" cy="219456"/>
          </a:xfrm>
          <a:prstGeom prst="rect">
            <a:avLst/>
          </a:prstGeom>
          <a:noFill/>
        </p:spPr>
        <p:txBody>
          <a:bodyPr wrap="square" lIns="0" rIns="0" tIns="0" bIns="0">
            <a:noAutofit/>
          </a:bodyPr>
          <a:lstStyle/>
          <a:p>
            <a:pPr algn="l">
              <a:lnSpc>
                <a:spcPct val="112000"/>
              </a:lnSpc>
              <a:spcBef>
                <a:spcPts val="0"/>
              </a:spcBef>
              <a:spcAft>
                <a:spcPts val="0"/>
              </a:spcAft>
            </a:pPr>
            <a:r>
              <a:rPr sz="1050" b="0">
                <a:solidFill>
                  <a:srgbClr val="5B4DB1"/>
                </a:solidFill>
                <a:latin typeface="Segoe UI Semibold"/>
              </a:rPr>
              <a:t>PREPARE &amp; REVIEW  /  THE SOURCE BECOMES A REVIEWED CANDIDATE</a:t>
            </a:r>
          </a:p>
        </p:txBody>
      </p:sp>
      <p:sp>
        <p:nvSpPr>
          <p:cNvPr id="39" name="TextBox 38"/>
          <p:cNvSpPr txBox="1"/>
          <p:nvPr/>
        </p:nvSpPr>
        <p:spPr>
          <a:xfrm>
            <a:off x="731520" y="4169663"/>
            <a:ext cx="10725912" cy="219456"/>
          </a:xfrm>
          <a:prstGeom prst="rect">
            <a:avLst/>
          </a:prstGeom>
          <a:noFill/>
        </p:spPr>
        <p:txBody>
          <a:bodyPr wrap="square" lIns="0" rIns="0" tIns="0" bIns="0">
            <a:noAutofit/>
          </a:bodyPr>
          <a:lstStyle/>
          <a:p>
            <a:pPr algn="l">
              <a:lnSpc>
                <a:spcPct val="112000"/>
              </a:lnSpc>
              <a:spcBef>
                <a:spcPts val="0"/>
              </a:spcBef>
              <a:spcAft>
                <a:spcPts val="0"/>
              </a:spcAft>
            </a:pPr>
            <a:r>
              <a:rPr sz="1050" b="0">
                <a:solidFill>
                  <a:srgbClr val="5B4DB1"/>
                </a:solidFill>
                <a:latin typeface="Segoe UI Semibold"/>
              </a:rPr>
              <a:t>PUBLISH &amp; SERVE  /  THE REVIEWED RELEASE BECOMES CONSUMABLE</a:t>
            </a:r>
          </a:p>
        </p:txBody>
      </p:sp>
      <p:sp>
        <p:nvSpPr>
          <p:cNvPr id="40" name="TextBox 39"/>
          <p:cNvSpPr txBox="1"/>
          <p:nvPr/>
        </p:nvSpPr>
        <p:spPr>
          <a:xfrm>
            <a:off x="9774936" y="2843784"/>
            <a:ext cx="1426464" cy="210312"/>
          </a:xfrm>
          <a:prstGeom prst="rect">
            <a:avLst/>
          </a:prstGeom>
          <a:noFill/>
        </p:spPr>
        <p:txBody>
          <a:bodyPr wrap="square" lIns="0" rIns="0" tIns="0" bIns="0">
            <a:noAutofit/>
          </a:bodyPr>
          <a:lstStyle/>
          <a:p>
            <a:pPr algn="l">
              <a:lnSpc>
                <a:spcPct val="112000"/>
              </a:lnSpc>
              <a:spcBef>
                <a:spcPts val="0"/>
              </a:spcBef>
              <a:spcAft>
                <a:spcPts val="0"/>
              </a:spcAft>
            </a:pPr>
            <a:r>
              <a:rPr sz="1050" b="0">
                <a:solidFill>
                  <a:srgbClr val="FFFFFF"/>
                </a:solidFill>
                <a:latin typeface="Segoe UI Semibold"/>
              </a:rPr>
              <a:t>HUMAN GATE</a:t>
            </a:r>
          </a:p>
        </p:txBody>
      </p:sp>
      <p:sp>
        <p:nvSpPr>
          <p:cNvPr id="41" name="TextBox 40"/>
          <p:cNvSpPr txBox="1"/>
          <p:nvPr/>
        </p:nvSpPr>
        <p:spPr>
          <a:xfrm>
            <a:off x="6163056" y="4672584"/>
            <a:ext cx="1408176" cy="210312"/>
          </a:xfrm>
          <a:prstGeom prst="rect">
            <a:avLst/>
          </a:prstGeom>
          <a:noFill/>
        </p:spPr>
        <p:txBody>
          <a:bodyPr wrap="square" lIns="0" rIns="0" tIns="0" bIns="0">
            <a:noAutofit/>
          </a:bodyPr>
          <a:lstStyle/>
          <a:p>
            <a:pPr algn="l">
              <a:lnSpc>
                <a:spcPct val="112000"/>
              </a:lnSpc>
              <a:spcBef>
                <a:spcPts val="0"/>
              </a:spcBef>
              <a:spcAft>
                <a:spcPts val="0"/>
              </a:spcAft>
            </a:pPr>
            <a:r>
              <a:rPr sz="1000" b="0">
                <a:solidFill>
                  <a:srgbClr val="5B4DB1"/>
                </a:solidFill>
                <a:latin typeface="Segoe UI Semibold"/>
              </a:rPr>
              <a:t>READINESS GATE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descr="background"/>
          <p:cNvSpPr/>
          <p:nvPr/>
        </p:nvSpPr>
        <p:spPr>
          <a:xfrm>
            <a:off x="0" y="0"/>
            <a:ext cx="12191695" cy="6858000"/>
          </a:xfrm>
          <a:prstGeom prst="rect">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descr="HOW IT IS BUILT"/>
          <p:cNvSpPr txBox="1"/>
          <p:nvPr/>
        </p:nvSpPr>
        <p:spPr>
          <a:xfrm>
            <a:off x="731520" y="457200"/>
            <a:ext cx="8229600" cy="256032"/>
          </a:xfrm>
          <a:prstGeom prst="rect">
            <a:avLst/>
          </a:prstGeom>
          <a:noFill/>
        </p:spPr>
        <p:txBody>
          <a:bodyPr wrap="square" lIns="0" rIns="0" tIns="0" bIns="0">
            <a:spAutoFit/>
          </a:bodyPr>
          <a:lstStyle/>
          <a:p>
            <a:pPr algn="l">
              <a:spcAft>
                <a:spcPts val="0"/>
              </a:spcAft>
            </a:pPr>
            <a:r>
              <a:rPr sz="1100">
                <a:solidFill>
                  <a:srgbClr val="9B8EE8"/>
                </a:solidFill>
                <a:latin typeface="Segoe UI Semibold"/>
              </a:rPr>
              <a:t>HOW IT IS BUILT</a:t>
            </a:r>
          </a:p>
        </p:txBody>
      </p:sp>
      <p:sp>
        <p:nvSpPr>
          <p:cNvPr id="4" name="act-label" descr="CAPABILITY · 31"/>
          <p:cNvSpPr txBox="1"/>
          <p:nvPr/>
        </p:nvSpPr>
        <p:spPr>
          <a:xfrm>
            <a:off x="8869680" y="457200"/>
            <a:ext cx="2587752" cy="256032"/>
          </a:xfrm>
          <a:prstGeom prst="rect">
            <a:avLst/>
          </a:prstGeom>
          <a:noFill/>
        </p:spPr>
        <p:txBody>
          <a:bodyPr wrap="square" lIns="0" rIns="0" tIns="0" bIns="0">
            <a:spAutoFit/>
          </a:bodyPr>
          <a:lstStyle/>
          <a:p>
            <a:pPr algn="r">
              <a:spcAft>
                <a:spcPts val="0"/>
              </a:spcAft>
            </a:pPr>
            <a:r>
              <a:rPr sz="1000">
                <a:solidFill>
                  <a:srgbClr val="8B9CB8"/>
                </a:solidFill>
                <a:latin typeface="Segoe UI Semibold"/>
              </a:rPr>
              <a:t>ARCHITECTURE · 06</a:t>
            </a:r>
          </a:p>
        </p:txBody>
      </p:sp>
      <p:sp>
        <p:nvSpPr>
          <p:cNvPr id="5" name="title" descr="Architecture and standards"/>
          <p:cNvSpPr txBox="1"/>
          <p:nvPr/>
        </p:nvSpPr>
        <p:spPr>
          <a:xfrm>
            <a:off x="731520" y="777240"/>
            <a:ext cx="10725912" cy="731520"/>
          </a:xfrm>
          <a:prstGeom prst="rect">
            <a:avLst/>
          </a:prstGeom>
          <a:noFill/>
        </p:spPr>
        <p:txBody>
          <a:bodyPr wrap="square" lIns="0" rIns="0" tIns="0" bIns="0">
            <a:noAutofit/>
          </a:bodyPr>
          <a:lstStyle/>
          <a:p>
            <a:pPr algn="l">
              <a:lnSpc>
                <a:spcPct val="112000"/>
              </a:lnSpc>
              <a:spcBef>
                <a:spcPts val="0"/>
              </a:spcBef>
              <a:spcAft>
                <a:spcPts val="0"/>
              </a:spcAft>
            </a:pPr>
            <a:r>
              <a:rPr sz="3000">
                <a:solidFill>
                  <a:srgbClr val="FFFFFF"/>
                </a:solidFill>
                <a:latin typeface="Segoe UI Light"/>
              </a:rPr>
              <a:t>Two entrances. One governed API.</a:t>
            </a:r>
          </a:p>
        </p:txBody>
      </p:sp>
      <p:sp>
        <p:nvSpPr>
          <p:cNvPr id="6" name="accent-bar" descr="accent-bar"/>
          <p:cNvSpPr/>
          <p:nvPr/>
        </p:nvSpPr>
        <p:spPr>
          <a:xfrm>
            <a:off x="731520" y="1453896"/>
            <a:ext cx="960120" cy="57150"/>
          </a:xfrm>
          <a:prstGeom prst="rect">
            <a:avLst/>
          </a:prstGeom>
          <a:solidFill>
            <a:srgbClr val="32D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title" descr="Layered, with the policy record as the contract between layers and adopted standards rather than invented voca"/>
          <p:cNvSpPr txBox="1"/>
          <p:nvPr/>
        </p:nvSpPr>
        <p:spPr>
          <a:xfrm>
            <a:off x="731520" y="1746504"/>
            <a:ext cx="10725912" cy="548640"/>
          </a:xfrm>
          <a:prstGeom prst="rect">
            <a:avLst/>
          </a:prstGeom>
          <a:noFill/>
        </p:spPr>
        <p:txBody>
          <a:bodyPr wrap="square" lIns="0" rIns="0" tIns="0" bIns="0">
            <a:noAutofit/>
          </a:bodyPr>
          <a:lstStyle/>
          <a:p>
            <a:pPr algn="l">
              <a:lnSpc>
                <a:spcPct val="112000"/>
              </a:lnSpc>
              <a:spcBef>
                <a:spcPts val="0"/>
              </a:spcBef>
              <a:spcAft>
                <a:spcPts val="0"/>
              </a:spcAft>
            </a:pPr>
            <a:r>
              <a:rPr sz="1450">
                <a:solidFill>
                  <a:srgbClr val="B9C7DD"/>
                </a:solidFill>
                <a:latin typeface="Segoe UI"/>
              </a:rPr>
              <a:t>Product authoring enters directly. External REST and MCP traffic passes through APIM before reaching the same API.</a:t>
            </a:r>
          </a:p>
        </p:txBody>
      </p:sp>
      <p:sp>
        <p:nvSpPr>
          <p:cNvPr id="8" name="TextBox 7"/>
          <p:cNvSpPr txBox="1"/>
          <p:nvPr/>
        </p:nvSpPr>
        <p:spPr>
          <a:xfrm>
            <a:off x="731520" y="2414016"/>
            <a:ext cx="2240280" cy="201168"/>
          </a:xfrm>
          <a:prstGeom prst="rect">
            <a:avLst/>
          </a:prstGeom>
          <a:noFill/>
        </p:spPr>
        <p:txBody>
          <a:bodyPr wrap="square" lIns="0" rIns="0" tIns="0" bIns="0">
            <a:noAutofit/>
          </a:bodyPr>
          <a:lstStyle/>
          <a:p>
            <a:pPr>
              <a:lnSpc>
                <a:spcPct val="112000"/>
              </a:lnSpc>
              <a:spcBef>
                <a:spcPts val="0"/>
              </a:spcBef>
              <a:spcAft>
                <a:spcPts val="0"/>
              </a:spcAft>
            </a:pPr>
            <a:r>
              <a:rPr sz="1050">
                <a:solidFill>
                  <a:srgbClr val="9B8EE8"/>
                </a:solidFill>
                <a:latin typeface="Segoe UI Semibold"/>
              </a:rPr>
              <a:t>CLIENTS</a:t>
            </a:r>
          </a:p>
        </p:txBody>
      </p:sp>
      <p:sp>
        <p:nvSpPr>
          <p:cNvPr id="9" name="TextBox 8"/>
          <p:cNvSpPr txBox="1"/>
          <p:nvPr/>
        </p:nvSpPr>
        <p:spPr>
          <a:xfrm>
            <a:off x="8869680" y="2414016"/>
            <a:ext cx="2587752" cy="201168"/>
          </a:xfrm>
          <a:prstGeom prst="rect">
            <a:avLst/>
          </a:prstGeom>
          <a:noFill/>
        </p:spPr>
        <p:txBody>
          <a:bodyPr wrap="square" lIns="0" rIns="0" tIns="0" bIns="0">
            <a:noAutofit/>
          </a:bodyPr>
          <a:lstStyle/>
          <a:p>
            <a:pPr>
              <a:lnSpc>
                <a:spcPct val="112000"/>
              </a:lnSpc>
              <a:spcBef>
                <a:spcPts val="0"/>
              </a:spcBef>
              <a:spcAft>
                <a:spcPts val="0"/>
              </a:spcAft>
            </a:pPr>
            <a:r>
              <a:rPr sz="1050">
                <a:solidFill>
                  <a:srgbClr val="32D4F0"/>
                </a:solidFill>
                <a:latin typeface="Segoe UI Semibold"/>
              </a:rPr>
              <a:t>PRIVATE DEPENDENCIES</a:t>
            </a:r>
          </a:p>
        </p:txBody>
      </p:sp>
      <p:sp>
        <p:nvSpPr>
          <p:cNvPr id="10" name="Rounded Rectangle 9"/>
          <p:cNvSpPr/>
          <p:nvPr/>
        </p:nvSpPr>
        <p:spPr>
          <a:xfrm>
            <a:off x="5705856" y="2459736"/>
            <a:ext cx="2770632" cy="2898648"/>
          </a:xfrm>
          <a:prstGeom prst="roundRect">
            <a:avLst>
              <a:gd name="adj" fmla="val 7000"/>
            </a:avLst>
          </a:prstGeom>
          <a:solidFill>
            <a:srgbClr val="17233D"/>
          </a:solidFill>
          <a:ln w="15240">
            <a:solidFill>
              <a:srgbClr val="32D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5907024" y="2596896"/>
            <a:ext cx="228600" cy="228600"/>
          </a:xfrm>
          <a:prstGeom prst="rect">
            <a:avLst/>
          </a:prstGeom>
        </p:spPr>
      </p:pic>
      <p:sp>
        <p:nvSpPr>
          <p:cNvPr id="12" name="TextBox 11"/>
          <p:cNvSpPr txBox="1"/>
          <p:nvPr/>
        </p:nvSpPr>
        <p:spPr>
          <a:xfrm>
            <a:off x="6254496" y="2628900"/>
            <a:ext cx="2011680" cy="182880"/>
          </a:xfrm>
          <a:prstGeom prst="rect">
            <a:avLst/>
          </a:prstGeom>
          <a:noFill/>
        </p:spPr>
        <p:txBody>
          <a:bodyPr wrap="square" lIns="0" rIns="0" tIns="0" bIns="0">
            <a:noAutofit/>
          </a:bodyPr>
          <a:lstStyle/>
          <a:p>
            <a:pPr>
              <a:lnSpc>
                <a:spcPct val="112000"/>
              </a:lnSpc>
              <a:spcBef>
                <a:spcPts val="0"/>
              </a:spcBef>
              <a:spcAft>
                <a:spcPts val="0"/>
              </a:spcAft>
            </a:pPr>
            <a:r>
              <a:rPr sz="1050">
                <a:solidFill>
                  <a:srgbClr val="32D4F0"/>
                </a:solidFill>
                <a:latin typeface="Segoe UI Semibold"/>
              </a:rPr>
              <a:t>AZURE CONTAINER APPS</a:t>
            </a:r>
          </a:p>
        </p:txBody>
      </p:sp>
      <p:sp>
        <p:nvSpPr>
          <p:cNvPr id="13" name="Rounded Rectangle 12"/>
          <p:cNvSpPr/>
          <p:nvPr/>
        </p:nvSpPr>
        <p:spPr>
          <a:xfrm>
            <a:off x="731520" y="2871216"/>
            <a:ext cx="2240280" cy="1024128"/>
          </a:xfrm>
          <a:prstGeom prst="roundRect">
            <a:avLst>
              <a:gd name="adj" fmla="val 7000"/>
            </a:avLst>
          </a:prstGeom>
          <a:solidFill>
            <a:srgbClr val="17233D"/>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081528"/>
            <a:ext cx="1856231" cy="274320"/>
          </a:xfrm>
          <a:prstGeom prst="rect">
            <a:avLst/>
          </a:prstGeom>
          <a:noFill/>
        </p:spPr>
        <p:txBody>
          <a:bodyPr wrap="square" lIns="0" rIns="0" tIns="0" bIns="0">
            <a:noAutofit/>
          </a:bodyPr>
          <a:lstStyle/>
          <a:p>
            <a:pPr>
              <a:lnSpc>
                <a:spcPct val="112000"/>
              </a:lnSpc>
              <a:spcBef>
                <a:spcPts val="0"/>
              </a:spcBef>
              <a:spcAft>
                <a:spcPts val="0"/>
              </a:spcAft>
            </a:pPr>
            <a:r>
              <a:rPr sz="1650">
                <a:solidFill>
                  <a:srgbClr val="FFFFFF"/>
                </a:solidFill>
                <a:latin typeface="Segoe UI Semibold"/>
              </a:rPr>
              <a:t>Product browser</a:t>
            </a:r>
          </a:p>
        </p:txBody>
      </p:sp>
      <p:sp>
        <p:nvSpPr>
          <p:cNvPr id="15" name="TextBox 14"/>
          <p:cNvSpPr txBox="1"/>
          <p:nvPr/>
        </p:nvSpPr>
        <p:spPr>
          <a:xfrm>
            <a:off x="932688" y="3529584"/>
            <a:ext cx="1856231" cy="210312"/>
          </a:xfrm>
          <a:prstGeom prst="rect">
            <a:avLst/>
          </a:prstGeom>
          <a:noFill/>
        </p:spPr>
        <p:txBody>
          <a:bodyPr wrap="square" lIns="0" rIns="0" tIns="0" bIns="0">
            <a:noAutofit/>
          </a:bodyPr>
          <a:lstStyle/>
          <a:p>
            <a:pPr>
              <a:lnSpc>
                <a:spcPct val="112000"/>
              </a:lnSpc>
              <a:spcBef>
                <a:spcPts val="0"/>
              </a:spcBef>
              <a:spcAft>
                <a:spcPts val="0"/>
              </a:spcAft>
            </a:pPr>
            <a:r>
              <a:rPr sz="1050">
                <a:solidFill>
                  <a:srgbClr val="B9C7DD"/>
                </a:solidFill>
                <a:latin typeface="Segoe UI"/>
              </a:rPr>
              <a:t>Authoring + human review</a:t>
            </a:r>
          </a:p>
        </p:txBody>
      </p:sp>
      <p:sp>
        <p:nvSpPr>
          <p:cNvPr id="16" name="Rounded Rectangle 15"/>
          <p:cNvSpPr/>
          <p:nvPr/>
        </p:nvSpPr>
        <p:spPr>
          <a:xfrm>
            <a:off x="731520" y="3977639"/>
            <a:ext cx="2240280" cy="1024128"/>
          </a:xfrm>
          <a:prstGeom prst="roundRect">
            <a:avLst>
              <a:gd name="adj" fmla="val 7000"/>
            </a:avLst>
          </a:prstGeom>
          <a:solidFill>
            <a:srgbClr val="17233D"/>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187952"/>
            <a:ext cx="1856231" cy="274320"/>
          </a:xfrm>
          <a:prstGeom prst="rect">
            <a:avLst/>
          </a:prstGeom>
          <a:noFill/>
        </p:spPr>
        <p:txBody>
          <a:bodyPr wrap="square" lIns="0" rIns="0" tIns="0" bIns="0">
            <a:noAutofit/>
          </a:bodyPr>
          <a:lstStyle/>
          <a:p>
            <a:pPr>
              <a:lnSpc>
                <a:spcPct val="112000"/>
              </a:lnSpc>
              <a:spcBef>
                <a:spcPts val="0"/>
              </a:spcBef>
              <a:spcAft>
                <a:spcPts val="0"/>
              </a:spcAft>
            </a:pPr>
            <a:r>
              <a:rPr sz="1650">
                <a:solidFill>
                  <a:srgbClr val="FFFFFF"/>
                </a:solidFill>
                <a:latin typeface="Segoe UI Semibold"/>
              </a:rPr>
              <a:t>REST / MCP clients</a:t>
            </a:r>
          </a:p>
        </p:txBody>
      </p:sp>
      <p:sp>
        <p:nvSpPr>
          <p:cNvPr id="18" name="TextBox 17"/>
          <p:cNvSpPr txBox="1"/>
          <p:nvPr/>
        </p:nvSpPr>
        <p:spPr>
          <a:xfrm>
            <a:off x="932688" y="4636007"/>
            <a:ext cx="1856231" cy="210312"/>
          </a:xfrm>
          <a:prstGeom prst="rect">
            <a:avLst/>
          </a:prstGeom>
          <a:noFill/>
        </p:spPr>
        <p:txBody>
          <a:bodyPr wrap="square" lIns="0" rIns="0" tIns="0" bIns="0">
            <a:noAutofit/>
          </a:bodyPr>
          <a:lstStyle/>
          <a:p>
            <a:pPr>
              <a:lnSpc>
                <a:spcPct val="112000"/>
              </a:lnSpc>
              <a:spcBef>
                <a:spcPts val="0"/>
              </a:spcBef>
              <a:spcAft>
                <a:spcPts val="0"/>
              </a:spcAft>
            </a:pPr>
            <a:r>
              <a:rPr sz="1050">
                <a:solidFill>
                  <a:srgbClr val="B9C7DD"/>
                </a:solidFill>
                <a:latin typeface="Segoe UI"/>
              </a:rPr>
              <a:t>Apps, agents and workflows</a:t>
            </a:r>
          </a:p>
        </p:txBody>
      </p:sp>
      <p:sp>
        <p:nvSpPr>
          <p:cNvPr id="19" name="Rounded Rectangle 18"/>
          <p:cNvSpPr/>
          <p:nvPr/>
        </p:nvSpPr>
        <p:spPr>
          <a:xfrm>
            <a:off x="3538728" y="3977639"/>
            <a:ext cx="1810512" cy="1024128"/>
          </a:xfrm>
          <a:prstGeom prst="roundRect">
            <a:avLst>
              <a:gd name="adj" fmla="val 7000"/>
            </a:avLst>
          </a:prstGeom>
          <a:solidFill>
            <a:srgbClr val="17233D"/>
          </a:solidFill>
          <a:ln w="15240">
            <a:solidFill>
              <a:srgbClr val="32D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4"/>
          <a:stretch>
            <a:fillRect/>
          </a:stretch>
        </p:blipFill>
        <p:spPr>
          <a:xfrm>
            <a:off x="3703320" y="4261104"/>
            <a:ext cx="292608" cy="292608"/>
          </a:xfrm>
          <a:prstGeom prst="rect">
            <a:avLst/>
          </a:prstGeom>
        </p:spPr>
      </p:pic>
      <p:sp>
        <p:nvSpPr>
          <p:cNvPr id="21" name="TextBox 20"/>
          <p:cNvSpPr txBox="1"/>
          <p:nvPr/>
        </p:nvSpPr>
        <p:spPr>
          <a:xfrm>
            <a:off x="4096512" y="4187952"/>
            <a:ext cx="1060704" cy="256032"/>
          </a:xfrm>
          <a:prstGeom prst="rect">
            <a:avLst/>
          </a:prstGeom>
          <a:noFill/>
        </p:spPr>
        <p:txBody>
          <a:bodyPr wrap="square" lIns="0" rIns="0" tIns="0" bIns="0">
            <a:noAutofit/>
          </a:bodyPr>
          <a:lstStyle/>
          <a:p>
            <a:pPr>
              <a:lnSpc>
                <a:spcPct val="112000"/>
              </a:lnSpc>
              <a:spcBef>
                <a:spcPts val="0"/>
              </a:spcBef>
              <a:spcAft>
                <a:spcPts val="0"/>
              </a:spcAft>
            </a:pPr>
            <a:r>
              <a:rPr sz="1650">
                <a:solidFill>
                  <a:srgbClr val="FFFFFF"/>
                </a:solidFill>
                <a:latin typeface="Segoe UI Semibold"/>
              </a:rPr>
              <a:t>APIM</a:t>
            </a:r>
          </a:p>
        </p:txBody>
      </p:sp>
      <p:sp>
        <p:nvSpPr>
          <p:cNvPr id="22" name="TextBox 21"/>
          <p:cNvSpPr txBox="1"/>
          <p:nvPr/>
        </p:nvSpPr>
        <p:spPr>
          <a:xfrm>
            <a:off x="3712463" y="4681728"/>
            <a:ext cx="1453896" cy="182880"/>
          </a:xfrm>
          <a:prstGeom prst="rect">
            <a:avLst/>
          </a:prstGeom>
          <a:noFill/>
        </p:spPr>
        <p:txBody>
          <a:bodyPr wrap="square" lIns="0" rIns="0" tIns="0" bIns="0">
            <a:noAutofit/>
          </a:bodyPr>
          <a:lstStyle/>
          <a:p>
            <a:pPr>
              <a:lnSpc>
                <a:spcPct val="112000"/>
              </a:lnSpc>
              <a:spcBef>
                <a:spcPts val="0"/>
              </a:spcBef>
              <a:spcAft>
                <a:spcPts val="0"/>
              </a:spcAft>
            </a:pPr>
            <a:r>
              <a:rPr sz="1050">
                <a:solidFill>
                  <a:srgbClr val="32D4F0"/>
                </a:solidFill>
                <a:latin typeface="Segoe UI"/>
              </a:rPr>
              <a:t>Consume only</a:t>
            </a:r>
          </a:p>
        </p:txBody>
      </p:sp>
      <p:sp>
        <p:nvSpPr>
          <p:cNvPr id="23" name="Rounded Rectangle 22"/>
          <p:cNvSpPr/>
          <p:nvPr/>
        </p:nvSpPr>
        <p:spPr>
          <a:xfrm>
            <a:off x="5980176" y="2926080"/>
            <a:ext cx="2203704" cy="914400"/>
          </a:xfrm>
          <a:prstGeom prst="roundRect">
            <a:avLst>
              <a:gd name="adj" fmla="val 7000"/>
            </a:avLst>
          </a:prstGeom>
          <a:solidFill>
            <a:srgbClr val="0A1224"/>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81344" y="3090672"/>
            <a:ext cx="1801368" cy="274320"/>
          </a:xfrm>
          <a:prstGeom prst="rect">
            <a:avLst/>
          </a:prstGeom>
          <a:noFill/>
        </p:spPr>
        <p:txBody>
          <a:bodyPr wrap="square" lIns="0" rIns="0" tIns="0" bIns="0">
            <a:noAutofit/>
          </a:bodyPr>
          <a:lstStyle/>
          <a:p>
            <a:pPr>
              <a:lnSpc>
                <a:spcPct val="112000"/>
              </a:lnSpc>
              <a:spcBef>
                <a:spcPts val="0"/>
              </a:spcBef>
              <a:spcAft>
                <a:spcPts val="0"/>
              </a:spcAft>
            </a:pPr>
            <a:r>
              <a:rPr sz="1600">
                <a:solidFill>
                  <a:srgbClr val="FFFFFF"/>
                </a:solidFill>
                <a:latin typeface="Segoe UI Semibold"/>
              </a:rPr>
              <a:t>Web / Nginx</a:t>
            </a:r>
          </a:p>
        </p:txBody>
      </p:sp>
      <p:sp>
        <p:nvSpPr>
          <p:cNvPr id="25" name="TextBox 24"/>
          <p:cNvSpPr txBox="1"/>
          <p:nvPr/>
        </p:nvSpPr>
        <p:spPr>
          <a:xfrm>
            <a:off x="6181344" y="3493008"/>
            <a:ext cx="1801368" cy="201168"/>
          </a:xfrm>
          <a:prstGeom prst="rect">
            <a:avLst/>
          </a:prstGeom>
          <a:noFill/>
        </p:spPr>
        <p:txBody>
          <a:bodyPr wrap="square" lIns="0" rIns="0" tIns="0" bIns="0">
            <a:noAutofit/>
          </a:bodyPr>
          <a:lstStyle/>
          <a:p>
            <a:pPr>
              <a:lnSpc>
                <a:spcPct val="112000"/>
              </a:lnSpc>
              <a:spcBef>
                <a:spcPts val="0"/>
              </a:spcBef>
              <a:spcAft>
                <a:spcPts val="0"/>
              </a:spcAft>
            </a:pPr>
            <a:r>
              <a:rPr sz="1050">
                <a:solidFill>
                  <a:srgbClr val="B9C7DD"/>
                </a:solidFill>
                <a:latin typeface="Segoe UI"/>
              </a:rPr>
              <a:t>Public ingress</a:t>
            </a:r>
          </a:p>
        </p:txBody>
      </p:sp>
      <p:sp>
        <p:nvSpPr>
          <p:cNvPr id="26" name="Rounded Rectangle 25"/>
          <p:cNvSpPr/>
          <p:nvPr/>
        </p:nvSpPr>
        <p:spPr>
          <a:xfrm>
            <a:off x="5980176" y="4398264"/>
            <a:ext cx="2203704" cy="822960"/>
          </a:xfrm>
          <a:prstGeom prst="roundRect">
            <a:avLst>
              <a:gd name="adj" fmla="val 7000"/>
            </a:avLst>
          </a:prstGeom>
          <a:solidFill>
            <a:srgbClr val="0A1224"/>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1344" y="4562855"/>
            <a:ext cx="1801368" cy="274320"/>
          </a:xfrm>
          <a:prstGeom prst="rect">
            <a:avLst/>
          </a:prstGeom>
          <a:noFill/>
        </p:spPr>
        <p:txBody>
          <a:bodyPr wrap="square" lIns="0" rIns="0" tIns="0" bIns="0">
            <a:noAutofit/>
          </a:bodyPr>
          <a:lstStyle/>
          <a:p>
            <a:pPr>
              <a:lnSpc>
                <a:spcPct val="112000"/>
              </a:lnSpc>
              <a:spcBef>
                <a:spcPts val="0"/>
              </a:spcBef>
              <a:spcAft>
                <a:spcPts val="0"/>
              </a:spcAft>
            </a:pPr>
            <a:r>
              <a:rPr sz="1600">
                <a:solidFill>
                  <a:srgbClr val="FFFFFF"/>
                </a:solidFill>
                <a:latin typeface="Segoe UI Semibold"/>
              </a:rPr>
              <a:t>Internal FastAPI</a:t>
            </a:r>
          </a:p>
        </p:txBody>
      </p:sp>
      <p:sp>
        <p:nvSpPr>
          <p:cNvPr id="28" name="TextBox 27"/>
          <p:cNvSpPr txBox="1"/>
          <p:nvPr/>
        </p:nvSpPr>
        <p:spPr>
          <a:xfrm>
            <a:off x="6181344" y="4965192"/>
            <a:ext cx="1801368" cy="201168"/>
          </a:xfrm>
          <a:prstGeom prst="rect">
            <a:avLst/>
          </a:prstGeom>
          <a:noFill/>
        </p:spPr>
        <p:txBody>
          <a:bodyPr wrap="square" lIns="0" rIns="0" tIns="0" bIns="0">
            <a:noAutofit/>
          </a:bodyPr>
          <a:lstStyle/>
          <a:p>
            <a:pPr>
              <a:lnSpc>
                <a:spcPct val="112000"/>
              </a:lnSpc>
              <a:spcBef>
                <a:spcPts val="0"/>
              </a:spcBef>
              <a:spcAft>
                <a:spcPts val="0"/>
              </a:spcAft>
            </a:pPr>
            <a:r>
              <a:rPr sz="1050">
                <a:solidFill>
                  <a:srgbClr val="B9C7DD"/>
                </a:solidFill>
                <a:latin typeface="Segoe UI"/>
              </a:rPr>
              <a:t>Access, bindings, receipts</a:t>
            </a:r>
          </a:p>
        </p:txBody>
      </p:sp>
      <p:sp>
        <p:nvSpPr>
          <p:cNvPr id="29" name="Rectangle 28"/>
          <p:cNvSpPr/>
          <p:nvPr/>
        </p:nvSpPr>
        <p:spPr>
          <a:xfrm>
            <a:off x="2971800" y="3383280"/>
            <a:ext cx="3008376" cy="21590"/>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5824728" y="3328416"/>
            <a:ext cx="155448" cy="109728"/>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6120" y="3035808"/>
            <a:ext cx="2194560" cy="192024"/>
          </a:xfrm>
          <a:prstGeom prst="rect">
            <a:avLst/>
          </a:prstGeom>
          <a:noFill/>
        </p:spPr>
        <p:txBody>
          <a:bodyPr wrap="square" lIns="0" rIns="0" tIns="0" bIns="0">
            <a:noAutofit/>
          </a:bodyPr>
          <a:lstStyle/>
          <a:p>
            <a:pPr>
              <a:lnSpc>
                <a:spcPct val="112000"/>
              </a:lnSpc>
              <a:spcBef>
                <a:spcPts val="0"/>
              </a:spcBef>
              <a:spcAft>
                <a:spcPts val="0"/>
              </a:spcAft>
            </a:pPr>
            <a:r>
              <a:rPr sz="1050">
                <a:solidFill>
                  <a:srgbClr val="B9C7DD"/>
                </a:solidFill>
                <a:latin typeface="Segoe UI"/>
              </a:rPr>
              <a:t>Direct authoring route</a:t>
            </a:r>
          </a:p>
        </p:txBody>
      </p:sp>
      <p:sp>
        <p:nvSpPr>
          <p:cNvPr id="32" name="Rectangle 31"/>
          <p:cNvSpPr/>
          <p:nvPr/>
        </p:nvSpPr>
        <p:spPr>
          <a:xfrm>
            <a:off x="2971800" y="4489704"/>
            <a:ext cx="566928" cy="21590"/>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3383280" y="4434840"/>
            <a:ext cx="155448" cy="109728"/>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349240" y="4489704"/>
            <a:ext cx="201168" cy="21590"/>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50408" y="3383280"/>
            <a:ext cx="21590" cy="1106424"/>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550408" y="3383280"/>
            <a:ext cx="429767" cy="21590"/>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ight Arrow 36"/>
          <p:cNvSpPr/>
          <p:nvPr/>
        </p:nvSpPr>
        <p:spPr>
          <a:xfrm>
            <a:off x="5824728" y="3328416"/>
            <a:ext cx="155448" cy="109728"/>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82028" y="3840480"/>
            <a:ext cx="21590" cy="557783"/>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own Arrow 38"/>
          <p:cNvSpPr/>
          <p:nvPr/>
        </p:nvSpPr>
        <p:spPr>
          <a:xfrm>
            <a:off x="7027164" y="4242816"/>
            <a:ext cx="109728" cy="155448"/>
          </a:xfrm>
          <a:prstGeom prst="down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052560" y="2779776"/>
            <a:ext cx="2404872" cy="795528"/>
          </a:xfrm>
          <a:prstGeom prst="roundRect">
            <a:avLst>
              <a:gd name="adj" fmla="val 7000"/>
            </a:avLst>
          </a:prstGeom>
          <a:solidFill>
            <a:srgbClr val="17233D"/>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17152" y="2898648"/>
            <a:ext cx="2057400" cy="237744"/>
          </a:xfrm>
          <a:prstGeom prst="rect">
            <a:avLst/>
          </a:prstGeom>
          <a:noFill/>
        </p:spPr>
        <p:txBody>
          <a:bodyPr wrap="square" lIns="0" rIns="0" tIns="0" bIns="0">
            <a:noAutofit/>
          </a:bodyPr>
          <a:lstStyle/>
          <a:p>
            <a:pPr>
              <a:lnSpc>
                <a:spcPct val="112000"/>
              </a:lnSpc>
              <a:spcBef>
                <a:spcPts val="0"/>
              </a:spcBef>
              <a:spcAft>
                <a:spcPts val="0"/>
              </a:spcAft>
            </a:pPr>
            <a:r>
              <a:rPr sz="1350">
                <a:solidFill>
                  <a:srgbClr val="FFFFFF"/>
                </a:solidFill>
                <a:latin typeface="Segoe UI Semibold"/>
              </a:rPr>
              <a:t>PostgreSQL + Files</a:t>
            </a:r>
          </a:p>
        </p:txBody>
      </p:sp>
      <p:pic>
        <p:nvPicPr>
          <p:cNvPr id="42" name="Picture 41" descr="image.png"/>
          <p:cNvPicPr>
            <a:picLocks noChangeAspect="1"/>
          </p:cNvPicPr>
          <p:nvPr/>
        </p:nvPicPr>
        <p:blipFill>
          <a:blip r:embed="rId5"/>
          <a:stretch>
            <a:fillRect/>
          </a:stretch>
        </p:blipFill>
        <p:spPr>
          <a:xfrm>
            <a:off x="9217152" y="3246120"/>
            <a:ext cx="228600" cy="228600"/>
          </a:xfrm>
          <a:prstGeom prst="rect">
            <a:avLst/>
          </a:prstGeom>
        </p:spPr>
      </p:pic>
      <p:pic>
        <p:nvPicPr>
          <p:cNvPr id="43" name="Picture 42" descr="image.png"/>
          <p:cNvPicPr>
            <a:picLocks noChangeAspect="1"/>
          </p:cNvPicPr>
          <p:nvPr/>
        </p:nvPicPr>
        <p:blipFill>
          <a:blip r:embed="rId6"/>
          <a:stretch>
            <a:fillRect/>
          </a:stretch>
        </p:blipFill>
        <p:spPr>
          <a:xfrm>
            <a:off x="9491472" y="3246120"/>
            <a:ext cx="228600" cy="228600"/>
          </a:xfrm>
          <a:prstGeom prst="rect">
            <a:avLst/>
          </a:prstGeom>
        </p:spPr>
      </p:pic>
      <p:sp>
        <p:nvSpPr>
          <p:cNvPr id="44" name="TextBox 43"/>
          <p:cNvSpPr txBox="1"/>
          <p:nvPr/>
        </p:nvSpPr>
        <p:spPr>
          <a:xfrm>
            <a:off x="9838944" y="3300984"/>
            <a:ext cx="1435607" cy="182880"/>
          </a:xfrm>
          <a:prstGeom prst="rect">
            <a:avLst/>
          </a:prstGeom>
          <a:noFill/>
        </p:spPr>
        <p:txBody>
          <a:bodyPr wrap="square" lIns="0" rIns="0" tIns="0" bIns="0">
            <a:noAutofit/>
          </a:bodyPr>
          <a:lstStyle/>
          <a:p>
            <a:pPr>
              <a:lnSpc>
                <a:spcPct val="112000"/>
              </a:lnSpc>
              <a:spcBef>
                <a:spcPts val="0"/>
              </a:spcBef>
              <a:spcAft>
                <a:spcPts val="0"/>
              </a:spcAft>
            </a:pPr>
            <a:r>
              <a:rPr sz="950">
                <a:solidFill>
                  <a:srgbClr val="32D4F0"/>
                </a:solidFill>
                <a:latin typeface="Segoe UI"/>
              </a:rPr>
              <a:t>Records + originals</a:t>
            </a:r>
          </a:p>
        </p:txBody>
      </p:sp>
      <p:sp>
        <p:nvSpPr>
          <p:cNvPr id="45" name="Rounded Rectangle 44"/>
          <p:cNvSpPr/>
          <p:nvPr/>
        </p:nvSpPr>
        <p:spPr>
          <a:xfrm>
            <a:off x="9052560" y="3749039"/>
            <a:ext cx="2404872" cy="795528"/>
          </a:xfrm>
          <a:prstGeom prst="roundRect">
            <a:avLst>
              <a:gd name="adj" fmla="val 7000"/>
            </a:avLst>
          </a:prstGeom>
          <a:solidFill>
            <a:srgbClr val="17233D"/>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17152" y="3867911"/>
            <a:ext cx="2057400" cy="237744"/>
          </a:xfrm>
          <a:prstGeom prst="rect">
            <a:avLst/>
          </a:prstGeom>
          <a:noFill/>
        </p:spPr>
        <p:txBody>
          <a:bodyPr wrap="square" lIns="0" rIns="0" tIns="0" bIns="0">
            <a:noAutofit/>
          </a:bodyPr>
          <a:lstStyle/>
          <a:p>
            <a:pPr>
              <a:lnSpc>
                <a:spcPct val="112000"/>
              </a:lnSpc>
              <a:spcBef>
                <a:spcPts val="0"/>
              </a:spcBef>
              <a:spcAft>
                <a:spcPts val="0"/>
              </a:spcAft>
            </a:pPr>
            <a:r>
              <a:rPr sz="1350">
                <a:solidFill>
                  <a:srgbClr val="FFFFFF"/>
                </a:solidFill>
                <a:latin typeface="Segoe UI Semibold"/>
              </a:rPr>
              <a:t>Azure AI Search</a:t>
            </a:r>
          </a:p>
        </p:txBody>
      </p:sp>
      <p:pic>
        <p:nvPicPr>
          <p:cNvPr id="47" name="Picture 46" descr="image.png"/>
          <p:cNvPicPr>
            <a:picLocks noChangeAspect="1"/>
          </p:cNvPicPr>
          <p:nvPr/>
        </p:nvPicPr>
        <p:blipFill>
          <a:blip r:embed="rId7"/>
          <a:stretch>
            <a:fillRect/>
          </a:stretch>
        </p:blipFill>
        <p:spPr>
          <a:xfrm>
            <a:off x="9217152" y="4215383"/>
            <a:ext cx="228600" cy="228600"/>
          </a:xfrm>
          <a:prstGeom prst="rect">
            <a:avLst/>
          </a:prstGeom>
        </p:spPr>
      </p:pic>
      <p:sp>
        <p:nvSpPr>
          <p:cNvPr id="48" name="TextBox 47"/>
          <p:cNvSpPr txBox="1"/>
          <p:nvPr/>
        </p:nvSpPr>
        <p:spPr>
          <a:xfrm>
            <a:off x="9528048" y="4270248"/>
            <a:ext cx="1746504" cy="182880"/>
          </a:xfrm>
          <a:prstGeom prst="rect">
            <a:avLst/>
          </a:prstGeom>
          <a:noFill/>
        </p:spPr>
        <p:txBody>
          <a:bodyPr wrap="square" lIns="0" rIns="0" tIns="0" bIns="0">
            <a:noAutofit/>
          </a:bodyPr>
          <a:lstStyle/>
          <a:p>
            <a:pPr>
              <a:lnSpc>
                <a:spcPct val="112000"/>
              </a:lnSpc>
              <a:spcBef>
                <a:spcPts val="0"/>
              </a:spcBef>
              <a:spcAft>
                <a:spcPts val="0"/>
              </a:spcAft>
            </a:pPr>
            <a:r>
              <a:rPr sz="950">
                <a:solidFill>
                  <a:srgbClr val="32D4F0"/>
                </a:solidFill>
                <a:latin typeface="Segoe UI"/>
              </a:rPr>
              <a:t>Retrieval projection</a:t>
            </a:r>
          </a:p>
        </p:txBody>
      </p:sp>
      <p:sp>
        <p:nvSpPr>
          <p:cNvPr id="49" name="Rounded Rectangle 48"/>
          <p:cNvSpPr/>
          <p:nvPr/>
        </p:nvSpPr>
        <p:spPr>
          <a:xfrm>
            <a:off x="9052560" y="4709160"/>
            <a:ext cx="2404872" cy="795528"/>
          </a:xfrm>
          <a:prstGeom prst="roundRect">
            <a:avLst>
              <a:gd name="adj" fmla="val 7000"/>
            </a:avLst>
          </a:prstGeom>
          <a:solidFill>
            <a:srgbClr val="17233D"/>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7152" y="4828032"/>
            <a:ext cx="2057400" cy="237744"/>
          </a:xfrm>
          <a:prstGeom prst="rect">
            <a:avLst/>
          </a:prstGeom>
          <a:noFill/>
        </p:spPr>
        <p:txBody>
          <a:bodyPr wrap="square" lIns="0" rIns="0" tIns="0" bIns="0">
            <a:noAutofit/>
          </a:bodyPr>
          <a:lstStyle/>
          <a:p>
            <a:pPr>
              <a:lnSpc>
                <a:spcPct val="112000"/>
              </a:lnSpc>
              <a:spcBef>
                <a:spcPts val="0"/>
              </a:spcBef>
              <a:spcAft>
                <a:spcPts val="0"/>
              </a:spcAft>
            </a:pPr>
            <a:r>
              <a:rPr sz="1350">
                <a:solidFill>
                  <a:srgbClr val="FFFFFF"/>
                </a:solidFill>
                <a:latin typeface="Segoe UI Semibold"/>
              </a:rPr>
              <a:t>Microsoft Foundry</a:t>
            </a:r>
          </a:p>
        </p:txBody>
      </p:sp>
      <p:pic>
        <p:nvPicPr>
          <p:cNvPr id="51" name="Picture 50" descr="image.png"/>
          <p:cNvPicPr>
            <a:picLocks noChangeAspect="1"/>
          </p:cNvPicPr>
          <p:nvPr/>
        </p:nvPicPr>
        <p:blipFill>
          <a:blip r:embed="rId8"/>
          <a:stretch>
            <a:fillRect/>
          </a:stretch>
        </p:blipFill>
        <p:spPr>
          <a:xfrm>
            <a:off x="9217152" y="5175504"/>
            <a:ext cx="228600" cy="228600"/>
          </a:xfrm>
          <a:prstGeom prst="rect">
            <a:avLst/>
          </a:prstGeom>
        </p:spPr>
      </p:pic>
      <p:sp>
        <p:nvSpPr>
          <p:cNvPr id="52" name="TextBox 51"/>
          <p:cNvSpPr txBox="1"/>
          <p:nvPr/>
        </p:nvSpPr>
        <p:spPr>
          <a:xfrm>
            <a:off x="9528048" y="5230368"/>
            <a:ext cx="1746504" cy="182880"/>
          </a:xfrm>
          <a:prstGeom prst="rect">
            <a:avLst/>
          </a:prstGeom>
          <a:noFill/>
        </p:spPr>
        <p:txBody>
          <a:bodyPr wrap="square" lIns="0" rIns="0" tIns="0" bIns="0">
            <a:noAutofit/>
          </a:bodyPr>
          <a:lstStyle/>
          <a:p>
            <a:pPr>
              <a:lnSpc>
                <a:spcPct val="112000"/>
              </a:lnSpc>
              <a:spcBef>
                <a:spcPts val="0"/>
              </a:spcBef>
              <a:spcAft>
                <a:spcPts val="0"/>
              </a:spcAft>
            </a:pPr>
            <a:r>
              <a:rPr sz="950">
                <a:solidFill>
                  <a:srgbClr val="32D4F0"/>
                </a:solidFill>
                <a:latin typeface="Segoe UI"/>
              </a:rPr>
              <a:t>Managed identity</a:t>
            </a:r>
          </a:p>
        </p:txBody>
      </p:sp>
      <p:sp>
        <p:nvSpPr>
          <p:cNvPr id="53" name="Rectangle 52"/>
          <p:cNvSpPr/>
          <p:nvPr/>
        </p:nvSpPr>
        <p:spPr>
          <a:xfrm>
            <a:off x="8183879" y="4809744"/>
            <a:ext cx="576072" cy="21590"/>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759952" y="3177540"/>
            <a:ext cx="21590" cy="1929384"/>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759952" y="3177540"/>
            <a:ext cx="292608" cy="21590"/>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ight Arrow 55"/>
          <p:cNvSpPr/>
          <p:nvPr/>
        </p:nvSpPr>
        <p:spPr>
          <a:xfrm>
            <a:off x="8897112" y="3122676"/>
            <a:ext cx="155448" cy="109728"/>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759952" y="4146804"/>
            <a:ext cx="292608" cy="21590"/>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ight Arrow 57"/>
          <p:cNvSpPr/>
          <p:nvPr/>
        </p:nvSpPr>
        <p:spPr>
          <a:xfrm>
            <a:off x="8897112" y="4091940"/>
            <a:ext cx="155448" cy="109728"/>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759952" y="5106924"/>
            <a:ext cx="292608" cy="21590"/>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ight Arrow 59"/>
          <p:cNvSpPr/>
          <p:nvPr/>
        </p:nvSpPr>
        <p:spPr>
          <a:xfrm>
            <a:off x="8897112" y="5052060"/>
            <a:ext cx="155448" cy="109728"/>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1520" y="5212080"/>
            <a:ext cx="4754880" cy="210312"/>
          </a:xfrm>
          <a:prstGeom prst="rect">
            <a:avLst/>
          </a:prstGeom>
          <a:noFill/>
        </p:spPr>
        <p:txBody>
          <a:bodyPr wrap="square" lIns="0" rIns="0" tIns="0" bIns="0">
            <a:noAutofit/>
          </a:bodyPr>
          <a:lstStyle/>
          <a:p>
            <a:pPr>
              <a:lnSpc>
                <a:spcPct val="112000"/>
              </a:lnSpc>
              <a:spcBef>
                <a:spcPts val="0"/>
              </a:spcBef>
              <a:spcAft>
                <a:spcPts val="0"/>
              </a:spcAft>
            </a:pPr>
            <a:r>
              <a:rPr sz="1050">
                <a:solidFill>
                  <a:srgbClr val="B9C7DD"/>
                </a:solidFill>
                <a:latin typeface="Segoe UI"/>
              </a:rPr>
              <a:t>MCP is operator-managed and calls Consume REST.</a:t>
            </a:r>
          </a:p>
        </p:txBody>
      </p:sp>
      <p:pic>
        <p:nvPicPr>
          <p:cNvPr id="62" name="Picture 61" descr="image.png"/>
          <p:cNvPicPr>
            <a:picLocks noChangeAspect="1"/>
          </p:cNvPicPr>
          <p:nvPr/>
        </p:nvPicPr>
        <p:blipFill>
          <a:blip r:embed="rId9"/>
          <a:stretch>
            <a:fillRect/>
          </a:stretch>
        </p:blipFill>
        <p:spPr>
          <a:xfrm>
            <a:off x="749808" y="5641848"/>
            <a:ext cx="228600" cy="228600"/>
          </a:xfrm>
          <a:prstGeom prst="rect">
            <a:avLst/>
          </a:prstGeom>
        </p:spPr>
      </p:pic>
      <p:sp>
        <p:nvSpPr>
          <p:cNvPr id="63" name="TextBox 62"/>
          <p:cNvSpPr txBox="1"/>
          <p:nvPr/>
        </p:nvSpPr>
        <p:spPr>
          <a:xfrm>
            <a:off x="1088136" y="5696712"/>
            <a:ext cx="10287000" cy="219456"/>
          </a:xfrm>
          <a:prstGeom prst="rect">
            <a:avLst/>
          </a:prstGeom>
          <a:noFill/>
        </p:spPr>
        <p:txBody>
          <a:bodyPr wrap="square" lIns="0" rIns="0" tIns="0" bIns="0">
            <a:noAutofit/>
          </a:bodyPr>
          <a:lstStyle/>
          <a:p>
            <a:pPr>
              <a:lnSpc>
                <a:spcPct val="112000"/>
              </a:lnSpc>
              <a:spcBef>
                <a:spcPts val="0"/>
              </a:spcBef>
              <a:spcAft>
                <a:spcPts val="0"/>
              </a:spcAft>
            </a:pPr>
            <a:r>
              <a:rPr sz="1150">
                <a:solidFill>
                  <a:srgbClr val="B9C7DD"/>
                </a:solidFill>
                <a:latin typeface="Segoe UI"/>
              </a:rPr>
              <a:t>Optional Blob source via upload. Original passages and approved rules retain separate serving paths.</a:t>
            </a:r>
          </a:p>
        </p:txBody>
      </p:sp>
      <p:sp>
        <p:nvSpPr>
          <p:cNvPr id="64" name="Rectangle 63"/>
          <p:cNvSpPr/>
          <p:nvPr/>
        </p:nvSpPr>
        <p:spPr>
          <a:xfrm>
            <a:off x="731520" y="6080760"/>
            <a:ext cx="10725912" cy="448056"/>
          </a:xfrm>
          <a:prstGeom prst="rect">
            <a:avLst/>
          </a:prstGeom>
          <a:solidFill>
            <a:srgbClr val="17233D"/>
          </a:solidFill>
          <a:ln w="15240">
            <a:solidFill>
              <a:srgbClr val="F5B0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7552" y="6199632"/>
            <a:ext cx="10213848" cy="237744"/>
          </a:xfrm>
          <a:prstGeom prst="rect">
            <a:avLst/>
          </a:prstGeom>
          <a:noFill/>
        </p:spPr>
        <p:txBody>
          <a:bodyPr wrap="square" lIns="0" rIns="0" tIns="0" bIns="0">
            <a:noAutofit/>
          </a:bodyPr>
          <a:lstStyle/>
          <a:p>
            <a:pPr>
              <a:lnSpc>
                <a:spcPct val="112000"/>
              </a:lnSpc>
              <a:spcBef>
                <a:spcPts val="0"/>
              </a:spcBef>
              <a:spcAft>
                <a:spcPts val="0"/>
              </a:spcAft>
            </a:pPr>
            <a:r>
              <a:rPr sz="1200">
                <a:solidFill>
                  <a:srgbClr val="FFFFFF"/>
                </a:solidFill>
                <a:latin typeface="Segoe UI"/>
              </a:rPr>
              <a:t>Search is a projection. PostgreSQL and retained source documents remain authoritative.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descr="background"/>
          <p:cNvSpPr/>
          <p:nvPr/>
        </p:nvSpPr>
        <p:spPr>
          <a:xfrm>
            <a:off x="0" y="0"/>
            <a:ext cx="12191695" cy="6858000"/>
          </a:xfrm>
          <a:prstGeom prst="rect">
            <a:avLst/>
          </a:prstGeom>
          <a:solidFill>
            <a:srgbClr val="0A12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descr="HOW IT IS BUILT"/>
          <p:cNvSpPr txBox="1"/>
          <p:nvPr/>
        </p:nvSpPr>
        <p:spPr>
          <a:xfrm>
            <a:off x="731520" y="457200"/>
            <a:ext cx="8229600" cy="256032"/>
          </a:xfrm>
          <a:prstGeom prst="rect">
            <a:avLst/>
          </a:prstGeom>
          <a:noFill/>
        </p:spPr>
        <p:txBody>
          <a:bodyPr wrap="square" lIns="0" rIns="0" tIns="0" bIns="0">
            <a:spAutoFit/>
          </a:bodyPr>
          <a:lstStyle/>
          <a:p>
            <a:pPr algn="l">
              <a:spcAft>
                <a:spcPts val="0"/>
              </a:spcAft>
            </a:pPr>
            <a:r>
              <a:rPr sz="1100">
                <a:solidFill>
                  <a:srgbClr val="9B8EE8"/>
                </a:solidFill>
                <a:latin typeface="Segoe UI Semibold"/>
              </a:rPr>
              <a:t>APPLICATION COMPONENTS &amp; AZURE</a:t>
            </a:r>
          </a:p>
        </p:txBody>
      </p:sp>
      <p:sp>
        <p:nvSpPr>
          <p:cNvPr id="4" name="act-label" descr="CAPABILITY · 31"/>
          <p:cNvSpPr txBox="1"/>
          <p:nvPr/>
        </p:nvSpPr>
        <p:spPr>
          <a:xfrm>
            <a:off x="8869680" y="457200"/>
            <a:ext cx="2587752" cy="256032"/>
          </a:xfrm>
          <a:prstGeom prst="rect">
            <a:avLst/>
          </a:prstGeom>
          <a:noFill/>
        </p:spPr>
        <p:txBody>
          <a:bodyPr wrap="square" lIns="0" rIns="0" tIns="0" bIns="0">
            <a:spAutoFit/>
          </a:bodyPr>
          <a:lstStyle/>
          <a:p>
            <a:pPr algn="r">
              <a:spcAft>
                <a:spcPts val="0"/>
              </a:spcAft>
            </a:pPr>
            <a:r>
              <a:rPr sz="1000">
                <a:solidFill>
                  <a:srgbClr val="8B9CB8"/>
                </a:solidFill>
                <a:latin typeface="Segoe UI Semibold"/>
              </a:rPr>
              <a:t>COMPONENTS · 07</a:t>
            </a:r>
          </a:p>
        </p:txBody>
      </p:sp>
      <p:sp>
        <p:nvSpPr>
          <p:cNvPr id="5" name="title" descr="Architecture and standards"/>
          <p:cNvSpPr txBox="1"/>
          <p:nvPr/>
        </p:nvSpPr>
        <p:spPr>
          <a:xfrm>
            <a:off x="731520" y="777240"/>
            <a:ext cx="10725912" cy="731520"/>
          </a:xfrm>
          <a:prstGeom prst="rect">
            <a:avLst/>
          </a:prstGeom>
          <a:noFill/>
        </p:spPr>
        <p:txBody>
          <a:bodyPr wrap="square" lIns="0" rIns="0" tIns="0" bIns="0">
            <a:noAutofit/>
          </a:bodyPr>
          <a:lstStyle/>
          <a:p>
            <a:pPr algn="l">
              <a:lnSpc>
                <a:spcPct val="112000"/>
              </a:lnSpc>
              <a:spcBef>
                <a:spcPts val="0"/>
              </a:spcBef>
              <a:spcAft>
                <a:spcPts val="0"/>
              </a:spcAft>
            </a:pPr>
            <a:r>
              <a:rPr sz="3000">
                <a:solidFill>
                  <a:srgbClr val="FFFFFF"/>
                </a:solidFill>
                <a:latin typeface="Segoe UI Light"/>
              </a:rPr>
              <a:t>How the main components connect</a:t>
            </a:r>
          </a:p>
        </p:txBody>
      </p:sp>
      <p:sp>
        <p:nvSpPr>
          <p:cNvPr id="6" name="accent-bar" descr="accent-bar"/>
          <p:cNvSpPr/>
          <p:nvPr/>
        </p:nvSpPr>
        <p:spPr>
          <a:xfrm>
            <a:off x="731520" y="1453896"/>
            <a:ext cx="960120" cy="57150"/>
          </a:xfrm>
          <a:prstGeom prst="rect">
            <a:avLst/>
          </a:prstGeom>
          <a:solidFill>
            <a:srgbClr val="32D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title" descr="Layered, with the policy record as the contract between layers and adopted standards rather than invented voca"/>
          <p:cNvSpPr txBox="1"/>
          <p:nvPr/>
        </p:nvSpPr>
        <p:spPr>
          <a:xfrm>
            <a:off x="731520" y="1746504"/>
            <a:ext cx="10725912" cy="530352"/>
          </a:xfrm>
          <a:prstGeom prst="rect">
            <a:avLst/>
          </a:prstGeom>
          <a:noFill/>
        </p:spPr>
        <p:txBody>
          <a:bodyPr wrap="square" lIns="0" rIns="0" tIns="0" bIns="0">
            <a:noAutofit/>
          </a:bodyPr>
          <a:lstStyle/>
          <a:p>
            <a:pPr algn="l">
              <a:lnSpc>
                <a:spcPct val="112000"/>
              </a:lnSpc>
              <a:spcBef>
                <a:spcPts val="0"/>
              </a:spcBef>
              <a:spcAft>
                <a:spcPts val="0"/>
              </a:spcAft>
            </a:pPr>
            <a:r>
              <a:rPr sz="1450">
                <a:solidFill>
                  <a:srgbClr val="B9C7DD"/>
                </a:solidFill>
                <a:latin typeface="Segoe UI"/>
              </a:rPr>
              <a:t>One flow prepares governed evidence. A second uses that evidence to answer a case and store a receipt.</a:t>
            </a:r>
          </a:p>
        </p:txBody>
      </p:sp>
      <p:sp>
        <p:nvSpPr>
          <p:cNvPr id="36" name="rbac-caveat" descr="rbac-caveat"/>
          <p:cNvSpPr/>
          <p:nvPr/>
        </p:nvSpPr>
        <p:spPr>
          <a:xfrm>
            <a:off x="731520" y="6080760"/>
            <a:ext cx="10725912" cy="448056"/>
          </a:xfrm>
          <a:prstGeom prst="rect">
            <a:avLst/>
          </a:prstGeom>
          <a:solidFill>
            <a:srgbClr val="17233D"/>
          </a:solidFill>
          <a:ln w="12700">
            <a:solidFill>
              <a:srgbClr val="F5B0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descr="Access control: role bands exist across the API surface, but they are operator-enabled and off by default. As "/>
          <p:cNvSpPr txBox="1"/>
          <p:nvPr/>
        </p:nvSpPr>
        <p:spPr>
          <a:xfrm>
            <a:off x="1335024" y="6190488"/>
            <a:ext cx="9866376" cy="237744"/>
          </a:xfrm>
          <a:prstGeom prst="rect">
            <a:avLst/>
          </a:prstGeom>
          <a:noFill/>
        </p:spPr>
        <p:txBody>
          <a:bodyPr wrap="square" lIns="0" rIns="0" tIns="0" bIns="0">
            <a:noAutofit/>
          </a:bodyPr>
          <a:lstStyle/>
          <a:p>
            <a:pPr algn="l">
              <a:lnSpc>
                <a:spcPct val="112000"/>
              </a:lnSpc>
              <a:spcBef>
                <a:spcPts val="0"/>
              </a:spcBef>
              <a:spcAft>
                <a:spcPts val="0"/>
              </a:spcAft>
            </a:pPr>
            <a:r>
              <a:rPr sz="1150">
                <a:solidFill>
                  <a:srgbClr val="FFFFFF"/>
                </a:solidFill>
                <a:latin typeface="Segoe UI"/>
              </a:rPr>
              <a:t>Container Apps hosts the API. Search is a projection; PostgreSQL and source files are authoritative.</a:t>
            </a:r>
          </a:p>
        </p:txBody>
      </p:sp>
      <p:sp>
        <p:nvSpPr>
          <p:cNvPr id="38" name="TextBox 37"/>
          <p:cNvSpPr txBox="1"/>
          <p:nvPr/>
        </p:nvSpPr>
        <p:spPr>
          <a:xfrm>
            <a:off x="731520" y="2322576"/>
            <a:ext cx="10725912" cy="219456"/>
          </a:xfrm>
          <a:prstGeom prst="rect">
            <a:avLst/>
          </a:prstGeom>
          <a:noFill/>
        </p:spPr>
        <p:txBody>
          <a:bodyPr wrap="square" lIns="0" rIns="0" tIns="0" bIns="0">
            <a:noAutofit/>
          </a:bodyPr>
          <a:lstStyle/>
          <a:p>
            <a:pPr>
              <a:lnSpc>
                <a:spcPct val="112000"/>
              </a:lnSpc>
              <a:spcBef>
                <a:spcPts val="0"/>
              </a:spcBef>
              <a:spcAft>
                <a:spcPts val="0"/>
              </a:spcAft>
            </a:pPr>
            <a:r>
              <a:rPr sz="1100">
                <a:solidFill>
                  <a:srgbClr val="9B8EE8"/>
                </a:solidFill>
                <a:latin typeface="Segoe UI Semibold"/>
              </a:rPr>
              <a:t>PREPARE POLICY  /  SOURCE → HUMAN REVIEW → PUBLISHED EVIDENCE</a:t>
            </a:r>
          </a:p>
        </p:txBody>
      </p:sp>
      <p:sp>
        <p:nvSpPr>
          <p:cNvPr id="39" name="Rounded Rectangle 38"/>
          <p:cNvSpPr/>
          <p:nvPr/>
        </p:nvSpPr>
        <p:spPr>
          <a:xfrm>
            <a:off x="731520" y="2688336"/>
            <a:ext cx="2414016" cy="1115568"/>
          </a:xfrm>
          <a:prstGeom prst="roundRect">
            <a:avLst>
              <a:gd name="adj" fmla="val 6000"/>
            </a:avLst>
          </a:prstGeom>
          <a:solidFill>
            <a:srgbClr val="17233D"/>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2843784"/>
            <a:ext cx="2066543" cy="283464"/>
          </a:xfrm>
          <a:prstGeom prst="rect">
            <a:avLst/>
          </a:prstGeom>
          <a:noFill/>
        </p:spPr>
        <p:txBody>
          <a:bodyPr wrap="square" lIns="0" rIns="0" tIns="0" bIns="0">
            <a:noAutofit/>
          </a:bodyPr>
          <a:lstStyle/>
          <a:p>
            <a:pPr>
              <a:lnSpc>
                <a:spcPct val="112000"/>
              </a:lnSpc>
              <a:spcBef>
                <a:spcPts val="0"/>
              </a:spcBef>
              <a:spcAft>
                <a:spcPts val="0"/>
              </a:spcAft>
            </a:pPr>
            <a:r>
              <a:rPr sz="1700">
                <a:solidFill>
                  <a:srgbClr val="FFFFFF"/>
                </a:solidFill>
                <a:latin typeface="Segoe UI Semibold"/>
              </a:rPr>
              <a:t>Source documents</a:t>
            </a:r>
          </a:p>
        </p:txBody>
      </p:sp>
      <p:sp>
        <p:nvSpPr>
          <p:cNvPr id="41" name="TextBox 40"/>
          <p:cNvSpPr txBox="1"/>
          <p:nvPr/>
        </p:nvSpPr>
        <p:spPr>
          <a:xfrm>
            <a:off x="905256" y="3227832"/>
            <a:ext cx="2066543" cy="228600"/>
          </a:xfrm>
          <a:prstGeom prst="rect">
            <a:avLst/>
          </a:prstGeom>
          <a:noFill/>
        </p:spPr>
        <p:txBody>
          <a:bodyPr wrap="square" lIns="0" rIns="0" tIns="0" bIns="0">
            <a:noAutofit/>
          </a:bodyPr>
          <a:lstStyle/>
          <a:p>
            <a:pPr>
              <a:lnSpc>
                <a:spcPct val="112000"/>
              </a:lnSpc>
              <a:spcBef>
                <a:spcPts val="0"/>
              </a:spcBef>
              <a:spcAft>
                <a:spcPts val="0"/>
              </a:spcAft>
            </a:pPr>
            <a:r>
              <a:rPr sz="1150">
                <a:solidFill>
                  <a:srgbClr val="B9C7DD"/>
                </a:solidFill>
                <a:latin typeface="Segoe UI"/>
              </a:rPr>
              <a:t>Original text + locators</a:t>
            </a:r>
          </a:p>
        </p:txBody>
      </p:sp>
      <p:pic>
        <p:nvPicPr>
          <p:cNvPr id="42" name="Picture 41" descr="files.png"/>
          <p:cNvPicPr>
            <a:picLocks noChangeAspect="1"/>
          </p:cNvPicPr>
          <p:nvPr/>
        </p:nvPicPr>
        <p:blipFill>
          <a:blip r:embed="rId3"/>
          <a:stretch>
            <a:fillRect/>
          </a:stretch>
        </p:blipFill>
        <p:spPr>
          <a:xfrm>
            <a:off x="886968" y="3520440"/>
            <a:ext cx="237744" cy="237744"/>
          </a:xfrm>
          <a:prstGeom prst="rect">
            <a:avLst/>
          </a:prstGeom>
        </p:spPr>
      </p:pic>
      <p:sp>
        <p:nvSpPr>
          <p:cNvPr id="43" name="TextBox 42"/>
          <p:cNvSpPr txBox="1"/>
          <p:nvPr/>
        </p:nvSpPr>
        <p:spPr>
          <a:xfrm>
            <a:off x="1508760" y="3575304"/>
            <a:ext cx="1463040" cy="182880"/>
          </a:xfrm>
          <a:prstGeom prst="rect">
            <a:avLst/>
          </a:prstGeom>
          <a:noFill/>
        </p:spPr>
        <p:txBody>
          <a:bodyPr wrap="square" lIns="0" rIns="0" tIns="0" bIns="0">
            <a:noAutofit/>
          </a:bodyPr>
          <a:lstStyle/>
          <a:p>
            <a:pPr>
              <a:lnSpc>
                <a:spcPct val="112000"/>
              </a:lnSpc>
              <a:spcBef>
                <a:spcPts val="0"/>
              </a:spcBef>
              <a:spcAft>
                <a:spcPts val="0"/>
              </a:spcAft>
            </a:pPr>
            <a:r>
              <a:rPr sz="1000">
                <a:solidFill>
                  <a:srgbClr val="32D4F0"/>
                </a:solidFill>
                <a:latin typeface="Segoe UI Semibold"/>
              </a:rPr>
              <a:t>Files + optional Blob</a:t>
            </a:r>
          </a:p>
        </p:txBody>
      </p:sp>
      <p:sp>
        <p:nvSpPr>
          <p:cNvPr id="44" name="Rounded Rectangle 43"/>
          <p:cNvSpPr/>
          <p:nvPr/>
        </p:nvSpPr>
        <p:spPr>
          <a:xfrm>
            <a:off x="3502152" y="2688336"/>
            <a:ext cx="2414016" cy="1115568"/>
          </a:xfrm>
          <a:prstGeom prst="roundRect">
            <a:avLst>
              <a:gd name="adj" fmla="val 6000"/>
            </a:avLst>
          </a:prstGeom>
          <a:solidFill>
            <a:srgbClr val="17233D"/>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75888" y="2843784"/>
            <a:ext cx="2066543" cy="283464"/>
          </a:xfrm>
          <a:prstGeom prst="rect">
            <a:avLst/>
          </a:prstGeom>
          <a:noFill/>
        </p:spPr>
        <p:txBody>
          <a:bodyPr wrap="square" lIns="0" rIns="0" tIns="0" bIns="0">
            <a:noAutofit/>
          </a:bodyPr>
          <a:lstStyle/>
          <a:p>
            <a:pPr>
              <a:lnSpc>
                <a:spcPct val="112000"/>
              </a:lnSpc>
              <a:spcBef>
                <a:spcPts val="0"/>
              </a:spcBef>
              <a:spcAft>
                <a:spcPts val="0"/>
              </a:spcAft>
            </a:pPr>
            <a:r>
              <a:rPr sz="1700">
                <a:solidFill>
                  <a:srgbClr val="FFFFFF"/>
                </a:solidFill>
                <a:latin typeface="Segoe UI Semibold"/>
              </a:rPr>
              <a:t>Ingest + AI Load</a:t>
            </a:r>
          </a:p>
        </p:txBody>
      </p:sp>
      <p:sp>
        <p:nvSpPr>
          <p:cNvPr id="46" name="TextBox 45"/>
          <p:cNvSpPr txBox="1"/>
          <p:nvPr/>
        </p:nvSpPr>
        <p:spPr>
          <a:xfrm>
            <a:off x="3675888" y="3227832"/>
            <a:ext cx="2066543" cy="228600"/>
          </a:xfrm>
          <a:prstGeom prst="rect">
            <a:avLst/>
          </a:prstGeom>
          <a:noFill/>
        </p:spPr>
        <p:txBody>
          <a:bodyPr wrap="square" lIns="0" rIns="0" tIns="0" bIns="0">
            <a:noAutofit/>
          </a:bodyPr>
          <a:lstStyle/>
          <a:p>
            <a:pPr>
              <a:lnSpc>
                <a:spcPct val="112000"/>
              </a:lnSpc>
              <a:spcBef>
                <a:spcPts val="0"/>
              </a:spcBef>
              <a:spcAft>
                <a:spcPts val="0"/>
              </a:spcAft>
            </a:pPr>
            <a:r>
              <a:rPr sz="1150">
                <a:solidFill>
                  <a:srgbClr val="B9C7DD"/>
                </a:solidFill>
                <a:latin typeface="Segoe UI"/>
              </a:rPr>
              <a:t>Source-linked candidates</a:t>
            </a:r>
          </a:p>
        </p:txBody>
      </p:sp>
      <p:pic>
        <p:nvPicPr>
          <p:cNvPr id="47" name="Picture 46" descr="foundry.png"/>
          <p:cNvPicPr>
            <a:picLocks noChangeAspect="1"/>
          </p:cNvPicPr>
          <p:nvPr/>
        </p:nvPicPr>
        <p:blipFill>
          <a:blip r:embed="rId4"/>
          <a:stretch>
            <a:fillRect/>
          </a:stretch>
        </p:blipFill>
        <p:spPr>
          <a:xfrm>
            <a:off x="3657600" y="3520440"/>
            <a:ext cx="237744" cy="237744"/>
          </a:xfrm>
          <a:prstGeom prst="rect">
            <a:avLst/>
          </a:prstGeom>
        </p:spPr>
      </p:pic>
      <p:sp>
        <p:nvSpPr>
          <p:cNvPr id="48" name="TextBox 47"/>
          <p:cNvSpPr txBox="1"/>
          <p:nvPr/>
        </p:nvSpPr>
        <p:spPr>
          <a:xfrm>
            <a:off x="3977640" y="3575304"/>
            <a:ext cx="1764791" cy="182880"/>
          </a:xfrm>
          <a:prstGeom prst="rect">
            <a:avLst/>
          </a:prstGeom>
          <a:noFill/>
        </p:spPr>
        <p:txBody>
          <a:bodyPr wrap="square" lIns="0" rIns="0" tIns="0" bIns="0">
            <a:noAutofit/>
          </a:bodyPr>
          <a:lstStyle/>
          <a:p>
            <a:pPr>
              <a:lnSpc>
                <a:spcPct val="112000"/>
              </a:lnSpc>
              <a:spcBef>
                <a:spcPts val="0"/>
              </a:spcBef>
              <a:spcAft>
                <a:spcPts val="0"/>
              </a:spcAft>
            </a:pPr>
            <a:r>
              <a:rPr sz="1000">
                <a:solidFill>
                  <a:srgbClr val="32D4F0"/>
                </a:solidFill>
                <a:latin typeface="Segoe UI Semibold"/>
              </a:rPr>
              <a:t>Microsoft Foundry</a:t>
            </a:r>
          </a:p>
        </p:txBody>
      </p:sp>
      <p:sp>
        <p:nvSpPr>
          <p:cNvPr id="49" name="Rounded Rectangle 48"/>
          <p:cNvSpPr/>
          <p:nvPr/>
        </p:nvSpPr>
        <p:spPr>
          <a:xfrm>
            <a:off x="6272784" y="2688336"/>
            <a:ext cx="2414016" cy="1115568"/>
          </a:xfrm>
          <a:prstGeom prst="roundRect">
            <a:avLst>
              <a:gd name="adj" fmla="val 6000"/>
            </a:avLst>
          </a:prstGeom>
          <a:solidFill>
            <a:srgbClr val="5B4DB1"/>
          </a:solidFill>
          <a:ln w="15240">
            <a:solidFill>
              <a:srgbClr val="5B4D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46520" y="2843784"/>
            <a:ext cx="2066543" cy="283464"/>
          </a:xfrm>
          <a:prstGeom prst="rect">
            <a:avLst/>
          </a:prstGeom>
          <a:noFill/>
        </p:spPr>
        <p:txBody>
          <a:bodyPr wrap="square" lIns="0" rIns="0" tIns="0" bIns="0">
            <a:noAutofit/>
          </a:bodyPr>
          <a:lstStyle/>
          <a:p>
            <a:pPr>
              <a:lnSpc>
                <a:spcPct val="112000"/>
              </a:lnSpc>
              <a:spcBef>
                <a:spcPts val="0"/>
              </a:spcBef>
              <a:spcAft>
                <a:spcPts val="0"/>
              </a:spcAft>
            </a:pPr>
            <a:r>
              <a:rPr sz="1700">
                <a:solidFill>
                  <a:srgbClr val="FFFFFF"/>
                </a:solidFill>
                <a:latin typeface="Segoe UI Semibold"/>
              </a:rPr>
              <a:t>Review + approve</a:t>
            </a:r>
          </a:p>
        </p:txBody>
      </p:sp>
      <p:sp>
        <p:nvSpPr>
          <p:cNvPr id="51" name="TextBox 50"/>
          <p:cNvSpPr txBox="1"/>
          <p:nvPr/>
        </p:nvSpPr>
        <p:spPr>
          <a:xfrm>
            <a:off x="6446520" y="3227832"/>
            <a:ext cx="2066543" cy="228600"/>
          </a:xfrm>
          <a:prstGeom prst="rect">
            <a:avLst/>
          </a:prstGeom>
          <a:noFill/>
        </p:spPr>
        <p:txBody>
          <a:bodyPr wrap="square" lIns="0" rIns="0" tIns="0" bIns="0">
            <a:noAutofit/>
          </a:bodyPr>
          <a:lstStyle/>
          <a:p>
            <a:pPr>
              <a:lnSpc>
                <a:spcPct val="112000"/>
              </a:lnSpc>
              <a:spcBef>
                <a:spcPts val="0"/>
              </a:spcBef>
              <a:spcAft>
                <a:spcPts val="0"/>
              </a:spcAft>
            </a:pPr>
            <a:r>
              <a:rPr sz="1150">
                <a:solidFill>
                  <a:srgbClr val="FFFFFF"/>
                </a:solidFill>
                <a:latin typeface="Segoe UI"/>
              </a:rPr>
              <a:t>Check meaning and issues</a:t>
            </a:r>
          </a:p>
        </p:txBody>
      </p:sp>
      <p:sp>
        <p:nvSpPr>
          <p:cNvPr id="52" name="TextBox 51"/>
          <p:cNvSpPr txBox="1"/>
          <p:nvPr/>
        </p:nvSpPr>
        <p:spPr>
          <a:xfrm>
            <a:off x="6446520" y="3575304"/>
            <a:ext cx="2066543" cy="182880"/>
          </a:xfrm>
          <a:prstGeom prst="rect">
            <a:avLst/>
          </a:prstGeom>
          <a:noFill/>
        </p:spPr>
        <p:txBody>
          <a:bodyPr wrap="square" lIns="0" rIns="0" tIns="0" bIns="0">
            <a:noAutofit/>
          </a:bodyPr>
          <a:lstStyle/>
          <a:p>
            <a:pPr>
              <a:lnSpc>
                <a:spcPct val="112000"/>
              </a:lnSpc>
              <a:spcBef>
                <a:spcPts val="0"/>
              </a:spcBef>
              <a:spcAft>
                <a:spcPts val="0"/>
              </a:spcAft>
            </a:pPr>
            <a:r>
              <a:rPr sz="1000">
                <a:solidFill>
                  <a:srgbClr val="32D4F0"/>
                </a:solidFill>
                <a:latin typeface="Segoe UI Semibold"/>
              </a:rPr>
              <a:t>Human gate</a:t>
            </a:r>
          </a:p>
        </p:txBody>
      </p:sp>
      <p:sp>
        <p:nvSpPr>
          <p:cNvPr id="53" name="Rounded Rectangle 52"/>
          <p:cNvSpPr/>
          <p:nvPr/>
        </p:nvSpPr>
        <p:spPr>
          <a:xfrm>
            <a:off x="9043416" y="2688336"/>
            <a:ext cx="2414016" cy="1115568"/>
          </a:xfrm>
          <a:prstGeom prst="roundRect">
            <a:avLst>
              <a:gd name="adj" fmla="val 6000"/>
            </a:avLst>
          </a:prstGeom>
          <a:solidFill>
            <a:srgbClr val="17233D"/>
          </a:solidFill>
          <a:ln w="15240">
            <a:solidFill>
              <a:srgbClr val="32D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17152" y="2843784"/>
            <a:ext cx="2066543" cy="283464"/>
          </a:xfrm>
          <a:prstGeom prst="rect">
            <a:avLst/>
          </a:prstGeom>
          <a:noFill/>
        </p:spPr>
        <p:txBody>
          <a:bodyPr wrap="square" lIns="0" rIns="0" tIns="0" bIns="0">
            <a:noAutofit/>
          </a:bodyPr>
          <a:lstStyle/>
          <a:p>
            <a:pPr>
              <a:lnSpc>
                <a:spcPct val="112000"/>
              </a:lnSpc>
              <a:spcBef>
                <a:spcPts val="0"/>
              </a:spcBef>
              <a:spcAft>
                <a:spcPts val="0"/>
              </a:spcAft>
            </a:pPr>
            <a:r>
              <a:rPr sz="1700">
                <a:solidFill>
                  <a:srgbClr val="FFFFFF"/>
                </a:solidFill>
                <a:latin typeface="Segoe UI Semibold"/>
              </a:rPr>
              <a:t>Publish + index</a:t>
            </a:r>
          </a:p>
        </p:txBody>
      </p:sp>
      <p:sp>
        <p:nvSpPr>
          <p:cNvPr id="55" name="TextBox 54"/>
          <p:cNvSpPr txBox="1"/>
          <p:nvPr/>
        </p:nvSpPr>
        <p:spPr>
          <a:xfrm>
            <a:off x="9217152" y="3227832"/>
            <a:ext cx="2066543" cy="228600"/>
          </a:xfrm>
          <a:prstGeom prst="rect">
            <a:avLst/>
          </a:prstGeom>
          <a:noFill/>
        </p:spPr>
        <p:txBody>
          <a:bodyPr wrap="square" lIns="0" rIns="0" tIns="0" bIns="0">
            <a:noAutofit/>
          </a:bodyPr>
          <a:lstStyle/>
          <a:p>
            <a:pPr>
              <a:lnSpc>
                <a:spcPct val="112000"/>
              </a:lnSpc>
              <a:spcBef>
                <a:spcPts val="0"/>
              </a:spcBef>
              <a:spcAft>
                <a:spcPts val="0"/>
              </a:spcAft>
            </a:pPr>
            <a:r>
              <a:rPr sz="1150">
                <a:solidFill>
                  <a:srgbClr val="B9C7DD"/>
                </a:solidFill>
                <a:latin typeface="Segoe UI"/>
              </a:rPr>
              <a:t>Fixed release; verified index</a:t>
            </a:r>
          </a:p>
        </p:txBody>
      </p:sp>
      <p:pic>
        <p:nvPicPr>
          <p:cNvPr id="56" name="Picture 55" descr="postgres.png"/>
          <p:cNvPicPr>
            <a:picLocks noChangeAspect="1"/>
          </p:cNvPicPr>
          <p:nvPr/>
        </p:nvPicPr>
        <p:blipFill>
          <a:blip r:embed="rId5"/>
          <a:stretch>
            <a:fillRect/>
          </a:stretch>
        </p:blipFill>
        <p:spPr>
          <a:xfrm>
            <a:off x="9198864" y="3520440"/>
            <a:ext cx="237744" cy="237744"/>
          </a:xfrm>
          <a:prstGeom prst="rect">
            <a:avLst/>
          </a:prstGeom>
        </p:spPr>
      </p:pic>
      <p:pic>
        <p:nvPicPr>
          <p:cNvPr id="57" name="Picture 56" descr="search.png"/>
          <p:cNvPicPr>
            <a:picLocks noChangeAspect="1"/>
          </p:cNvPicPr>
          <p:nvPr/>
        </p:nvPicPr>
        <p:blipFill>
          <a:blip r:embed="rId6"/>
          <a:stretch>
            <a:fillRect/>
          </a:stretch>
        </p:blipFill>
        <p:spPr>
          <a:xfrm>
            <a:off x="9482328" y="3520440"/>
            <a:ext cx="237744" cy="237744"/>
          </a:xfrm>
          <a:prstGeom prst="rect">
            <a:avLst/>
          </a:prstGeom>
        </p:spPr>
      </p:pic>
      <p:sp>
        <p:nvSpPr>
          <p:cNvPr id="58" name="TextBox 57"/>
          <p:cNvSpPr txBox="1"/>
          <p:nvPr/>
        </p:nvSpPr>
        <p:spPr>
          <a:xfrm>
            <a:off x="9820656" y="3575304"/>
            <a:ext cx="1463039" cy="182880"/>
          </a:xfrm>
          <a:prstGeom prst="rect">
            <a:avLst/>
          </a:prstGeom>
          <a:noFill/>
        </p:spPr>
        <p:txBody>
          <a:bodyPr wrap="square" lIns="0" rIns="0" tIns="0" bIns="0">
            <a:noAutofit/>
          </a:bodyPr>
          <a:lstStyle/>
          <a:p>
            <a:pPr>
              <a:lnSpc>
                <a:spcPct val="112000"/>
              </a:lnSpc>
              <a:spcBef>
                <a:spcPts val="0"/>
              </a:spcBef>
              <a:spcAft>
                <a:spcPts val="0"/>
              </a:spcAft>
            </a:pPr>
            <a:r>
              <a:rPr sz="1000">
                <a:solidFill>
                  <a:srgbClr val="32D4F0"/>
                </a:solidFill>
                <a:latin typeface="Segoe UI Semibold"/>
              </a:rPr>
              <a:t>PostgreSQL + AI Search</a:t>
            </a:r>
          </a:p>
        </p:txBody>
      </p:sp>
      <p:sp>
        <p:nvSpPr>
          <p:cNvPr id="59" name="Right Arrow 58"/>
          <p:cNvSpPr/>
          <p:nvPr/>
        </p:nvSpPr>
        <p:spPr>
          <a:xfrm>
            <a:off x="3209544" y="3182112"/>
            <a:ext cx="228600" cy="128016"/>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ight Arrow 59"/>
          <p:cNvSpPr/>
          <p:nvPr/>
        </p:nvSpPr>
        <p:spPr>
          <a:xfrm>
            <a:off x="5980176" y="3182112"/>
            <a:ext cx="228600" cy="128016"/>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ight Arrow 60"/>
          <p:cNvSpPr/>
          <p:nvPr/>
        </p:nvSpPr>
        <p:spPr>
          <a:xfrm>
            <a:off x="8750808" y="3182112"/>
            <a:ext cx="228600" cy="128016"/>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Down Arrow 64"/>
          <p:cNvSpPr/>
          <p:nvPr/>
        </p:nvSpPr>
        <p:spPr>
          <a:xfrm>
            <a:off x="7420356" y="4416552"/>
            <a:ext cx="118872" cy="164592"/>
          </a:xfrm>
          <a:prstGeom prst="down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699248" y="4087368"/>
            <a:ext cx="3291840" cy="201168"/>
          </a:xfrm>
          <a:prstGeom prst="rect">
            <a:avLst/>
          </a:prstGeom>
          <a:noFill/>
        </p:spPr>
        <p:txBody>
          <a:bodyPr wrap="square" lIns="0" rIns="0" tIns="0" bIns="0">
            <a:noAutofit/>
          </a:bodyPr>
          <a:lstStyle/>
          <a:p>
            <a:pPr>
              <a:lnSpc>
                <a:spcPct val="112000"/>
              </a:lnSpc>
              <a:spcBef>
                <a:spcPts val="0"/>
              </a:spcBef>
              <a:spcAft>
                <a:spcPts val="0"/>
              </a:spcAft>
            </a:pPr>
            <a:r>
              <a:rPr sz="1050">
                <a:solidFill>
                  <a:srgbClr val="32D4F0"/>
                </a:solidFill>
                <a:latin typeface="Segoe UI"/>
              </a:rPr>
              <a:t>Published index projection</a:t>
            </a:r>
          </a:p>
        </p:txBody>
      </p:sp>
      <p:sp>
        <p:nvSpPr>
          <p:cNvPr id="67" name="TextBox 66"/>
          <p:cNvSpPr txBox="1"/>
          <p:nvPr/>
        </p:nvSpPr>
        <p:spPr>
          <a:xfrm>
            <a:off x="731520" y="4224528"/>
            <a:ext cx="6537960" cy="219456"/>
          </a:xfrm>
          <a:prstGeom prst="rect">
            <a:avLst/>
          </a:prstGeom>
          <a:noFill/>
        </p:spPr>
        <p:txBody>
          <a:bodyPr wrap="square" lIns="0" rIns="0" tIns="0" bIns="0">
            <a:noAutofit/>
          </a:bodyPr>
          <a:lstStyle/>
          <a:p>
            <a:pPr>
              <a:lnSpc>
                <a:spcPct val="112000"/>
              </a:lnSpc>
              <a:spcBef>
                <a:spcPts val="0"/>
              </a:spcBef>
              <a:spcAft>
                <a:spcPts val="0"/>
              </a:spcAft>
            </a:pPr>
            <a:r>
              <a:rPr sz="1100">
                <a:solidFill>
                  <a:srgbClr val="32D4F0"/>
                </a:solidFill>
                <a:latin typeface="Segoe UI Semibold"/>
              </a:rPr>
              <a:t>ANSWER A CASE  /  AUTHORIZE → RETRIEVE → INTERPRET → RECORD</a:t>
            </a:r>
          </a:p>
        </p:txBody>
      </p:sp>
      <p:sp>
        <p:nvSpPr>
          <p:cNvPr id="68" name="Rounded Rectangle 67"/>
          <p:cNvSpPr/>
          <p:nvPr/>
        </p:nvSpPr>
        <p:spPr>
          <a:xfrm>
            <a:off x="731520" y="4590288"/>
            <a:ext cx="2414016" cy="1115568"/>
          </a:xfrm>
          <a:prstGeom prst="roundRect">
            <a:avLst>
              <a:gd name="adj" fmla="val 6000"/>
            </a:avLst>
          </a:prstGeom>
          <a:solidFill>
            <a:srgbClr val="17233D"/>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05256" y="4745736"/>
            <a:ext cx="2066543" cy="283464"/>
          </a:xfrm>
          <a:prstGeom prst="rect">
            <a:avLst/>
          </a:prstGeom>
          <a:noFill/>
        </p:spPr>
        <p:txBody>
          <a:bodyPr wrap="square" lIns="0" rIns="0" tIns="0" bIns="0">
            <a:noAutofit/>
          </a:bodyPr>
          <a:lstStyle/>
          <a:p>
            <a:pPr>
              <a:lnSpc>
                <a:spcPct val="112000"/>
              </a:lnSpc>
              <a:spcBef>
                <a:spcPts val="0"/>
              </a:spcBef>
              <a:spcAft>
                <a:spcPts val="0"/>
              </a:spcAft>
            </a:pPr>
            <a:r>
              <a:rPr sz="1700">
                <a:solidFill>
                  <a:srgbClr val="FFFFFF"/>
                </a:solidFill>
                <a:latin typeface="Segoe UI Semibold"/>
              </a:rPr>
              <a:t>Apps / agents</a:t>
            </a:r>
          </a:p>
        </p:txBody>
      </p:sp>
      <p:sp>
        <p:nvSpPr>
          <p:cNvPr id="70" name="TextBox 69"/>
          <p:cNvSpPr txBox="1"/>
          <p:nvPr/>
        </p:nvSpPr>
        <p:spPr>
          <a:xfrm>
            <a:off x="905256" y="5129783"/>
            <a:ext cx="2066543" cy="228600"/>
          </a:xfrm>
          <a:prstGeom prst="rect">
            <a:avLst/>
          </a:prstGeom>
          <a:noFill/>
        </p:spPr>
        <p:txBody>
          <a:bodyPr wrap="square" lIns="0" rIns="0" tIns="0" bIns="0">
            <a:noAutofit/>
          </a:bodyPr>
          <a:lstStyle/>
          <a:p>
            <a:pPr>
              <a:lnSpc>
                <a:spcPct val="112000"/>
              </a:lnSpc>
              <a:spcBef>
                <a:spcPts val="0"/>
              </a:spcBef>
              <a:spcAft>
                <a:spcPts val="0"/>
              </a:spcAft>
            </a:pPr>
            <a:r>
              <a:rPr sz="1150">
                <a:solidFill>
                  <a:srgbClr val="B9C7DD"/>
                </a:solidFill>
                <a:latin typeface="Segoe UI"/>
              </a:rPr>
              <a:t>REST or MCP adapter</a:t>
            </a:r>
          </a:p>
        </p:txBody>
      </p:sp>
      <p:sp>
        <p:nvSpPr>
          <p:cNvPr id="71" name="TextBox 70"/>
          <p:cNvSpPr txBox="1"/>
          <p:nvPr/>
        </p:nvSpPr>
        <p:spPr>
          <a:xfrm>
            <a:off x="905256" y="5477255"/>
            <a:ext cx="2066543" cy="182880"/>
          </a:xfrm>
          <a:prstGeom prst="rect">
            <a:avLst/>
          </a:prstGeom>
          <a:noFill/>
        </p:spPr>
        <p:txBody>
          <a:bodyPr wrap="square" lIns="0" rIns="0" tIns="0" bIns="0">
            <a:noAutofit/>
          </a:bodyPr>
          <a:lstStyle/>
          <a:p>
            <a:pPr>
              <a:lnSpc>
                <a:spcPct val="112000"/>
              </a:lnSpc>
              <a:spcBef>
                <a:spcPts val="0"/>
              </a:spcBef>
              <a:spcAft>
                <a:spcPts val="0"/>
              </a:spcAft>
            </a:pPr>
            <a:r>
              <a:rPr sz="1000">
                <a:solidFill>
                  <a:srgbClr val="32D4F0"/>
                </a:solidFill>
                <a:latin typeface="Segoe UI Semibold"/>
              </a:rPr>
              <a:t>Client integration</a:t>
            </a:r>
          </a:p>
        </p:txBody>
      </p:sp>
      <p:sp>
        <p:nvSpPr>
          <p:cNvPr id="72" name="Rounded Rectangle 71"/>
          <p:cNvSpPr/>
          <p:nvPr/>
        </p:nvSpPr>
        <p:spPr>
          <a:xfrm>
            <a:off x="3502152" y="4590288"/>
            <a:ext cx="2414016" cy="1115568"/>
          </a:xfrm>
          <a:prstGeom prst="roundRect">
            <a:avLst>
              <a:gd name="adj" fmla="val 6000"/>
            </a:avLst>
          </a:prstGeom>
          <a:solidFill>
            <a:srgbClr val="17233D"/>
          </a:solidFill>
          <a:ln w="15240">
            <a:solidFill>
              <a:srgbClr val="2C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675888" y="4745736"/>
            <a:ext cx="2066543" cy="283464"/>
          </a:xfrm>
          <a:prstGeom prst="rect">
            <a:avLst/>
          </a:prstGeom>
          <a:noFill/>
        </p:spPr>
        <p:txBody>
          <a:bodyPr wrap="square" lIns="0" rIns="0" tIns="0" bIns="0">
            <a:noAutofit/>
          </a:bodyPr>
          <a:lstStyle/>
          <a:p>
            <a:pPr>
              <a:lnSpc>
                <a:spcPct val="112000"/>
              </a:lnSpc>
              <a:spcBef>
                <a:spcPts val="0"/>
              </a:spcBef>
              <a:spcAft>
                <a:spcPts val="0"/>
              </a:spcAft>
            </a:pPr>
            <a:r>
              <a:rPr sz="1700">
                <a:solidFill>
                  <a:srgbClr val="FFFFFF"/>
                </a:solidFill>
                <a:latin typeface="Segoe UI Semibold"/>
              </a:rPr>
              <a:t>Consume API</a:t>
            </a:r>
          </a:p>
        </p:txBody>
      </p:sp>
      <p:sp>
        <p:nvSpPr>
          <p:cNvPr id="74" name="TextBox 73"/>
          <p:cNvSpPr txBox="1"/>
          <p:nvPr/>
        </p:nvSpPr>
        <p:spPr>
          <a:xfrm>
            <a:off x="3675888" y="5129783"/>
            <a:ext cx="2066543" cy="228600"/>
          </a:xfrm>
          <a:prstGeom prst="rect">
            <a:avLst/>
          </a:prstGeom>
          <a:noFill/>
        </p:spPr>
        <p:txBody>
          <a:bodyPr wrap="square" lIns="0" rIns="0" tIns="0" bIns="0">
            <a:noAutofit/>
          </a:bodyPr>
          <a:lstStyle/>
          <a:p>
            <a:pPr>
              <a:lnSpc>
                <a:spcPct val="112000"/>
              </a:lnSpc>
              <a:spcBef>
                <a:spcPts val="0"/>
              </a:spcBef>
              <a:spcAft>
                <a:spcPts val="0"/>
              </a:spcAft>
            </a:pPr>
            <a:r>
              <a:rPr sz="1150">
                <a:solidFill>
                  <a:srgbClr val="B9C7DD"/>
                </a:solidFill>
                <a:latin typeface="Segoe UI"/>
              </a:rPr>
              <a:t>Authorize + bind release</a:t>
            </a:r>
          </a:p>
        </p:txBody>
      </p:sp>
      <p:pic>
        <p:nvPicPr>
          <p:cNvPr id="75" name="Picture 74" descr="apim.png"/>
          <p:cNvPicPr>
            <a:picLocks noChangeAspect="1"/>
          </p:cNvPicPr>
          <p:nvPr/>
        </p:nvPicPr>
        <p:blipFill>
          <a:blip r:embed="rId7"/>
          <a:stretch>
            <a:fillRect/>
          </a:stretch>
        </p:blipFill>
        <p:spPr>
          <a:xfrm>
            <a:off x="3657600" y="5422392"/>
            <a:ext cx="237744" cy="237744"/>
          </a:xfrm>
          <a:prstGeom prst="rect">
            <a:avLst/>
          </a:prstGeom>
        </p:spPr>
      </p:pic>
      <p:sp>
        <p:nvSpPr>
          <p:cNvPr id="76" name="TextBox 75"/>
          <p:cNvSpPr txBox="1"/>
          <p:nvPr/>
        </p:nvSpPr>
        <p:spPr>
          <a:xfrm>
            <a:off x="3977640" y="5477255"/>
            <a:ext cx="1764791" cy="182880"/>
          </a:xfrm>
          <a:prstGeom prst="rect">
            <a:avLst/>
          </a:prstGeom>
          <a:noFill/>
        </p:spPr>
        <p:txBody>
          <a:bodyPr wrap="square" lIns="0" rIns="0" tIns="0" bIns="0">
            <a:noAutofit/>
          </a:bodyPr>
          <a:lstStyle/>
          <a:p>
            <a:pPr>
              <a:lnSpc>
                <a:spcPct val="112000"/>
              </a:lnSpc>
              <a:spcBef>
                <a:spcPts val="0"/>
              </a:spcBef>
              <a:spcAft>
                <a:spcPts val="0"/>
              </a:spcAft>
            </a:pPr>
            <a:r>
              <a:rPr sz="1000">
                <a:solidFill>
                  <a:srgbClr val="32D4F0"/>
                </a:solidFill>
                <a:latin typeface="Segoe UI Semibold"/>
              </a:rPr>
              <a:t>APIM → Web → FastAPI</a:t>
            </a:r>
          </a:p>
        </p:txBody>
      </p:sp>
      <p:sp>
        <p:nvSpPr>
          <p:cNvPr id="77" name="Rounded Rectangle 76"/>
          <p:cNvSpPr/>
          <p:nvPr/>
        </p:nvSpPr>
        <p:spPr>
          <a:xfrm>
            <a:off x="6272784" y="4590288"/>
            <a:ext cx="2414016" cy="1115568"/>
          </a:xfrm>
          <a:prstGeom prst="roundRect">
            <a:avLst>
              <a:gd name="adj" fmla="val 6000"/>
            </a:avLst>
          </a:prstGeom>
          <a:solidFill>
            <a:srgbClr val="17233D"/>
          </a:solidFill>
          <a:ln w="15240">
            <a:solidFill>
              <a:srgbClr val="32D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446520" y="4745736"/>
            <a:ext cx="2066543" cy="457200"/>
          </a:xfrm>
          <a:prstGeom prst="rect">
            <a:avLst/>
          </a:prstGeom>
          <a:noFill/>
        </p:spPr>
        <p:txBody>
          <a:bodyPr wrap="square" lIns="0" rIns="0" tIns="0" bIns="0">
            <a:noAutofit/>
          </a:bodyPr>
          <a:lstStyle/>
          <a:p>
            <a:pPr>
              <a:lnSpc>
                <a:spcPct val="112000"/>
              </a:lnSpc>
              <a:spcBef>
                <a:spcPts val="0"/>
              </a:spcBef>
              <a:spcAft>
                <a:spcPts val="0"/>
              </a:spcAft>
            </a:pPr>
            <a:r>
              <a:rPr sz="1700">
                <a:solidFill>
                  <a:srgbClr val="FFFFFF"/>
                </a:solidFill>
                <a:latin typeface="Segoe UI Semibold"/>
              </a:rPr>
              <a:t>Retrieve + hydrate</a:t>
            </a:r>
          </a:p>
          <a:p>
            <a:pPr>
              <a:lnSpc>
                <a:spcPct val="112000"/>
              </a:lnSpc>
              <a:spcBef>
                <a:spcPts val="0"/>
              </a:spcBef>
              <a:spcAft>
                <a:spcPts val="0"/>
              </a:spcAft>
            </a:pPr>
            <a:r>
              <a:rPr sz="1200">
                <a:solidFill>
                  <a:srgbClr val="32D4F0"/>
                </a:solidFill>
                <a:latin typeface="Segoe UI Semibold"/>
              </a:rPr>
              <a:t>(CQRS)</a:t>
            </a:r>
          </a:p>
        </p:txBody>
      </p:sp>
      <p:sp>
        <p:nvSpPr>
          <p:cNvPr id="79" name="TextBox 78"/>
          <p:cNvSpPr txBox="1"/>
          <p:nvPr/>
        </p:nvSpPr>
        <p:spPr>
          <a:xfrm>
            <a:off x="6446520" y="5239512"/>
            <a:ext cx="2066543" cy="192024"/>
          </a:xfrm>
          <a:prstGeom prst="rect">
            <a:avLst/>
          </a:prstGeom>
          <a:noFill/>
        </p:spPr>
        <p:txBody>
          <a:bodyPr wrap="square" lIns="0" rIns="0" tIns="0" bIns="0">
            <a:noAutofit/>
          </a:bodyPr>
          <a:lstStyle/>
          <a:p>
            <a:pPr>
              <a:lnSpc>
                <a:spcPct val="112000"/>
              </a:lnSpc>
              <a:spcBef>
                <a:spcPts val="0"/>
              </a:spcBef>
              <a:spcAft>
                <a:spcPts val="0"/>
              </a:spcAft>
            </a:pPr>
            <a:r>
              <a:rPr sz="1150">
                <a:solidFill>
                  <a:srgbClr val="B9C7DD"/>
                </a:solidFill>
                <a:latin typeface="Segoe UI"/>
              </a:rPr>
              <a:t>Find IDs; load reviewed source</a:t>
            </a:r>
          </a:p>
        </p:txBody>
      </p:sp>
      <p:pic>
        <p:nvPicPr>
          <p:cNvPr id="80" name="Picture 79" descr="search.png"/>
          <p:cNvPicPr>
            <a:picLocks noChangeAspect="1"/>
          </p:cNvPicPr>
          <p:nvPr/>
        </p:nvPicPr>
        <p:blipFill>
          <a:blip r:embed="rId6"/>
          <a:stretch>
            <a:fillRect/>
          </a:stretch>
        </p:blipFill>
        <p:spPr>
          <a:xfrm>
            <a:off x="6428232" y="5422392"/>
            <a:ext cx="237744" cy="237744"/>
          </a:xfrm>
          <a:prstGeom prst="rect">
            <a:avLst/>
          </a:prstGeom>
        </p:spPr>
      </p:pic>
      <p:pic>
        <p:nvPicPr>
          <p:cNvPr id="81" name="Picture 80" descr="postgres.png"/>
          <p:cNvPicPr>
            <a:picLocks noChangeAspect="1"/>
          </p:cNvPicPr>
          <p:nvPr/>
        </p:nvPicPr>
        <p:blipFill>
          <a:blip r:embed="rId5"/>
          <a:stretch>
            <a:fillRect/>
          </a:stretch>
        </p:blipFill>
        <p:spPr>
          <a:xfrm>
            <a:off x="6711696" y="5422392"/>
            <a:ext cx="237744" cy="237744"/>
          </a:xfrm>
          <a:prstGeom prst="rect">
            <a:avLst/>
          </a:prstGeom>
        </p:spPr>
      </p:pic>
      <p:sp>
        <p:nvSpPr>
          <p:cNvPr id="82" name="TextBox 81"/>
          <p:cNvSpPr txBox="1"/>
          <p:nvPr/>
        </p:nvSpPr>
        <p:spPr>
          <a:xfrm>
            <a:off x="7050024" y="5477255"/>
            <a:ext cx="1463039" cy="182880"/>
          </a:xfrm>
          <a:prstGeom prst="rect">
            <a:avLst/>
          </a:prstGeom>
          <a:noFill/>
        </p:spPr>
        <p:txBody>
          <a:bodyPr wrap="square" lIns="0" rIns="0" tIns="0" bIns="0">
            <a:noAutofit/>
          </a:bodyPr>
          <a:lstStyle/>
          <a:p>
            <a:pPr>
              <a:lnSpc>
                <a:spcPct val="112000"/>
              </a:lnSpc>
              <a:spcBef>
                <a:spcPts val="0"/>
              </a:spcBef>
              <a:spcAft>
                <a:spcPts val="0"/>
              </a:spcAft>
            </a:pPr>
            <a:r>
              <a:rPr sz="1000">
                <a:solidFill>
                  <a:srgbClr val="32D4F0"/>
                </a:solidFill>
                <a:latin typeface="Segoe UI Semibold"/>
              </a:rPr>
              <a:t>AI Search + PostgreSQL</a:t>
            </a:r>
          </a:p>
        </p:txBody>
      </p:sp>
      <p:sp>
        <p:nvSpPr>
          <p:cNvPr id="83" name="Rounded Rectangle 82"/>
          <p:cNvSpPr/>
          <p:nvPr/>
        </p:nvSpPr>
        <p:spPr>
          <a:xfrm>
            <a:off x="9043416" y="4590288"/>
            <a:ext cx="2414016" cy="1115568"/>
          </a:xfrm>
          <a:prstGeom prst="roundRect">
            <a:avLst>
              <a:gd name="adj" fmla="val 6000"/>
            </a:avLst>
          </a:prstGeom>
          <a:solidFill>
            <a:srgbClr val="5B4DB1"/>
          </a:solidFill>
          <a:ln w="15240">
            <a:solidFill>
              <a:srgbClr val="5B4D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217152" y="4745736"/>
            <a:ext cx="2066543" cy="283464"/>
          </a:xfrm>
          <a:prstGeom prst="rect">
            <a:avLst/>
          </a:prstGeom>
          <a:noFill/>
        </p:spPr>
        <p:txBody>
          <a:bodyPr wrap="square" lIns="0" rIns="0" tIns="0" bIns="0">
            <a:noAutofit/>
          </a:bodyPr>
          <a:lstStyle/>
          <a:p>
            <a:pPr>
              <a:lnSpc>
                <a:spcPct val="112000"/>
              </a:lnSpc>
              <a:spcBef>
                <a:spcPts val="0"/>
              </a:spcBef>
              <a:spcAft>
                <a:spcPts val="0"/>
              </a:spcAft>
            </a:pPr>
            <a:r>
              <a:rPr sz="1700">
                <a:solidFill>
                  <a:srgbClr val="FFFFFF"/>
                </a:solidFill>
                <a:latin typeface="Segoe UI Semibold"/>
              </a:rPr>
              <a:t>Answer + receipt</a:t>
            </a:r>
          </a:p>
        </p:txBody>
      </p:sp>
      <p:sp>
        <p:nvSpPr>
          <p:cNvPr id="85" name="TextBox 84"/>
          <p:cNvSpPr txBox="1"/>
          <p:nvPr/>
        </p:nvSpPr>
        <p:spPr>
          <a:xfrm>
            <a:off x="9217152" y="5129783"/>
            <a:ext cx="2066543" cy="228600"/>
          </a:xfrm>
          <a:prstGeom prst="rect">
            <a:avLst/>
          </a:prstGeom>
          <a:noFill/>
        </p:spPr>
        <p:txBody>
          <a:bodyPr wrap="square" lIns="0" rIns="0" tIns="0" bIns="0">
            <a:noAutofit/>
          </a:bodyPr>
          <a:lstStyle/>
          <a:p>
            <a:pPr>
              <a:lnSpc>
                <a:spcPct val="112000"/>
              </a:lnSpc>
              <a:spcBef>
                <a:spcPts val="0"/>
              </a:spcBef>
              <a:spcAft>
                <a:spcPts val="0"/>
              </a:spcAft>
            </a:pPr>
            <a:r>
              <a:rPr sz="1150">
                <a:solidFill>
                  <a:srgbClr val="FFFFFF"/>
                </a:solidFill>
                <a:latin typeface="Segoe UI"/>
              </a:rPr>
              <a:t>Findings + gaps + citations</a:t>
            </a:r>
          </a:p>
        </p:txBody>
      </p:sp>
      <p:pic>
        <p:nvPicPr>
          <p:cNvPr id="86" name="Picture 85" descr="foundry.png"/>
          <p:cNvPicPr>
            <a:picLocks noChangeAspect="1"/>
          </p:cNvPicPr>
          <p:nvPr/>
        </p:nvPicPr>
        <p:blipFill>
          <a:blip r:embed="rId4"/>
          <a:stretch>
            <a:fillRect/>
          </a:stretch>
        </p:blipFill>
        <p:spPr>
          <a:xfrm>
            <a:off x="9198864" y="5422392"/>
            <a:ext cx="237744" cy="237744"/>
          </a:xfrm>
          <a:prstGeom prst="rect">
            <a:avLst/>
          </a:prstGeom>
        </p:spPr>
      </p:pic>
      <p:pic>
        <p:nvPicPr>
          <p:cNvPr id="87" name="Picture 86" descr="postgres.png"/>
          <p:cNvPicPr>
            <a:picLocks noChangeAspect="1"/>
          </p:cNvPicPr>
          <p:nvPr/>
        </p:nvPicPr>
        <p:blipFill>
          <a:blip r:embed="rId5"/>
          <a:stretch>
            <a:fillRect/>
          </a:stretch>
        </p:blipFill>
        <p:spPr>
          <a:xfrm>
            <a:off x="9482328" y="5422392"/>
            <a:ext cx="237744" cy="237744"/>
          </a:xfrm>
          <a:prstGeom prst="rect">
            <a:avLst/>
          </a:prstGeom>
        </p:spPr>
      </p:pic>
      <p:sp>
        <p:nvSpPr>
          <p:cNvPr id="88" name="TextBox 87"/>
          <p:cNvSpPr txBox="1"/>
          <p:nvPr/>
        </p:nvSpPr>
        <p:spPr>
          <a:xfrm>
            <a:off x="9820656" y="5477255"/>
            <a:ext cx="1463039" cy="182880"/>
          </a:xfrm>
          <a:prstGeom prst="rect">
            <a:avLst/>
          </a:prstGeom>
          <a:noFill/>
        </p:spPr>
        <p:txBody>
          <a:bodyPr wrap="square" lIns="0" rIns="0" tIns="0" bIns="0">
            <a:noAutofit/>
          </a:bodyPr>
          <a:lstStyle/>
          <a:p>
            <a:pPr>
              <a:lnSpc>
                <a:spcPct val="112000"/>
              </a:lnSpc>
              <a:spcBef>
                <a:spcPts val="0"/>
              </a:spcBef>
              <a:spcAft>
                <a:spcPts val="0"/>
              </a:spcAft>
            </a:pPr>
            <a:r>
              <a:rPr sz="1000">
                <a:solidFill>
                  <a:srgbClr val="32D4F0"/>
                </a:solidFill>
                <a:latin typeface="Segoe UI Semibold"/>
              </a:rPr>
              <a:t>Foundry + PostgreSQL</a:t>
            </a:r>
          </a:p>
        </p:txBody>
      </p:sp>
      <p:sp>
        <p:nvSpPr>
          <p:cNvPr id="89" name="Right Arrow 88"/>
          <p:cNvSpPr/>
          <p:nvPr/>
        </p:nvSpPr>
        <p:spPr>
          <a:xfrm>
            <a:off x="3209544" y="5084064"/>
            <a:ext cx="228600" cy="128016"/>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ight Arrow 89"/>
          <p:cNvSpPr/>
          <p:nvPr/>
        </p:nvSpPr>
        <p:spPr>
          <a:xfrm>
            <a:off x="5980176" y="5084064"/>
            <a:ext cx="228600" cy="128016"/>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ight Arrow 90"/>
          <p:cNvSpPr/>
          <p:nvPr/>
        </p:nvSpPr>
        <p:spPr>
          <a:xfrm>
            <a:off x="8750808" y="5084064"/>
            <a:ext cx="228600" cy="128016"/>
          </a:xfrm>
          <a:prstGeom prst="rightArrow">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31520" y="5797296"/>
            <a:ext cx="10725912" cy="192024"/>
          </a:xfrm>
          <a:prstGeom prst="rect">
            <a:avLst/>
          </a:prstGeom>
          <a:noFill/>
        </p:spPr>
        <p:txBody>
          <a:bodyPr wrap="square" lIns="0" rIns="0" tIns="0" bIns="0">
            <a:noAutofit/>
          </a:bodyPr>
          <a:lstStyle/>
          <a:p>
            <a:pPr>
              <a:lnSpc>
                <a:spcPct val="112000"/>
              </a:lnSpc>
              <a:spcBef>
                <a:spcPts val="0"/>
              </a:spcBef>
              <a:spcAft>
                <a:spcPts val="0"/>
              </a:spcAft>
            </a:pPr>
            <a:r>
              <a:rPr sz="1050">
                <a:solidFill>
                  <a:srgbClr val="B9C7DD"/>
                </a:solidFill>
                <a:latin typeface="Segoe UI Semibold"/>
              </a:rPr>
              <a:t>PATTERN  External secondary index / Index Table  |  CQRS-style read projection  |  RAG for case answers</a:t>
            </a:r>
          </a:p>
        </p:txBody>
      </p:sp>
      <p:pic>
        <p:nvPicPr>
          <p:cNvPr id="93" name="Picture 92" descr="containerapps.png"/>
          <p:cNvPicPr>
            <a:picLocks noChangeAspect="1"/>
          </p:cNvPicPr>
          <p:nvPr/>
        </p:nvPicPr>
        <p:blipFill>
          <a:blip r:embed="rId8"/>
          <a:stretch>
            <a:fillRect/>
          </a:stretch>
        </p:blipFill>
        <p:spPr>
          <a:xfrm>
            <a:off x="987552" y="6181344"/>
            <a:ext cx="246888" cy="246888"/>
          </a:xfrm>
          <a:prstGeom prst="rect">
            <a:avLst/>
          </a:prstGeom>
        </p:spPr>
      </p:pic>
      <p:sp>
        <p:nvSpPr>
          <p:cNvPr id="94" name="Rectangle 93"/>
          <p:cNvSpPr/>
          <p:nvPr/>
        </p:nvSpPr>
        <p:spPr>
          <a:xfrm>
            <a:off x="10250424" y="3813048"/>
            <a:ext cx="20320" cy="201167"/>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479792" y="4014215"/>
            <a:ext cx="2770632" cy="20320"/>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479792" y="4014215"/>
            <a:ext cx="20320" cy="429769"/>
          </a:xfrm>
          <a:prstGeom prst="rect">
            <a:avLst/>
          </a:prstGeom>
          <a:solidFill>
            <a:srgbClr val="32D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Picture 96" descr="blob.png"/>
          <p:cNvPicPr>
            <a:picLocks noChangeAspect="1"/>
          </p:cNvPicPr>
          <p:nvPr/>
        </p:nvPicPr>
        <p:blipFill>
          <a:blip r:embed="rId9"/>
          <a:stretch>
            <a:fillRect/>
          </a:stretch>
        </p:blipFill>
        <p:spPr>
          <a:xfrm>
            <a:off x="1170432" y="3520440"/>
            <a:ext cx="237744" cy="23774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descr="background"/>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descr="INTEGRATION PATTERNS"/>
          <p:cNvSpPr txBox="1"/>
          <p:nvPr/>
        </p:nvSpPr>
        <p:spPr>
          <a:xfrm>
            <a:off x="731520" y="457200"/>
            <a:ext cx="8229600" cy="256032"/>
          </a:xfrm>
          <a:prstGeom prst="rect">
            <a:avLst/>
          </a:prstGeom>
          <a:noFill/>
        </p:spPr>
        <p:txBody>
          <a:bodyPr wrap="square" lIns="0" rIns="0" tIns="0" bIns="0">
            <a:spAutoFit/>
          </a:bodyPr>
          <a:lstStyle/>
          <a:p>
            <a:pPr algn="l">
              <a:spcAft>
                <a:spcPts val="0"/>
              </a:spcAft>
            </a:pPr>
            <a:r>
              <a:rPr sz="1100">
                <a:solidFill>
                  <a:srgbClr val="5B4DB1"/>
                </a:solidFill>
                <a:latin typeface="Segoe UI Semibold"/>
              </a:rPr>
              <a:t>INTEGRATION &amp; EXPERIENCE</a:t>
            </a:r>
          </a:p>
        </p:txBody>
      </p:sp>
      <p:sp>
        <p:nvSpPr>
          <p:cNvPr id="4" name="act-label" descr="CAPABILITY · 27"/>
          <p:cNvSpPr txBox="1"/>
          <p:nvPr/>
        </p:nvSpPr>
        <p:spPr>
          <a:xfrm>
            <a:off x="8869680" y="457200"/>
            <a:ext cx="2587752" cy="256032"/>
          </a:xfrm>
          <a:prstGeom prst="rect">
            <a:avLst/>
          </a:prstGeom>
          <a:noFill/>
        </p:spPr>
        <p:txBody>
          <a:bodyPr wrap="square" lIns="0" rIns="0" tIns="0" bIns="0">
            <a:spAutoFit/>
          </a:bodyPr>
          <a:lstStyle/>
          <a:p>
            <a:pPr algn="r">
              <a:spcAft>
                <a:spcPts val="0"/>
              </a:spcAft>
            </a:pPr>
            <a:r>
              <a:rPr sz="1000">
                <a:solidFill>
                  <a:srgbClr val="5C687C"/>
                </a:solidFill>
                <a:latin typeface="Segoe UI Semibold"/>
              </a:rPr>
              <a:t>EXPERIENCE · 08</a:t>
            </a:r>
          </a:p>
        </p:txBody>
      </p:sp>
      <p:sp>
        <p:nvSpPr>
          <p:cNvPr id="5" name="title" descr="Wire it into what you already run"/>
          <p:cNvSpPr txBox="1"/>
          <p:nvPr/>
        </p:nvSpPr>
        <p:spPr>
          <a:xfrm>
            <a:off x="731520" y="777240"/>
            <a:ext cx="10725912" cy="731520"/>
          </a:xfrm>
          <a:prstGeom prst="rect">
            <a:avLst/>
          </a:prstGeom>
          <a:noFill/>
        </p:spPr>
        <p:txBody>
          <a:bodyPr wrap="square" lIns="0" rIns="0" tIns="0" bIns="0">
            <a:noAutofit/>
          </a:bodyPr>
          <a:lstStyle/>
          <a:p>
            <a:pPr algn="l">
              <a:lnSpc>
                <a:spcPct val="112000"/>
              </a:lnSpc>
              <a:spcBef>
                <a:spcPts val="0"/>
              </a:spcBef>
              <a:spcAft>
                <a:spcPts val="0"/>
              </a:spcAft>
            </a:pPr>
            <a:r>
              <a:rPr sz="3000">
                <a:solidFill>
                  <a:srgbClr val="0A1224"/>
                </a:solidFill>
                <a:latin typeface="Segoe UI Light"/>
              </a:rPr>
              <a:t>One policy service. Connected to every channel.</a:t>
            </a:r>
          </a:p>
        </p:txBody>
      </p:sp>
      <p:sp>
        <p:nvSpPr>
          <p:cNvPr id="6" name="accent-bar" descr="accent-bar"/>
          <p:cNvSpPr/>
          <p:nvPr/>
        </p:nvSpPr>
        <p:spPr>
          <a:xfrm>
            <a:off x="731520" y="1453896"/>
            <a:ext cx="960120"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title" descr="Four external patterns, one interface. Each is an ordinary HTTP call against the published register."/>
          <p:cNvSpPr txBox="1"/>
          <p:nvPr/>
        </p:nvSpPr>
        <p:spPr>
          <a:xfrm>
            <a:off x="731520" y="1746504"/>
            <a:ext cx="10725912" cy="548640"/>
          </a:xfrm>
          <a:prstGeom prst="rect">
            <a:avLst/>
          </a:prstGeom>
          <a:noFill/>
        </p:spPr>
        <p:txBody>
          <a:bodyPr wrap="square" lIns="0" rIns="0" tIns="0" bIns="0">
            <a:noAutofit/>
          </a:bodyPr>
          <a:lstStyle/>
          <a:p>
            <a:pPr algn="l">
              <a:lnSpc>
                <a:spcPct val="112000"/>
              </a:lnSpc>
              <a:spcBef>
                <a:spcPts val="0"/>
              </a:spcBef>
              <a:spcAft>
                <a:spcPts val="0"/>
              </a:spcAft>
            </a:pPr>
            <a:r>
              <a:rPr sz="1450">
                <a:solidFill>
                  <a:srgbClr val="5C687C"/>
                </a:solidFill>
                <a:latin typeface="Segoe UI"/>
              </a:rPr>
              <a:t>Reuse reviewed evidence through Employee Desk, your application APIs and the operator-managed MCP adapter.</a:t>
            </a:r>
          </a:p>
        </p:txBody>
      </p:sp>
      <p:sp>
        <p:nvSpPr>
          <p:cNvPr id="8" name="Rounded Rectangle 7"/>
          <p:cNvSpPr/>
          <p:nvPr/>
        </p:nvSpPr>
        <p:spPr>
          <a:xfrm>
            <a:off x="4233672" y="2660904"/>
            <a:ext cx="3721608" cy="365760"/>
          </a:xfrm>
          <a:prstGeom prst="roundRect">
            <a:avLst>
              <a:gd name="adj" fmla="val 7000"/>
            </a:avLst>
          </a:prstGeom>
          <a:solidFill>
            <a:srgbClr val="EDE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70832" y="2756916"/>
            <a:ext cx="3447288" cy="201168"/>
          </a:xfrm>
          <a:prstGeom prst="rect">
            <a:avLst/>
          </a:prstGeom>
          <a:noFill/>
        </p:spPr>
        <p:txBody>
          <a:bodyPr wrap="square" lIns="0" rIns="0" tIns="0" bIns="0">
            <a:noAutofit/>
          </a:bodyPr>
          <a:lstStyle/>
          <a:p>
            <a:pPr algn="ctr">
              <a:lnSpc>
                <a:spcPct val="112000"/>
              </a:lnSpc>
              <a:spcBef>
                <a:spcPts val="0"/>
              </a:spcBef>
              <a:spcAft>
                <a:spcPts val="0"/>
              </a:spcAft>
            </a:pPr>
            <a:r>
              <a:rPr sz="1150">
                <a:solidFill>
                  <a:srgbClr val="5B4DB1"/>
                </a:solidFill>
                <a:latin typeface="Segoe UI Semibold"/>
              </a:rPr>
              <a:t>Reviewed release + source evidence</a:t>
            </a:r>
          </a:p>
        </p:txBody>
      </p:sp>
      <p:sp>
        <p:nvSpPr>
          <p:cNvPr id="10" name="Rectangle 9"/>
          <p:cNvSpPr/>
          <p:nvPr/>
        </p:nvSpPr>
        <p:spPr>
          <a:xfrm>
            <a:off x="6099048" y="3026664"/>
            <a:ext cx="21590" cy="246888"/>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wn Arrow 10"/>
          <p:cNvSpPr/>
          <p:nvPr/>
        </p:nvSpPr>
        <p:spPr>
          <a:xfrm>
            <a:off x="6044184" y="3118104"/>
            <a:ext cx="109728" cy="155448"/>
          </a:xfrm>
          <a:prstGeom prst="down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exagon 11"/>
          <p:cNvSpPr/>
          <p:nvPr/>
        </p:nvSpPr>
        <p:spPr>
          <a:xfrm>
            <a:off x="4663440" y="3273552"/>
            <a:ext cx="2871216" cy="1755648"/>
          </a:xfrm>
          <a:prstGeom prst="hexagon">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3680460"/>
            <a:ext cx="2048256" cy="310896"/>
          </a:xfrm>
          <a:prstGeom prst="rect">
            <a:avLst/>
          </a:prstGeom>
          <a:noFill/>
        </p:spPr>
        <p:txBody>
          <a:bodyPr wrap="square" lIns="0" rIns="0" tIns="0" bIns="0">
            <a:noAutofit/>
          </a:bodyPr>
          <a:lstStyle/>
          <a:p>
            <a:pPr algn="ctr">
              <a:lnSpc>
                <a:spcPct val="112000"/>
              </a:lnSpc>
              <a:spcBef>
                <a:spcPts val="0"/>
              </a:spcBef>
              <a:spcAft>
                <a:spcPts val="0"/>
              </a:spcAft>
            </a:pPr>
            <a:r>
              <a:rPr sz="2100">
                <a:solidFill>
                  <a:srgbClr val="FFFFFF"/>
                </a:solidFill>
                <a:latin typeface="Segoe UI Semibold"/>
              </a:rPr>
              <a:t>VerbAItim</a:t>
            </a:r>
          </a:p>
        </p:txBody>
      </p:sp>
      <p:sp>
        <p:nvSpPr>
          <p:cNvPr id="14" name="TextBox 13"/>
          <p:cNvSpPr txBox="1"/>
          <p:nvPr/>
        </p:nvSpPr>
        <p:spPr>
          <a:xfrm>
            <a:off x="4928616" y="4114800"/>
            <a:ext cx="2340864" cy="228600"/>
          </a:xfrm>
          <a:prstGeom prst="rect">
            <a:avLst/>
          </a:prstGeom>
          <a:noFill/>
        </p:spPr>
        <p:txBody>
          <a:bodyPr wrap="square" lIns="0" rIns="0" tIns="0" bIns="0">
            <a:noAutofit/>
          </a:bodyPr>
          <a:lstStyle/>
          <a:p>
            <a:pPr algn="ctr">
              <a:lnSpc>
                <a:spcPct val="112000"/>
              </a:lnSpc>
              <a:spcBef>
                <a:spcPts val="0"/>
              </a:spcBef>
              <a:spcAft>
                <a:spcPts val="0"/>
              </a:spcAft>
            </a:pPr>
            <a:r>
              <a:rPr sz="1300">
                <a:solidFill>
                  <a:srgbClr val="FFFFFF"/>
                </a:solidFill>
                <a:latin typeface="Segoe UI"/>
              </a:rPr>
              <a:t>Governed policy API</a:t>
            </a:r>
          </a:p>
        </p:txBody>
      </p:sp>
      <p:sp>
        <p:nvSpPr>
          <p:cNvPr id="15" name="TextBox 14"/>
          <p:cNvSpPr txBox="1"/>
          <p:nvPr/>
        </p:nvSpPr>
        <p:spPr>
          <a:xfrm>
            <a:off x="5010912" y="4517136"/>
            <a:ext cx="2176272" cy="210312"/>
          </a:xfrm>
          <a:prstGeom prst="rect">
            <a:avLst/>
          </a:prstGeom>
          <a:noFill/>
        </p:spPr>
        <p:txBody>
          <a:bodyPr wrap="square" lIns="0" rIns="0" tIns="0" bIns="0">
            <a:noAutofit/>
          </a:bodyPr>
          <a:lstStyle/>
          <a:p>
            <a:pPr algn="ctr">
              <a:lnSpc>
                <a:spcPct val="112000"/>
              </a:lnSpc>
              <a:spcBef>
                <a:spcPts val="0"/>
              </a:spcBef>
              <a:spcAft>
                <a:spcPts val="0"/>
              </a:spcAft>
            </a:pPr>
            <a:r>
              <a:rPr sz="1150">
                <a:solidFill>
                  <a:srgbClr val="FFFFFF"/>
                </a:solidFill>
                <a:latin typeface="Segoe UI"/>
              </a:rPr>
              <a:t>Citations + receipts</a:t>
            </a:r>
          </a:p>
        </p:txBody>
      </p:sp>
      <p:sp>
        <p:nvSpPr>
          <p:cNvPr id="16" name="TextBox 15"/>
          <p:cNvSpPr txBox="1"/>
          <p:nvPr/>
        </p:nvSpPr>
        <p:spPr>
          <a:xfrm>
            <a:off x="4553712" y="5257800"/>
            <a:ext cx="3090672" cy="512064"/>
          </a:xfrm>
          <a:prstGeom prst="rect">
            <a:avLst/>
          </a:prstGeom>
          <a:noFill/>
        </p:spPr>
        <p:txBody>
          <a:bodyPr wrap="square" lIns="0" rIns="0" tIns="0" bIns="0">
            <a:noAutofit/>
          </a:bodyPr>
          <a:lstStyle/>
          <a:p>
            <a:pPr algn="ctr">
              <a:lnSpc>
                <a:spcPct val="112000"/>
              </a:lnSpc>
              <a:spcBef>
                <a:spcPts val="0"/>
              </a:spcBef>
              <a:spcAft>
                <a:spcPts val="0"/>
              </a:spcAft>
            </a:pPr>
            <a:r>
              <a:rPr sz="1200">
                <a:solidFill>
                  <a:srgbClr val="5C687C"/>
                </a:solidFill>
                <a:latin typeface="Segoe UI"/>
              </a:rPr>
              <a:t>Request in.</a:t>
            </a:r>
          </a:p>
          <a:p>
            <a:pPr algn="ctr">
              <a:lnSpc>
                <a:spcPct val="112000"/>
              </a:lnSpc>
              <a:spcBef>
                <a:spcPts val="0"/>
              </a:spcBef>
              <a:spcAft>
                <a:spcPts val="0"/>
              </a:spcAft>
            </a:pPr>
            <a:r>
              <a:rPr sz="1200">
                <a:solidFill>
                  <a:srgbClr val="5C687C"/>
                </a:solidFill>
                <a:latin typeface="Segoe UI"/>
              </a:rPr>
              <a:t>Evidence-backed result out.</a:t>
            </a:r>
          </a:p>
        </p:txBody>
      </p:sp>
      <p:sp>
        <p:nvSpPr>
          <p:cNvPr id="17" name="Rounded Rectangle 16"/>
          <p:cNvSpPr/>
          <p:nvPr/>
        </p:nvSpPr>
        <p:spPr>
          <a:xfrm>
            <a:off x="731520" y="2688336"/>
            <a:ext cx="3090672" cy="1133856"/>
          </a:xfrm>
          <a:prstGeom prst="roundRect">
            <a:avLst>
              <a:gd name="adj" fmla="val 7000"/>
            </a:avLst>
          </a:prstGeom>
          <a:solidFill>
            <a:srgbClr val="EDEAF9"/>
          </a:solidFill>
          <a:ln w="15240">
            <a:solidFill>
              <a:srgbClr val="5B4D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2798064"/>
            <a:ext cx="2670048" cy="173736"/>
          </a:xfrm>
          <a:prstGeom prst="rect">
            <a:avLst/>
          </a:prstGeom>
          <a:noFill/>
        </p:spPr>
        <p:txBody>
          <a:bodyPr wrap="square" lIns="0" rIns="0" tIns="0" bIns="0">
            <a:noAutofit/>
          </a:bodyPr>
          <a:lstStyle/>
          <a:p>
            <a:pPr>
              <a:lnSpc>
                <a:spcPct val="112000"/>
              </a:lnSpc>
              <a:spcBef>
                <a:spcPts val="0"/>
              </a:spcBef>
              <a:spcAft>
                <a:spcPts val="0"/>
              </a:spcAft>
            </a:pPr>
            <a:r>
              <a:rPr sz="950">
                <a:solidFill>
                  <a:srgbClr val="5B4DB1"/>
                </a:solidFill>
                <a:latin typeface="Segoe UI Semibold"/>
              </a:rPr>
              <a:t>SUPPLIED / SEPARATELY HOSTED</a:t>
            </a:r>
          </a:p>
        </p:txBody>
      </p:sp>
      <p:sp>
        <p:nvSpPr>
          <p:cNvPr id="19" name="TextBox 18"/>
          <p:cNvSpPr txBox="1"/>
          <p:nvPr/>
        </p:nvSpPr>
        <p:spPr>
          <a:xfrm>
            <a:off x="941832" y="3099816"/>
            <a:ext cx="2231136" cy="265176"/>
          </a:xfrm>
          <a:prstGeom prst="rect">
            <a:avLst/>
          </a:prstGeom>
          <a:noFill/>
        </p:spPr>
        <p:txBody>
          <a:bodyPr wrap="square" lIns="0" rIns="0" tIns="0" bIns="0">
            <a:noAutofit/>
          </a:bodyPr>
          <a:lstStyle/>
          <a:p>
            <a:pPr>
              <a:lnSpc>
                <a:spcPct val="112000"/>
              </a:lnSpc>
              <a:spcBef>
                <a:spcPts val="0"/>
              </a:spcBef>
              <a:spcAft>
                <a:spcPts val="0"/>
              </a:spcAft>
            </a:pPr>
            <a:r>
              <a:rPr sz="1650">
                <a:solidFill>
                  <a:srgbClr val="0A1224"/>
                </a:solidFill>
                <a:latin typeface="Segoe UI Semibold"/>
              </a:rPr>
              <a:t>Employee Desk</a:t>
            </a:r>
          </a:p>
        </p:txBody>
      </p:sp>
      <p:sp>
        <p:nvSpPr>
          <p:cNvPr id="20" name="TextBox 19"/>
          <p:cNvSpPr txBox="1"/>
          <p:nvPr/>
        </p:nvSpPr>
        <p:spPr>
          <a:xfrm>
            <a:off x="941832" y="3538728"/>
            <a:ext cx="2670048" cy="201168"/>
          </a:xfrm>
          <a:prstGeom prst="rect">
            <a:avLst/>
          </a:prstGeom>
          <a:noFill/>
        </p:spPr>
        <p:txBody>
          <a:bodyPr wrap="square" lIns="0" rIns="0" tIns="0" bIns="0">
            <a:noAutofit/>
          </a:bodyPr>
          <a:lstStyle/>
          <a:p>
            <a:pPr>
              <a:lnSpc>
                <a:spcPct val="112000"/>
              </a:lnSpc>
              <a:spcBef>
                <a:spcPts val="0"/>
              </a:spcBef>
              <a:spcAft>
                <a:spcPts val="0"/>
              </a:spcAft>
            </a:pPr>
            <a:r>
              <a:rPr sz="1100">
                <a:solidFill>
                  <a:srgbClr val="5C687C"/>
                </a:solidFill>
                <a:latin typeface="Segoe UI"/>
              </a:rPr>
              <a:t>Scenarios, Information and Chat</a:t>
            </a:r>
          </a:p>
        </p:txBody>
      </p:sp>
      <p:sp>
        <p:nvSpPr>
          <p:cNvPr id="21" name="Oval 20"/>
          <p:cNvSpPr/>
          <p:nvPr/>
        </p:nvSpPr>
        <p:spPr>
          <a:xfrm>
            <a:off x="3447288" y="3127248"/>
            <a:ext cx="118872" cy="118872"/>
          </a:xfrm>
          <a:prstGeom prst="ellipse">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383280" y="3282696"/>
            <a:ext cx="256032" cy="128016"/>
          </a:xfrm>
          <a:prstGeom prst="roundRect">
            <a:avLst>
              <a:gd name="adj" fmla="val 7000"/>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66760" y="2688336"/>
            <a:ext cx="3090672" cy="1133856"/>
          </a:xfrm>
          <a:prstGeom prst="roundRect">
            <a:avLst>
              <a:gd name="adj" fmla="val 7000"/>
            </a:avLst>
          </a:prstGeom>
          <a:solidFill>
            <a:srgbClr val="FFFFFF"/>
          </a:solidFill>
          <a:ln w="1524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77072" y="2798064"/>
            <a:ext cx="2670048" cy="173736"/>
          </a:xfrm>
          <a:prstGeom prst="rect">
            <a:avLst/>
          </a:prstGeom>
          <a:noFill/>
        </p:spPr>
        <p:txBody>
          <a:bodyPr wrap="square" lIns="0" rIns="0" tIns="0" bIns="0">
            <a:noAutofit/>
          </a:bodyPr>
          <a:lstStyle/>
          <a:p>
            <a:pPr>
              <a:lnSpc>
                <a:spcPct val="112000"/>
              </a:lnSpc>
              <a:spcBef>
                <a:spcPts val="0"/>
              </a:spcBef>
              <a:spcAft>
                <a:spcPts val="0"/>
              </a:spcAft>
            </a:pPr>
            <a:r>
              <a:rPr sz="950">
                <a:solidFill>
                  <a:srgbClr val="5B4DB1"/>
                </a:solidFill>
                <a:latin typeface="Segoe UI Semibold"/>
              </a:rPr>
              <a:t>OPERATOR-MANAGED MCP</a:t>
            </a:r>
          </a:p>
        </p:txBody>
      </p:sp>
      <p:sp>
        <p:nvSpPr>
          <p:cNvPr id="25" name="TextBox 24"/>
          <p:cNvSpPr txBox="1"/>
          <p:nvPr/>
        </p:nvSpPr>
        <p:spPr>
          <a:xfrm>
            <a:off x="8577072" y="3099816"/>
            <a:ext cx="2231136" cy="265176"/>
          </a:xfrm>
          <a:prstGeom prst="rect">
            <a:avLst/>
          </a:prstGeom>
          <a:noFill/>
        </p:spPr>
        <p:txBody>
          <a:bodyPr wrap="square" lIns="0" rIns="0" tIns="0" bIns="0">
            <a:noAutofit/>
          </a:bodyPr>
          <a:lstStyle/>
          <a:p>
            <a:pPr>
              <a:lnSpc>
                <a:spcPct val="112000"/>
              </a:lnSpc>
              <a:spcBef>
                <a:spcPts val="0"/>
              </a:spcBef>
              <a:spcAft>
                <a:spcPts val="0"/>
              </a:spcAft>
            </a:pPr>
            <a:r>
              <a:rPr sz="1650">
                <a:solidFill>
                  <a:srgbClr val="0A1224"/>
                </a:solidFill>
                <a:latin typeface="Segoe UI Semibold"/>
              </a:rPr>
              <a:t>AI agents + copilots</a:t>
            </a:r>
          </a:p>
        </p:txBody>
      </p:sp>
      <p:sp>
        <p:nvSpPr>
          <p:cNvPr id="26" name="TextBox 25"/>
          <p:cNvSpPr txBox="1"/>
          <p:nvPr/>
        </p:nvSpPr>
        <p:spPr>
          <a:xfrm>
            <a:off x="8577072" y="3538728"/>
            <a:ext cx="2670048" cy="201168"/>
          </a:xfrm>
          <a:prstGeom prst="rect">
            <a:avLst/>
          </a:prstGeom>
          <a:noFill/>
        </p:spPr>
        <p:txBody>
          <a:bodyPr wrap="square" lIns="0" rIns="0" tIns="0" bIns="0">
            <a:noAutofit/>
          </a:bodyPr>
          <a:lstStyle/>
          <a:p>
            <a:pPr>
              <a:lnSpc>
                <a:spcPct val="112000"/>
              </a:lnSpc>
              <a:spcBef>
                <a:spcPts val="0"/>
              </a:spcBef>
              <a:spcAft>
                <a:spcPts val="0"/>
              </a:spcAft>
            </a:pPr>
            <a:r>
              <a:rPr sz="1100">
                <a:solidFill>
                  <a:srgbClr val="5C687C"/>
                </a:solidFill>
                <a:latin typeface="Segoe UI"/>
              </a:rPr>
              <a:t>Readiness, answer and receipt tools</a:t>
            </a:r>
          </a:p>
        </p:txBody>
      </p:sp>
      <p:sp>
        <p:nvSpPr>
          <p:cNvPr id="27" name="Hexagon 26"/>
          <p:cNvSpPr/>
          <p:nvPr/>
        </p:nvSpPr>
        <p:spPr>
          <a:xfrm>
            <a:off x="10972800" y="3108960"/>
            <a:ext cx="347472" cy="329184"/>
          </a:xfrm>
          <a:prstGeom prst="hexagon">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91088" y="3195828"/>
            <a:ext cx="310896" cy="155448"/>
          </a:xfrm>
          <a:prstGeom prst="rect">
            <a:avLst/>
          </a:prstGeom>
          <a:noFill/>
        </p:spPr>
        <p:txBody>
          <a:bodyPr wrap="square" lIns="0" rIns="0" tIns="0" bIns="0">
            <a:noAutofit/>
          </a:bodyPr>
          <a:lstStyle/>
          <a:p>
            <a:pPr algn="ctr">
              <a:lnSpc>
                <a:spcPct val="112000"/>
              </a:lnSpc>
              <a:spcBef>
                <a:spcPts val="0"/>
              </a:spcBef>
              <a:spcAft>
                <a:spcPts val="0"/>
              </a:spcAft>
            </a:pPr>
            <a:r>
              <a:rPr sz="900">
                <a:solidFill>
                  <a:srgbClr val="FFFFFF"/>
                </a:solidFill>
                <a:latin typeface="Segoe UI Semibold"/>
              </a:rPr>
              <a:t>AI</a:t>
            </a:r>
          </a:p>
        </p:txBody>
      </p:sp>
      <p:sp>
        <p:nvSpPr>
          <p:cNvPr id="29" name="Rounded Rectangle 28"/>
          <p:cNvSpPr/>
          <p:nvPr/>
        </p:nvSpPr>
        <p:spPr>
          <a:xfrm>
            <a:off x="731520" y="4809744"/>
            <a:ext cx="3090672" cy="1133856"/>
          </a:xfrm>
          <a:prstGeom prst="roundRect">
            <a:avLst>
              <a:gd name="adj" fmla="val 7000"/>
            </a:avLst>
          </a:prstGeom>
          <a:solidFill>
            <a:srgbClr val="FFFFFF"/>
          </a:solidFill>
          <a:ln w="1524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4919472"/>
            <a:ext cx="2670048" cy="173736"/>
          </a:xfrm>
          <a:prstGeom prst="rect">
            <a:avLst/>
          </a:prstGeom>
          <a:noFill/>
        </p:spPr>
        <p:txBody>
          <a:bodyPr wrap="square" lIns="0" rIns="0" tIns="0" bIns="0">
            <a:noAutofit/>
          </a:bodyPr>
          <a:lstStyle/>
          <a:p>
            <a:pPr>
              <a:lnSpc>
                <a:spcPct val="112000"/>
              </a:lnSpc>
              <a:spcBef>
                <a:spcPts val="0"/>
              </a:spcBef>
              <a:spcAft>
                <a:spcPts val="0"/>
              </a:spcAft>
            </a:pPr>
            <a:r>
              <a:rPr sz="950">
                <a:solidFill>
                  <a:srgbClr val="5B4DB1"/>
                </a:solidFill>
                <a:latin typeface="Segoe UI Semibold"/>
              </a:rPr>
              <a:t>REST / OPENAPI INTEGRATION</a:t>
            </a:r>
          </a:p>
        </p:txBody>
      </p:sp>
      <p:sp>
        <p:nvSpPr>
          <p:cNvPr id="31" name="TextBox 30"/>
          <p:cNvSpPr txBox="1"/>
          <p:nvPr/>
        </p:nvSpPr>
        <p:spPr>
          <a:xfrm>
            <a:off x="941832" y="5221224"/>
            <a:ext cx="2231136" cy="265176"/>
          </a:xfrm>
          <a:prstGeom prst="rect">
            <a:avLst/>
          </a:prstGeom>
          <a:noFill/>
        </p:spPr>
        <p:txBody>
          <a:bodyPr wrap="square" lIns="0" rIns="0" tIns="0" bIns="0">
            <a:noAutofit/>
          </a:bodyPr>
          <a:lstStyle/>
          <a:p>
            <a:pPr>
              <a:lnSpc>
                <a:spcPct val="112000"/>
              </a:lnSpc>
              <a:spcBef>
                <a:spcPts val="0"/>
              </a:spcBef>
              <a:spcAft>
                <a:spcPts val="0"/>
              </a:spcAft>
            </a:pPr>
            <a:r>
              <a:rPr sz="1650">
                <a:solidFill>
                  <a:srgbClr val="0A1224"/>
                </a:solidFill>
                <a:latin typeface="Segoe UI Semibold"/>
              </a:rPr>
              <a:t>Service applications</a:t>
            </a:r>
          </a:p>
        </p:txBody>
      </p:sp>
      <p:sp>
        <p:nvSpPr>
          <p:cNvPr id="32" name="TextBox 31"/>
          <p:cNvSpPr txBox="1"/>
          <p:nvPr/>
        </p:nvSpPr>
        <p:spPr>
          <a:xfrm>
            <a:off x="941832" y="5660136"/>
            <a:ext cx="2670048" cy="201168"/>
          </a:xfrm>
          <a:prstGeom prst="rect">
            <a:avLst/>
          </a:prstGeom>
          <a:noFill/>
        </p:spPr>
        <p:txBody>
          <a:bodyPr wrap="square" lIns="0" rIns="0" tIns="0" bIns="0">
            <a:noAutofit/>
          </a:bodyPr>
          <a:lstStyle/>
          <a:p>
            <a:pPr>
              <a:lnSpc>
                <a:spcPct val="112000"/>
              </a:lnSpc>
              <a:spcBef>
                <a:spcPts val="0"/>
              </a:spcBef>
              <a:spcAft>
                <a:spcPts val="0"/>
              </a:spcAft>
            </a:pPr>
            <a:r>
              <a:rPr sz="1100">
                <a:solidFill>
                  <a:srgbClr val="5C687C"/>
                </a:solidFill>
                <a:latin typeface="Segoe UI"/>
              </a:rPr>
              <a:t>Customer portals and staff applications</a:t>
            </a:r>
          </a:p>
        </p:txBody>
      </p:sp>
      <p:sp>
        <p:nvSpPr>
          <p:cNvPr id="33" name="Rectangle 32"/>
          <p:cNvSpPr/>
          <p:nvPr/>
        </p:nvSpPr>
        <p:spPr>
          <a:xfrm>
            <a:off x="3337560" y="5248656"/>
            <a:ext cx="347472" cy="256032"/>
          </a:xfrm>
          <a:prstGeom prst="rect">
            <a:avLst/>
          </a:prstGeom>
          <a:solidFill>
            <a:srgbClr val="FFFFFF"/>
          </a:solidFill>
          <a:ln w="15240">
            <a:solidFill>
              <a:srgbClr val="5B4D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37560" y="5321808"/>
            <a:ext cx="347471" cy="1143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429000" y="5550408"/>
            <a:ext cx="164592" cy="1651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366760" y="4809744"/>
            <a:ext cx="3090672" cy="1133856"/>
          </a:xfrm>
          <a:prstGeom prst="roundRect">
            <a:avLst>
              <a:gd name="adj" fmla="val 7000"/>
            </a:avLst>
          </a:prstGeom>
          <a:solidFill>
            <a:srgbClr val="FFFFFF"/>
          </a:solidFill>
          <a:ln w="1524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77072" y="4919472"/>
            <a:ext cx="2670048" cy="173736"/>
          </a:xfrm>
          <a:prstGeom prst="rect">
            <a:avLst/>
          </a:prstGeom>
          <a:noFill/>
        </p:spPr>
        <p:txBody>
          <a:bodyPr wrap="square" lIns="0" rIns="0" tIns="0" bIns="0">
            <a:noAutofit/>
          </a:bodyPr>
          <a:lstStyle/>
          <a:p>
            <a:pPr>
              <a:lnSpc>
                <a:spcPct val="112000"/>
              </a:lnSpc>
              <a:spcBef>
                <a:spcPts val="0"/>
              </a:spcBef>
              <a:spcAft>
                <a:spcPts val="0"/>
              </a:spcAft>
            </a:pPr>
            <a:r>
              <a:rPr sz="950">
                <a:solidFill>
                  <a:srgbClr val="5B4DB1"/>
                </a:solidFill>
                <a:latin typeface="Segoe UI Semibold"/>
              </a:rPr>
              <a:t>REST / OPENAPI INTEGRATION</a:t>
            </a:r>
          </a:p>
        </p:txBody>
      </p:sp>
      <p:sp>
        <p:nvSpPr>
          <p:cNvPr id="38" name="TextBox 37"/>
          <p:cNvSpPr txBox="1"/>
          <p:nvPr/>
        </p:nvSpPr>
        <p:spPr>
          <a:xfrm>
            <a:off x="8577072" y="5221224"/>
            <a:ext cx="2231136" cy="265176"/>
          </a:xfrm>
          <a:prstGeom prst="rect">
            <a:avLst/>
          </a:prstGeom>
          <a:noFill/>
        </p:spPr>
        <p:txBody>
          <a:bodyPr wrap="square" lIns="0" rIns="0" tIns="0" bIns="0">
            <a:noAutofit/>
          </a:bodyPr>
          <a:lstStyle/>
          <a:p>
            <a:pPr>
              <a:lnSpc>
                <a:spcPct val="112000"/>
              </a:lnSpc>
              <a:spcBef>
                <a:spcPts val="0"/>
              </a:spcBef>
              <a:spcAft>
                <a:spcPts val="0"/>
              </a:spcAft>
            </a:pPr>
            <a:r>
              <a:rPr sz="1650">
                <a:solidFill>
                  <a:srgbClr val="0A1224"/>
                </a:solidFill>
                <a:latin typeface="Segoe UI Semibold"/>
              </a:rPr>
              <a:t>Workflows + approvals</a:t>
            </a:r>
          </a:p>
        </p:txBody>
      </p:sp>
      <p:sp>
        <p:nvSpPr>
          <p:cNvPr id="39" name="TextBox 38"/>
          <p:cNvSpPr txBox="1"/>
          <p:nvPr/>
        </p:nvSpPr>
        <p:spPr>
          <a:xfrm>
            <a:off x="8577072" y="5660136"/>
            <a:ext cx="2670048" cy="201168"/>
          </a:xfrm>
          <a:prstGeom prst="rect">
            <a:avLst/>
          </a:prstGeom>
          <a:noFill/>
        </p:spPr>
        <p:txBody>
          <a:bodyPr wrap="square" lIns="0" rIns="0" tIns="0" bIns="0">
            <a:noAutofit/>
          </a:bodyPr>
          <a:lstStyle/>
          <a:p>
            <a:pPr>
              <a:lnSpc>
                <a:spcPct val="112000"/>
              </a:lnSpc>
              <a:spcBef>
                <a:spcPts val="0"/>
              </a:spcBef>
              <a:spcAft>
                <a:spcPts val="0"/>
              </a:spcAft>
            </a:pPr>
            <a:r>
              <a:rPr sz="1100">
                <a:solidFill>
                  <a:srgbClr val="5C687C"/>
                </a:solidFill>
                <a:latin typeface="Segoe UI"/>
              </a:rPr>
              <a:t>Findings inform the next approval step</a:t>
            </a:r>
          </a:p>
        </p:txBody>
      </p:sp>
      <p:sp>
        <p:nvSpPr>
          <p:cNvPr id="40" name="Rectangle 39"/>
          <p:cNvSpPr/>
          <p:nvPr/>
        </p:nvSpPr>
        <p:spPr>
          <a:xfrm>
            <a:off x="11027664" y="5294376"/>
            <a:ext cx="219456" cy="1270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247120" y="5294376"/>
            <a:ext cx="12700" cy="210312"/>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972800" y="5248656"/>
            <a:ext cx="109728" cy="109728"/>
          </a:xfrm>
          <a:prstGeom prst="ellipse">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1192256" y="5248656"/>
            <a:ext cx="109728" cy="109728"/>
          </a:xfrm>
          <a:prstGeom prst="ellipse">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1192256" y="5458968"/>
            <a:ext cx="109728" cy="109728"/>
          </a:xfrm>
          <a:prstGeom prst="ellipse">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822191" y="3255264"/>
            <a:ext cx="429768"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51960" y="3255264"/>
            <a:ext cx="21590" cy="896112"/>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251960" y="4151376"/>
            <a:ext cx="411479"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ight Arrow 47"/>
          <p:cNvSpPr/>
          <p:nvPr/>
        </p:nvSpPr>
        <p:spPr>
          <a:xfrm>
            <a:off x="4507992" y="4096512"/>
            <a:ext cx="155448" cy="109728"/>
          </a:xfrm>
          <a:prstGeom prst="righ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eft Arrow 48"/>
          <p:cNvSpPr/>
          <p:nvPr/>
        </p:nvSpPr>
        <p:spPr>
          <a:xfrm>
            <a:off x="3822191" y="3200400"/>
            <a:ext cx="155448" cy="109728"/>
          </a:xfrm>
          <a:prstGeom prst="lef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822191" y="5376672"/>
            <a:ext cx="429768"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251960" y="4151376"/>
            <a:ext cx="21590" cy="1225295"/>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251960" y="4151376"/>
            <a:ext cx="411479"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ight Arrow 52"/>
          <p:cNvSpPr/>
          <p:nvPr/>
        </p:nvSpPr>
        <p:spPr>
          <a:xfrm>
            <a:off x="4507992" y="4096512"/>
            <a:ext cx="155448" cy="109728"/>
          </a:xfrm>
          <a:prstGeom prst="righ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eft Arrow 53"/>
          <p:cNvSpPr/>
          <p:nvPr/>
        </p:nvSpPr>
        <p:spPr>
          <a:xfrm>
            <a:off x="3822191" y="5321808"/>
            <a:ext cx="155448" cy="109728"/>
          </a:xfrm>
          <a:prstGeom prst="lef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955279" y="3255264"/>
            <a:ext cx="411480"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55279" y="3255264"/>
            <a:ext cx="21590" cy="896112"/>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534656" y="4151376"/>
            <a:ext cx="420623"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eft Arrow 57"/>
          <p:cNvSpPr/>
          <p:nvPr/>
        </p:nvSpPr>
        <p:spPr>
          <a:xfrm>
            <a:off x="7534656" y="4096512"/>
            <a:ext cx="155448" cy="109728"/>
          </a:xfrm>
          <a:prstGeom prst="lef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ight Arrow 58"/>
          <p:cNvSpPr/>
          <p:nvPr/>
        </p:nvSpPr>
        <p:spPr>
          <a:xfrm>
            <a:off x="8211312" y="3200400"/>
            <a:ext cx="155448" cy="109728"/>
          </a:xfrm>
          <a:prstGeom prst="righ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55279" y="5376672"/>
            <a:ext cx="411480"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955279" y="4151376"/>
            <a:ext cx="21590" cy="1225295"/>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534656" y="4151376"/>
            <a:ext cx="420623"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eft Arrow 62"/>
          <p:cNvSpPr/>
          <p:nvPr/>
        </p:nvSpPr>
        <p:spPr>
          <a:xfrm>
            <a:off x="7534656" y="4096512"/>
            <a:ext cx="155448" cy="109728"/>
          </a:xfrm>
          <a:prstGeom prst="lef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ight Arrow 63"/>
          <p:cNvSpPr/>
          <p:nvPr/>
        </p:nvSpPr>
        <p:spPr>
          <a:xfrm>
            <a:off x="8211312" y="5321808"/>
            <a:ext cx="155448" cy="109728"/>
          </a:xfrm>
          <a:prstGeom prst="righ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31520" y="6144768"/>
            <a:ext cx="10725912" cy="393192"/>
          </a:xfrm>
          <a:prstGeom prst="rect">
            <a:avLst/>
          </a:prstGeom>
          <a:solidFill>
            <a:srgbClr val="0A12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87552" y="6245352"/>
            <a:ext cx="10213848" cy="210312"/>
          </a:xfrm>
          <a:prstGeom prst="rect">
            <a:avLst/>
          </a:prstGeom>
          <a:noFill/>
        </p:spPr>
        <p:txBody>
          <a:bodyPr wrap="square" lIns="0" rIns="0" tIns="0" bIns="0">
            <a:noAutofit/>
          </a:bodyPr>
          <a:lstStyle/>
          <a:p>
            <a:pPr>
              <a:lnSpc>
                <a:spcPct val="112000"/>
              </a:lnSpc>
              <a:spcBef>
                <a:spcPts val="0"/>
              </a:spcBef>
              <a:spcAft>
                <a:spcPts val="0"/>
              </a:spcAft>
            </a:pPr>
            <a:r>
              <a:rPr sz="1150">
                <a:solidFill>
                  <a:srgbClr val="FFFFFF"/>
                </a:solidFill>
                <a:latin typeface="Segoe UI"/>
              </a:rPr>
              <a:t>Other channels require integration. MCP is operator-managed; the host controls business actions.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descr="background"/>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descr="OUTCOMES"/>
          <p:cNvSpPr txBox="1"/>
          <p:nvPr/>
        </p:nvSpPr>
        <p:spPr>
          <a:xfrm>
            <a:off x="731520" y="457200"/>
            <a:ext cx="8229600" cy="256032"/>
          </a:xfrm>
          <a:prstGeom prst="rect">
            <a:avLst/>
          </a:prstGeom>
          <a:noFill/>
        </p:spPr>
        <p:txBody>
          <a:bodyPr wrap="square" lIns="0" rIns="0" tIns="0" bIns="0">
            <a:spAutoFit/>
          </a:bodyPr>
          <a:lstStyle/>
          <a:p>
            <a:pPr algn="l">
              <a:spcAft>
                <a:spcPts val="0"/>
              </a:spcAft>
            </a:pPr>
            <a:r>
              <a:rPr sz="1100">
                <a:solidFill>
                  <a:srgbClr val="5B4DB1"/>
                </a:solidFill>
                <a:latin typeface="Segoe UI Semibold"/>
              </a:rPr>
              <a:t>OUTCOMES</a:t>
            </a:r>
          </a:p>
        </p:txBody>
      </p:sp>
      <p:sp>
        <p:nvSpPr>
          <p:cNvPr id="4" name="act-label" descr="EXECUTIVE · 06"/>
          <p:cNvSpPr txBox="1"/>
          <p:nvPr/>
        </p:nvSpPr>
        <p:spPr>
          <a:xfrm>
            <a:off x="8869680" y="457200"/>
            <a:ext cx="2587752" cy="256032"/>
          </a:xfrm>
          <a:prstGeom prst="rect">
            <a:avLst/>
          </a:prstGeom>
          <a:noFill/>
        </p:spPr>
        <p:txBody>
          <a:bodyPr wrap="square" lIns="0" rIns="0" tIns="0" bIns="0">
            <a:spAutoFit/>
          </a:bodyPr>
          <a:lstStyle/>
          <a:p>
            <a:pPr algn="r">
              <a:spcAft>
                <a:spcPts val="0"/>
              </a:spcAft>
            </a:pPr>
            <a:r>
              <a:rPr sz="1000">
                <a:solidFill>
                  <a:srgbClr val="5C687C"/>
                </a:solidFill>
                <a:latin typeface="Segoe UI Semibold"/>
              </a:rPr>
              <a:t>OUTCOMES · 09</a:t>
            </a:r>
          </a:p>
        </p:txBody>
      </p:sp>
      <p:sp>
        <p:nvSpPr>
          <p:cNvPr id="5" name="title" descr="What changes for the business"/>
          <p:cNvSpPr txBox="1"/>
          <p:nvPr/>
        </p:nvSpPr>
        <p:spPr>
          <a:xfrm>
            <a:off x="731520" y="777240"/>
            <a:ext cx="10725912" cy="731520"/>
          </a:xfrm>
          <a:prstGeom prst="rect">
            <a:avLst/>
          </a:prstGeom>
          <a:noFill/>
        </p:spPr>
        <p:txBody>
          <a:bodyPr wrap="square" lIns="0" rIns="0" tIns="0" bIns="0">
            <a:noAutofit/>
          </a:bodyPr>
          <a:lstStyle/>
          <a:p>
            <a:pPr algn="l">
              <a:lnSpc>
                <a:spcPct val="112000"/>
              </a:lnSpc>
              <a:spcBef>
                <a:spcPts val="0"/>
              </a:spcBef>
              <a:spcAft>
                <a:spcPts val="0"/>
              </a:spcAft>
            </a:pPr>
            <a:r>
              <a:rPr sz="3000">
                <a:solidFill>
                  <a:srgbClr val="0A1224"/>
                </a:solidFill>
                <a:latin typeface="Segoe UI Light"/>
              </a:rPr>
              <a:t>One reviewed foundation. Three kinds of value.</a:t>
            </a:r>
          </a:p>
        </p:txBody>
      </p:sp>
      <p:sp>
        <p:nvSpPr>
          <p:cNvPr id="6" name="accent-bar" descr="accent-bar"/>
          <p:cNvSpPr/>
          <p:nvPr/>
        </p:nvSpPr>
        <p:spPr>
          <a:xfrm>
            <a:off x="731520" y="1453896"/>
            <a:ext cx="960120"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title" descr="Not a productivity claim. A change in where policy authority lives, and what a decision is able to carry with "/>
          <p:cNvSpPr txBox="1"/>
          <p:nvPr/>
        </p:nvSpPr>
        <p:spPr>
          <a:xfrm>
            <a:off x="731520" y="1746504"/>
            <a:ext cx="10725912" cy="548640"/>
          </a:xfrm>
          <a:prstGeom prst="rect">
            <a:avLst/>
          </a:prstGeom>
          <a:noFill/>
        </p:spPr>
        <p:txBody>
          <a:bodyPr wrap="square" lIns="0" rIns="0" tIns="0" bIns="0">
            <a:noAutofit/>
          </a:bodyPr>
          <a:lstStyle/>
          <a:p>
            <a:pPr algn="l">
              <a:lnSpc>
                <a:spcPct val="112000"/>
              </a:lnSpc>
              <a:spcBef>
                <a:spcPts val="0"/>
              </a:spcBef>
              <a:spcAft>
                <a:spcPts val="0"/>
              </a:spcAft>
            </a:pPr>
            <a:r>
              <a:rPr sz="1450">
                <a:solidFill>
                  <a:srgbClr val="5C687C"/>
                </a:solidFill>
                <a:latin typeface="Segoe UI"/>
              </a:rPr>
              <a:t>Reuse the same governed evidence for teams, customers and reviewers, then measure the effect in your pilot.</a:t>
            </a:r>
          </a:p>
        </p:txBody>
      </p:sp>
      <p:sp>
        <p:nvSpPr>
          <p:cNvPr id="8" name="TextBox 7"/>
          <p:cNvSpPr txBox="1"/>
          <p:nvPr/>
        </p:nvSpPr>
        <p:spPr>
          <a:xfrm>
            <a:off x="731520" y="2414016"/>
            <a:ext cx="2834640" cy="210312"/>
          </a:xfrm>
          <a:prstGeom prst="rect">
            <a:avLst/>
          </a:prstGeom>
          <a:noFill/>
        </p:spPr>
        <p:txBody>
          <a:bodyPr wrap="square" lIns="0" rIns="0" tIns="0" bIns="0">
            <a:noAutofit/>
          </a:bodyPr>
          <a:lstStyle/>
          <a:p>
            <a:pPr>
              <a:lnSpc>
                <a:spcPct val="112000"/>
              </a:lnSpc>
              <a:spcBef>
                <a:spcPts val="0"/>
              </a:spcBef>
              <a:spcAft>
                <a:spcPts val="0"/>
              </a:spcAft>
            </a:pPr>
            <a:r>
              <a:rPr sz="1050">
                <a:solidFill>
                  <a:srgbClr val="5B4DB1"/>
                </a:solidFill>
                <a:latin typeface="Segoe UI Semibold"/>
              </a:rPr>
              <a:t>ONE GOVERNED FOUNDATION</a:t>
            </a:r>
          </a:p>
        </p:txBody>
      </p:sp>
      <p:sp>
        <p:nvSpPr>
          <p:cNvPr id="9" name="TextBox 8"/>
          <p:cNvSpPr txBox="1"/>
          <p:nvPr/>
        </p:nvSpPr>
        <p:spPr>
          <a:xfrm>
            <a:off x="5248656" y="2414016"/>
            <a:ext cx="3566160" cy="210312"/>
          </a:xfrm>
          <a:prstGeom prst="rect">
            <a:avLst/>
          </a:prstGeom>
          <a:noFill/>
        </p:spPr>
        <p:txBody>
          <a:bodyPr wrap="square" lIns="0" rIns="0" tIns="0" bIns="0">
            <a:noAutofit/>
          </a:bodyPr>
          <a:lstStyle/>
          <a:p>
            <a:pPr>
              <a:lnSpc>
                <a:spcPct val="112000"/>
              </a:lnSpc>
              <a:spcBef>
                <a:spcPts val="0"/>
              </a:spcBef>
              <a:spcAft>
                <a:spcPts val="0"/>
              </a:spcAft>
            </a:pPr>
            <a:r>
              <a:rPr sz="1050">
                <a:solidFill>
                  <a:srgbClr val="5B4DB1"/>
                </a:solidFill>
                <a:latin typeface="Segoe UI Semibold"/>
              </a:rPr>
              <a:t>VALUE ENABLED</a:t>
            </a:r>
          </a:p>
        </p:txBody>
      </p:sp>
      <p:sp>
        <p:nvSpPr>
          <p:cNvPr id="10" name="TextBox 9"/>
          <p:cNvSpPr txBox="1"/>
          <p:nvPr/>
        </p:nvSpPr>
        <p:spPr>
          <a:xfrm>
            <a:off x="9381744" y="2414016"/>
            <a:ext cx="2075688" cy="210312"/>
          </a:xfrm>
          <a:prstGeom prst="rect">
            <a:avLst/>
          </a:prstGeom>
          <a:noFill/>
        </p:spPr>
        <p:txBody>
          <a:bodyPr wrap="square" lIns="0" rIns="0" tIns="0" bIns="0">
            <a:noAutofit/>
          </a:bodyPr>
          <a:lstStyle/>
          <a:p>
            <a:pPr>
              <a:lnSpc>
                <a:spcPct val="112000"/>
              </a:lnSpc>
              <a:spcBef>
                <a:spcPts val="0"/>
              </a:spcBef>
              <a:spcAft>
                <a:spcPts val="0"/>
              </a:spcAft>
            </a:pPr>
            <a:r>
              <a:rPr sz="1050">
                <a:solidFill>
                  <a:srgbClr val="5B4DB1"/>
                </a:solidFill>
                <a:latin typeface="Segoe UI Semibold"/>
              </a:rPr>
              <a:t>MEASURE VS. BASELINE</a:t>
            </a:r>
          </a:p>
        </p:txBody>
      </p:sp>
      <p:sp>
        <p:nvSpPr>
          <p:cNvPr id="11" name="Rectangle 10"/>
          <p:cNvSpPr/>
          <p:nvPr/>
        </p:nvSpPr>
        <p:spPr>
          <a:xfrm>
            <a:off x="804672" y="3044952"/>
            <a:ext cx="2377440" cy="2157984"/>
          </a:xfrm>
          <a:prstGeom prst="rect">
            <a:avLst/>
          </a:prstGeom>
          <a:solidFill>
            <a:srgbClr val="FFFFFF"/>
          </a:solidFill>
          <a:ln w="1524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4400" y="3136392"/>
            <a:ext cx="2377440" cy="2157984"/>
          </a:xfrm>
          <a:prstGeom prst="rect">
            <a:avLst/>
          </a:prstGeom>
          <a:solidFill>
            <a:srgbClr val="EDEAF9"/>
          </a:solidFill>
          <a:ln w="15240">
            <a:solidFill>
              <a:srgbClr val="5B4D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24128" y="3227832"/>
            <a:ext cx="2377440" cy="2157984"/>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25296" y="3410712"/>
            <a:ext cx="1975104" cy="182880"/>
          </a:xfrm>
          <a:prstGeom prst="rect">
            <a:avLst/>
          </a:prstGeom>
          <a:noFill/>
        </p:spPr>
        <p:txBody>
          <a:bodyPr wrap="square" lIns="0" rIns="0" tIns="0" bIns="0">
            <a:noAutofit/>
          </a:bodyPr>
          <a:lstStyle/>
          <a:p>
            <a:pPr>
              <a:lnSpc>
                <a:spcPct val="112000"/>
              </a:lnSpc>
              <a:spcBef>
                <a:spcPts val="0"/>
              </a:spcBef>
              <a:spcAft>
                <a:spcPts val="0"/>
              </a:spcAft>
            </a:pPr>
            <a:r>
              <a:rPr sz="1000">
                <a:solidFill>
                  <a:srgbClr val="FFFFFF"/>
                </a:solidFill>
                <a:latin typeface="Segoe UI Semibold"/>
              </a:rPr>
              <a:t>PUBLISHED EVIDENCE</a:t>
            </a:r>
          </a:p>
        </p:txBody>
      </p:sp>
      <p:sp>
        <p:nvSpPr>
          <p:cNvPr id="15" name="TextBox 14"/>
          <p:cNvSpPr txBox="1"/>
          <p:nvPr/>
        </p:nvSpPr>
        <p:spPr>
          <a:xfrm>
            <a:off x="1225296" y="3739896"/>
            <a:ext cx="1975104" cy="658368"/>
          </a:xfrm>
          <a:prstGeom prst="rect">
            <a:avLst/>
          </a:prstGeom>
          <a:noFill/>
        </p:spPr>
        <p:txBody>
          <a:bodyPr wrap="square" lIns="0" rIns="0" tIns="0" bIns="0">
            <a:noAutofit/>
          </a:bodyPr>
          <a:lstStyle/>
          <a:p>
            <a:pPr>
              <a:lnSpc>
                <a:spcPct val="112000"/>
              </a:lnSpc>
              <a:spcBef>
                <a:spcPts val="0"/>
              </a:spcBef>
              <a:spcAft>
                <a:spcPts val="0"/>
              </a:spcAft>
            </a:pPr>
            <a:r>
              <a:rPr sz="2050">
                <a:solidFill>
                  <a:srgbClr val="FFFFFF"/>
                </a:solidFill>
                <a:latin typeface="Segoe UI Light"/>
              </a:rPr>
              <a:t>Reviewed</a:t>
            </a:r>
          </a:p>
          <a:p>
            <a:pPr>
              <a:lnSpc>
                <a:spcPct val="112000"/>
              </a:lnSpc>
              <a:spcBef>
                <a:spcPts val="0"/>
              </a:spcBef>
              <a:spcAft>
                <a:spcPts val="0"/>
              </a:spcAft>
            </a:pPr>
            <a:r>
              <a:rPr sz="2050">
                <a:solidFill>
                  <a:srgbClr val="FFFFFF"/>
                </a:solidFill>
                <a:latin typeface="Segoe UI Light"/>
              </a:rPr>
              <a:t>policy release</a:t>
            </a:r>
          </a:p>
        </p:txBody>
      </p:sp>
      <p:sp>
        <p:nvSpPr>
          <p:cNvPr id="16" name="TextBox 15"/>
          <p:cNvSpPr txBox="1"/>
          <p:nvPr/>
        </p:nvSpPr>
        <p:spPr>
          <a:xfrm>
            <a:off x="1225296" y="4663440"/>
            <a:ext cx="1975104" cy="484632"/>
          </a:xfrm>
          <a:prstGeom prst="rect">
            <a:avLst/>
          </a:prstGeom>
          <a:noFill/>
        </p:spPr>
        <p:txBody>
          <a:bodyPr wrap="square" lIns="0" rIns="0" tIns="0" bIns="0">
            <a:noAutofit/>
          </a:bodyPr>
          <a:lstStyle/>
          <a:p>
            <a:pPr>
              <a:lnSpc>
                <a:spcPct val="112000"/>
              </a:lnSpc>
              <a:spcBef>
                <a:spcPts val="0"/>
              </a:spcBef>
              <a:spcAft>
                <a:spcPts val="0"/>
              </a:spcAft>
            </a:pPr>
            <a:r>
              <a:rPr sz="1200">
                <a:solidFill>
                  <a:srgbClr val="FFFFFF"/>
                </a:solidFill>
                <a:latin typeface="Segoe UI"/>
              </a:rPr>
              <a:t>Sources + versions</a:t>
            </a:r>
          </a:p>
          <a:p>
            <a:pPr>
              <a:lnSpc>
                <a:spcPct val="112000"/>
              </a:lnSpc>
              <a:spcBef>
                <a:spcPts val="0"/>
              </a:spcBef>
              <a:spcAft>
                <a:spcPts val="0"/>
              </a:spcAft>
            </a:pPr>
            <a:r>
              <a:rPr sz="1200">
                <a:solidFill>
                  <a:srgbClr val="FFFFFF"/>
                </a:solidFill>
                <a:latin typeface="Segoe UI"/>
              </a:rPr>
              <a:t>+ approved evidence</a:t>
            </a:r>
          </a:p>
        </p:txBody>
      </p:sp>
      <p:sp>
        <p:nvSpPr>
          <p:cNvPr id="17" name="TextBox 16"/>
          <p:cNvSpPr txBox="1"/>
          <p:nvPr/>
        </p:nvSpPr>
        <p:spPr>
          <a:xfrm>
            <a:off x="822960" y="5550408"/>
            <a:ext cx="2743200" cy="228600"/>
          </a:xfrm>
          <a:prstGeom prst="rect">
            <a:avLst/>
          </a:prstGeom>
          <a:noFill/>
        </p:spPr>
        <p:txBody>
          <a:bodyPr wrap="square" lIns="0" rIns="0" tIns="0" bIns="0">
            <a:noAutofit/>
          </a:bodyPr>
          <a:lstStyle/>
          <a:p>
            <a:pPr>
              <a:lnSpc>
                <a:spcPct val="112000"/>
              </a:lnSpc>
              <a:spcBef>
                <a:spcPts val="0"/>
              </a:spcBef>
              <a:spcAft>
                <a:spcPts val="0"/>
              </a:spcAft>
            </a:pPr>
            <a:r>
              <a:rPr sz="1150">
                <a:solidFill>
                  <a:srgbClr val="5B4DB1"/>
                </a:solidFill>
                <a:latin typeface="Segoe UI Semibold"/>
              </a:rPr>
              <a:t>One shared evidence foundation</a:t>
            </a:r>
          </a:p>
        </p:txBody>
      </p:sp>
      <p:sp>
        <p:nvSpPr>
          <p:cNvPr id="18" name="Rectangle 17"/>
          <p:cNvSpPr/>
          <p:nvPr/>
        </p:nvSpPr>
        <p:spPr>
          <a:xfrm>
            <a:off x="3401568" y="4274820"/>
            <a:ext cx="896112"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97680" y="3200400"/>
            <a:ext cx="21590" cy="2139696"/>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0" y="2761488"/>
            <a:ext cx="6428232" cy="877824"/>
          </a:xfrm>
          <a:prstGeom prst="roundRect">
            <a:avLst>
              <a:gd name="adj" fmla="val 7000"/>
            </a:avLst>
          </a:prstGeom>
          <a:solidFill>
            <a:srgbClr val="FFFFFF"/>
          </a:solidFill>
          <a:ln w="1524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85232" y="2907792"/>
            <a:ext cx="3794760" cy="283464"/>
          </a:xfrm>
          <a:prstGeom prst="rect">
            <a:avLst/>
          </a:prstGeom>
          <a:noFill/>
        </p:spPr>
        <p:txBody>
          <a:bodyPr wrap="square" lIns="0" rIns="0" tIns="0" bIns="0">
            <a:noAutofit/>
          </a:bodyPr>
          <a:lstStyle/>
          <a:p>
            <a:pPr>
              <a:lnSpc>
                <a:spcPct val="112000"/>
              </a:lnSpc>
              <a:spcBef>
                <a:spcPts val="0"/>
              </a:spcBef>
              <a:spcAft>
                <a:spcPts val="0"/>
              </a:spcAft>
            </a:pPr>
            <a:r>
              <a:rPr sz="1700">
                <a:solidFill>
                  <a:srgbClr val="0A1224"/>
                </a:solidFill>
                <a:latin typeface="Segoe UI Semibold"/>
              </a:rPr>
              <a:t>Teams: less repeated work</a:t>
            </a:r>
          </a:p>
        </p:txBody>
      </p:sp>
      <p:sp>
        <p:nvSpPr>
          <p:cNvPr id="22" name="TextBox 21"/>
          <p:cNvSpPr txBox="1"/>
          <p:nvPr/>
        </p:nvSpPr>
        <p:spPr>
          <a:xfrm>
            <a:off x="5285232" y="3328416"/>
            <a:ext cx="3794760" cy="210312"/>
          </a:xfrm>
          <a:prstGeom prst="rect">
            <a:avLst/>
          </a:prstGeom>
          <a:noFill/>
        </p:spPr>
        <p:txBody>
          <a:bodyPr wrap="square" lIns="0" rIns="0" tIns="0" bIns="0">
            <a:noAutofit/>
          </a:bodyPr>
          <a:lstStyle/>
          <a:p>
            <a:pPr>
              <a:lnSpc>
                <a:spcPct val="112000"/>
              </a:lnSpc>
              <a:spcBef>
                <a:spcPts val="0"/>
              </a:spcBef>
              <a:spcAft>
                <a:spcPts val="0"/>
              </a:spcAft>
            </a:pPr>
            <a:r>
              <a:rPr sz="1150">
                <a:solidFill>
                  <a:srgbClr val="5C687C"/>
                </a:solidFill>
                <a:latin typeface="Segoe UI"/>
              </a:rPr>
              <a:t>Reuse reviewed releases; control policy updates.</a:t>
            </a:r>
          </a:p>
        </p:txBody>
      </p:sp>
      <p:sp>
        <p:nvSpPr>
          <p:cNvPr id="23" name="Rounded Rectangle 22"/>
          <p:cNvSpPr/>
          <p:nvPr/>
        </p:nvSpPr>
        <p:spPr>
          <a:xfrm>
            <a:off x="9390888" y="2935224"/>
            <a:ext cx="1883664" cy="539496"/>
          </a:xfrm>
          <a:prstGeom prst="roundRect">
            <a:avLst>
              <a:gd name="adj" fmla="val 7000"/>
            </a:avLst>
          </a:prstGeom>
          <a:solidFill>
            <a:srgbClr val="EDE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0" y="3031236"/>
            <a:ext cx="1645920" cy="356616"/>
          </a:xfrm>
          <a:prstGeom prst="rect">
            <a:avLst/>
          </a:prstGeom>
          <a:noFill/>
        </p:spPr>
        <p:txBody>
          <a:bodyPr wrap="square" lIns="0" rIns="0" tIns="0" bIns="0">
            <a:noAutofit/>
          </a:bodyPr>
          <a:lstStyle/>
          <a:p>
            <a:pPr>
              <a:lnSpc>
                <a:spcPct val="112000"/>
              </a:lnSpc>
              <a:spcBef>
                <a:spcPts val="0"/>
              </a:spcBef>
              <a:spcAft>
                <a:spcPts val="0"/>
              </a:spcAft>
            </a:pPr>
            <a:r>
              <a:rPr sz="1050">
                <a:solidFill>
                  <a:srgbClr val="5B4DB1"/>
                </a:solidFill>
                <a:latin typeface="Segoe UI Semibold"/>
              </a:rPr>
              <a:t>Handling time</a:t>
            </a:r>
          </a:p>
          <a:p>
            <a:pPr>
              <a:lnSpc>
                <a:spcPct val="112000"/>
              </a:lnSpc>
              <a:spcBef>
                <a:spcPts val="0"/>
              </a:spcBef>
              <a:spcAft>
                <a:spcPts val="0"/>
              </a:spcAft>
            </a:pPr>
            <a:r>
              <a:rPr sz="1050">
                <a:solidFill>
                  <a:srgbClr val="5B4DB1"/>
                </a:solidFill>
                <a:latin typeface="Segoe UI Semibold"/>
              </a:rPr>
              <a:t>Wrong-version incidents</a:t>
            </a:r>
          </a:p>
        </p:txBody>
      </p:sp>
      <p:sp>
        <p:nvSpPr>
          <p:cNvPr id="25" name="Rectangle 24"/>
          <p:cNvSpPr/>
          <p:nvPr/>
        </p:nvSpPr>
        <p:spPr>
          <a:xfrm>
            <a:off x="4297680" y="3200400"/>
            <a:ext cx="731519"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4873752" y="3145536"/>
            <a:ext cx="155448" cy="109728"/>
          </a:xfrm>
          <a:prstGeom prst="righ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029200" y="3831336"/>
            <a:ext cx="6428232" cy="877824"/>
          </a:xfrm>
          <a:prstGeom prst="roundRect">
            <a:avLst>
              <a:gd name="adj" fmla="val 7000"/>
            </a:avLst>
          </a:prstGeom>
          <a:solidFill>
            <a:srgbClr val="FFFFFF"/>
          </a:solidFill>
          <a:ln w="1524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85232" y="3977640"/>
            <a:ext cx="3794760" cy="283464"/>
          </a:xfrm>
          <a:prstGeom prst="rect">
            <a:avLst/>
          </a:prstGeom>
          <a:noFill/>
        </p:spPr>
        <p:txBody>
          <a:bodyPr wrap="square" lIns="0" rIns="0" tIns="0" bIns="0">
            <a:noAutofit/>
          </a:bodyPr>
          <a:lstStyle/>
          <a:p>
            <a:pPr>
              <a:lnSpc>
                <a:spcPct val="112000"/>
              </a:lnSpc>
              <a:spcBef>
                <a:spcPts val="0"/>
              </a:spcBef>
              <a:spcAft>
                <a:spcPts val="0"/>
              </a:spcAft>
            </a:pPr>
            <a:r>
              <a:rPr sz="1700">
                <a:solidFill>
                  <a:srgbClr val="0A1224"/>
                </a:solidFill>
                <a:latin typeface="Segoe UI Semibold"/>
              </a:rPr>
              <a:t>Customers: clearer answers</a:t>
            </a:r>
          </a:p>
        </p:txBody>
      </p:sp>
      <p:sp>
        <p:nvSpPr>
          <p:cNvPr id="29" name="TextBox 28"/>
          <p:cNvSpPr txBox="1"/>
          <p:nvPr/>
        </p:nvSpPr>
        <p:spPr>
          <a:xfrm>
            <a:off x="5285232" y="4398264"/>
            <a:ext cx="3794760" cy="210312"/>
          </a:xfrm>
          <a:prstGeom prst="rect">
            <a:avLst/>
          </a:prstGeom>
          <a:noFill/>
        </p:spPr>
        <p:txBody>
          <a:bodyPr wrap="square" lIns="0" rIns="0" tIns="0" bIns="0">
            <a:noAutofit/>
          </a:bodyPr>
          <a:lstStyle/>
          <a:p>
            <a:pPr>
              <a:lnSpc>
                <a:spcPct val="112000"/>
              </a:lnSpc>
              <a:spcBef>
                <a:spcPts val="0"/>
              </a:spcBef>
              <a:spcAft>
                <a:spcPts val="0"/>
              </a:spcAft>
            </a:pPr>
            <a:r>
              <a:rPr sz="1150">
                <a:solidFill>
                  <a:srgbClr val="5C687C"/>
                </a:solidFill>
                <a:latin typeface="Segoe UI"/>
              </a:rPr>
              <a:t>Cite the source; make missing facts visible.</a:t>
            </a:r>
          </a:p>
        </p:txBody>
      </p:sp>
      <p:sp>
        <p:nvSpPr>
          <p:cNvPr id="30" name="Rounded Rectangle 29"/>
          <p:cNvSpPr/>
          <p:nvPr/>
        </p:nvSpPr>
        <p:spPr>
          <a:xfrm>
            <a:off x="9390888" y="4005072"/>
            <a:ext cx="1883664" cy="539496"/>
          </a:xfrm>
          <a:prstGeom prst="roundRect">
            <a:avLst>
              <a:gd name="adj" fmla="val 7000"/>
            </a:avLst>
          </a:prstGeom>
          <a:solidFill>
            <a:srgbClr val="EDE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09760" y="4101084"/>
            <a:ext cx="1645920" cy="356616"/>
          </a:xfrm>
          <a:prstGeom prst="rect">
            <a:avLst/>
          </a:prstGeom>
          <a:noFill/>
        </p:spPr>
        <p:txBody>
          <a:bodyPr wrap="square" lIns="0" rIns="0" tIns="0" bIns="0">
            <a:noAutofit/>
          </a:bodyPr>
          <a:lstStyle/>
          <a:p>
            <a:pPr>
              <a:lnSpc>
                <a:spcPct val="112000"/>
              </a:lnSpc>
              <a:spcBef>
                <a:spcPts val="0"/>
              </a:spcBef>
              <a:spcAft>
                <a:spcPts val="0"/>
              </a:spcAft>
            </a:pPr>
            <a:r>
              <a:rPr sz="1050">
                <a:solidFill>
                  <a:srgbClr val="5B4DB1"/>
                </a:solidFill>
                <a:latin typeface="Segoe UI Semibold"/>
              </a:rPr>
              <a:t>Repeat contacts</a:t>
            </a:r>
          </a:p>
          <a:p>
            <a:pPr>
              <a:lnSpc>
                <a:spcPct val="112000"/>
              </a:lnSpc>
              <a:spcBef>
                <a:spcPts val="0"/>
              </a:spcBef>
              <a:spcAft>
                <a:spcPts val="0"/>
              </a:spcAft>
            </a:pPr>
            <a:r>
              <a:rPr sz="1050">
                <a:solidFill>
                  <a:srgbClr val="5B4DB1"/>
                </a:solidFill>
                <a:latin typeface="Segoe UI Semibold"/>
              </a:rPr>
              <a:t>Clarification rounds</a:t>
            </a:r>
          </a:p>
        </p:txBody>
      </p:sp>
      <p:sp>
        <p:nvSpPr>
          <p:cNvPr id="32" name="Rectangle 31"/>
          <p:cNvSpPr/>
          <p:nvPr/>
        </p:nvSpPr>
        <p:spPr>
          <a:xfrm>
            <a:off x="4297680" y="4270248"/>
            <a:ext cx="731519"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4873752" y="4215384"/>
            <a:ext cx="155448" cy="109728"/>
          </a:xfrm>
          <a:prstGeom prst="righ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029200" y="4901184"/>
            <a:ext cx="6428232" cy="877824"/>
          </a:xfrm>
          <a:prstGeom prst="roundRect">
            <a:avLst>
              <a:gd name="adj" fmla="val 7000"/>
            </a:avLst>
          </a:prstGeom>
          <a:solidFill>
            <a:srgbClr val="FFFFFF"/>
          </a:solidFill>
          <a:ln w="15240">
            <a:solidFill>
              <a:srgbClr val="DC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85232" y="5047488"/>
            <a:ext cx="3794760" cy="283464"/>
          </a:xfrm>
          <a:prstGeom prst="rect">
            <a:avLst/>
          </a:prstGeom>
          <a:noFill/>
        </p:spPr>
        <p:txBody>
          <a:bodyPr wrap="square" lIns="0" rIns="0" tIns="0" bIns="0">
            <a:noAutofit/>
          </a:bodyPr>
          <a:lstStyle/>
          <a:p>
            <a:pPr>
              <a:lnSpc>
                <a:spcPct val="112000"/>
              </a:lnSpc>
              <a:spcBef>
                <a:spcPts val="0"/>
              </a:spcBef>
              <a:spcAft>
                <a:spcPts val="0"/>
              </a:spcAft>
            </a:pPr>
            <a:r>
              <a:rPr sz="1700">
                <a:solidFill>
                  <a:srgbClr val="0A1224"/>
                </a:solidFill>
                <a:latin typeface="Segoe UI Semibold"/>
              </a:rPr>
              <a:t>Reviewers: traceable cases</a:t>
            </a:r>
          </a:p>
        </p:txBody>
      </p:sp>
      <p:sp>
        <p:nvSpPr>
          <p:cNvPr id="36" name="TextBox 35"/>
          <p:cNvSpPr txBox="1"/>
          <p:nvPr/>
        </p:nvSpPr>
        <p:spPr>
          <a:xfrm>
            <a:off x="5285232" y="5468112"/>
            <a:ext cx="3794760" cy="210312"/>
          </a:xfrm>
          <a:prstGeom prst="rect">
            <a:avLst/>
          </a:prstGeom>
          <a:noFill/>
        </p:spPr>
        <p:txBody>
          <a:bodyPr wrap="square" lIns="0" rIns="0" tIns="0" bIns="0">
            <a:noAutofit/>
          </a:bodyPr>
          <a:lstStyle/>
          <a:p>
            <a:pPr>
              <a:lnSpc>
                <a:spcPct val="112000"/>
              </a:lnSpc>
              <a:spcBef>
                <a:spcPts val="0"/>
              </a:spcBef>
              <a:spcAft>
                <a:spcPts val="0"/>
              </a:spcAft>
            </a:pPr>
            <a:r>
              <a:rPr sz="1150">
                <a:solidFill>
                  <a:srgbClr val="5C687C"/>
                </a:solidFill>
                <a:latin typeface="Segoe UI"/>
              </a:rPr>
              <a:t>Inspect the source, release and stored receipt.</a:t>
            </a:r>
          </a:p>
        </p:txBody>
      </p:sp>
      <p:sp>
        <p:nvSpPr>
          <p:cNvPr id="37" name="Rounded Rectangle 36"/>
          <p:cNvSpPr/>
          <p:nvPr/>
        </p:nvSpPr>
        <p:spPr>
          <a:xfrm>
            <a:off x="9390888" y="5074920"/>
            <a:ext cx="1883664" cy="539496"/>
          </a:xfrm>
          <a:prstGeom prst="roundRect">
            <a:avLst>
              <a:gd name="adj" fmla="val 7000"/>
            </a:avLst>
          </a:prstGeom>
          <a:solidFill>
            <a:srgbClr val="EDE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09760" y="5170932"/>
            <a:ext cx="1645920" cy="356616"/>
          </a:xfrm>
          <a:prstGeom prst="rect">
            <a:avLst/>
          </a:prstGeom>
          <a:noFill/>
        </p:spPr>
        <p:txBody>
          <a:bodyPr wrap="square" lIns="0" rIns="0" tIns="0" bIns="0">
            <a:noAutofit/>
          </a:bodyPr>
          <a:lstStyle/>
          <a:p>
            <a:pPr>
              <a:lnSpc>
                <a:spcPct val="112000"/>
              </a:lnSpc>
              <a:spcBef>
                <a:spcPts val="0"/>
              </a:spcBef>
              <a:spcAft>
                <a:spcPts val="0"/>
              </a:spcAft>
            </a:pPr>
            <a:r>
              <a:rPr sz="1050">
                <a:solidFill>
                  <a:srgbClr val="5B4DB1"/>
                </a:solidFill>
                <a:latin typeface="Segoe UI Semibold"/>
              </a:rPr>
              <a:t>Review time</a:t>
            </a:r>
          </a:p>
          <a:p>
            <a:pPr>
              <a:lnSpc>
                <a:spcPct val="112000"/>
              </a:lnSpc>
              <a:spcBef>
                <a:spcPts val="0"/>
              </a:spcBef>
              <a:spcAft>
                <a:spcPts val="0"/>
              </a:spcAft>
            </a:pPr>
            <a:r>
              <a:rPr sz="1050">
                <a:solidFill>
                  <a:srgbClr val="5B4DB1"/>
                </a:solidFill>
                <a:latin typeface="Segoe UI Semibold"/>
              </a:rPr>
              <a:t>per case</a:t>
            </a:r>
          </a:p>
        </p:txBody>
      </p:sp>
      <p:sp>
        <p:nvSpPr>
          <p:cNvPr id="39" name="Rectangle 38"/>
          <p:cNvSpPr/>
          <p:nvPr/>
        </p:nvSpPr>
        <p:spPr>
          <a:xfrm>
            <a:off x="4297680" y="5340096"/>
            <a:ext cx="731519" cy="21590"/>
          </a:xfrm>
          <a:prstGeom prst="rect">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ight Arrow 39"/>
          <p:cNvSpPr/>
          <p:nvPr/>
        </p:nvSpPr>
        <p:spPr>
          <a:xfrm>
            <a:off x="4873752" y="5285232"/>
            <a:ext cx="155448" cy="109728"/>
          </a:xfrm>
          <a:prstGeom prst="rightArrow">
            <a:avLst/>
          </a:prstGeom>
          <a:solidFill>
            <a:srgbClr val="5B4D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1520" y="6080760"/>
            <a:ext cx="10725912" cy="448056"/>
          </a:xfrm>
          <a:prstGeom prst="rect">
            <a:avLst/>
          </a:prstGeom>
          <a:solidFill>
            <a:srgbClr val="EDE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6199632"/>
            <a:ext cx="10213848" cy="237744"/>
          </a:xfrm>
          <a:prstGeom prst="rect">
            <a:avLst/>
          </a:prstGeom>
          <a:noFill/>
        </p:spPr>
        <p:txBody>
          <a:bodyPr wrap="square" lIns="0" rIns="0" tIns="0" bIns="0">
            <a:noAutofit/>
          </a:bodyPr>
          <a:lstStyle/>
          <a:p>
            <a:pPr>
              <a:lnSpc>
                <a:spcPct val="112000"/>
              </a:lnSpc>
              <a:spcBef>
                <a:spcPts val="0"/>
              </a:spcBef>
              <a:spcAft>
                <a:spcPts val="0"/>
              </a:spcAft>
            </a:pPr>
            <a:r>
              <a:rPr sz="1200">
                <a:solidFill>
                  <a:srgbClr val="5B4DB1"/>
                </a:solidFill>
                <a:latin typeface="Segoe UI"/>
              </a:rPr>
              <a:t>Track these measures in a pilot. Benefits are intended, not measured ROI or accuracy guarantees.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descr="background"/>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kicker" descr="NEXT STEP"/>
          <p:cNvSpPr txBox="1"/>
          <p:nvPr/>
        </p:nvSpPr>
        <p:spPr>
          <a:xfrm>
            <a:off x="731520" y="457200"/>
            <a:ext cx="8229600" cy="256032"/>
          </a:xfrm>
          <a:prstGeom prst="rect">
            <a:avLst/>
          </a:prstGeom>
          <a:noFill/>
        </p:spPr>
        <p:txBody>
          <a:bodyPr wrap="square" lIns="0" rIns="0" tIns="0" bIns="0">
            <a:spAutoFit/>
          </a:bodyPr>
          <a:lstStyle/>
          <a:p>
            <a:pPr algn="l">
              <a:spcAft>
                <a:spcPts val="0"/>
              </a:spcAft>
            </a:pPr>
            <a:r>
              <a:rPr sz="1100">
                <a:solidFill>
                  <a:srgbClr val="5B4DB1"/>
                </a:solidFill>
                <a:latin typeface="Segoe UI Semibold"/>
              </a:rPr>
              <a:t>NEXT STEP</a:t>
            </a:r>
          </a:p>
        </p:txBody>
      </p:sp>
      <p:sp>
        <p:nvSpPr>
          <p:cNvPr id="4" name="act-label" descr="CAPABILITY · 33"/>
          <p:cNvSpPr txBox="1"/>
          <p:nvPr/>
        </p:nvSpPr>
        <p:spPr>
          <a:xfrm>
            <a:off x="8869680" y="457200"/>
            <a:ext cx="2587752" cy="256032"/>
          </a:xfrm>
          <a:prstGeom prst="rect">
            <a:avLst/>
          </a:prstGeom>
          <a:noFill/>
        </p:spPr>
        <p:txBody>
          <a:bodyPr wrap="square" lIns="0" rIns="0" tIns="0" bIns="0">
            <a:spAutoFit/>
          </a:bodyPr>
          <a:lstStyle/>
          <a:p>
            <a:pPr algn="r">
              <a:spcAft>
                <a:spcPts val="0"/>
              </a:spcAft>
            </a:pPr>
            <a:r>
              <a:rPr sz="1000">
                <a:solidFill>
                  <a:srgbClr val="5C687C"/>
                </a:solidFill>
                <a:latin typeface="Segoe UI Semibold"/>
              </a:rPr>
              <a:t>NEXT STEP · 10</a:t>
            </a:r>
          </a:p>
        </p:txBody>
      </p:sp>
      <p:sp>
        <p:nvSpPr>
          <p:cNvPr id="5" name="title" descr="Adopt it with one policy domain"/>
          <p:cNvSpPr txBox="1"/>
          <p:nvPr/>
        </p:nvSpPr>
        <p:spPr>
          <a:xfrm>
            <a:off x="731520" y="777240"/>
            <a:ext cx="10725912" cy="731520"/>
          </a:xfrm>
          <a:prstGeom prst="rect">
            <a:avLst/>
          </a:prstGeom>
          <a:noFill/>
        </p:spPr>
        <p:txBody>
          <a:bodyPr wrap="square" lIns="0" rIns="0" tIns="0" bIns="0">
            <a:noAutofit/>
          </a:bodyPr>
          <a:lstStyle/>
          <a:p>
            <a:pPr algn="l">
              <a:lnSpc>
                <a:spcPct val="112000"/>
              </a:lnSpc>
              <a:spcBef>
                <a:spcPts val="0"/>
              </a:spcBef>
              <a:spcAft>
                <a:spcPts val="0"/>
              </a:spcAft>
            </a:pPr>
            <a:r>
              <a:rPr sz="3000">
                <a:solidFill>
                  <a:srgbClr val="0A1224"/>
                </a:solidFill>
                <a:latin typeface="Segoe UI Light"/>
              </a:rPr>
              <a:t>Prove one policy. Then scale with evidence.</a:t>
            </a:r>
          </a:p>
        </p:txBody>
      </p:sp>
      <p:sp>
        <p:nvSpPr>
          <p:cNvPr id="6" name="accent-bar" descr="accent-bar"/>
          <p:cNvSpPr/>
          <p:nvPr/>
        </p:nvSpPr>
        <p:spPr>
          <a:xfrm>
            <a:off x="731520" y="1453896"/>
            <a:ext cx="960120" cy="57150"/>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btitle" descr="A narrow first pass that produces a defensible published version and one real integration."/>
          <p:cNvSpPr txBox="1"/>
          <p:nvPr/>
        </p:nvSpPr>
        <p:spPr>
          <a:xfrm>
            <a:off x="731520" y="1746504"/>
            <a:ext cx="10725912" cy="603504"/>
          </a:xfrm>
          <a:prstGeom prst="rect">
            <a:avLst/>
          </a:prstGeom>
          <a:noFill/>
        </p:spPr>
        <p:txBody>
          <a:bodyPr wrap="square" lIns="0" rIns="0" tIns="0" bIns="0">
            <a:noAutofit/>
          </a:bodyPr>
          <a:lstStyle/>
          <a:p>
            <a:pPr algn="l">
              <a:lnSpc>
                <a:spcPct val="112000"/>
              </a:lnSpc>
              <a:spcBef>
                <a:spcPts val="0"/>
              </a:spcBef>
              <a:spcAft>
                <a:spcPts val="0"/>
              </a:spcAft>
            </a:pPr>
            <a:r>
              <a:rPr sz="1450">
                <a:solidFill>
                  <a:srgbClr val="5C687C"/>
                </a:solidFill>
                <a:latin typeface="Segoe UI"/>
              </a:rPr>
              <a:t>Start with one domain, one accountable reviewer and one consuming channel. Expand only after the pilot clears agreed gates.</a:t>
            </a:r>
          </a:p>
        </p:txBody>
      </p:sp>
      <p:sp>
        <p:nvSpPr>
          <p:cNvPr id="8" name="step-card" descr="step-card"/>
          <p:cNvSpPr/>
          <p:nvPr/>
        </p:nvSpPr>
        <p:spPr>
          <a:xfrm>
            <a:off x="731520" y="2459736"/>
            <a:ext cx="2551176" cy="2596896"/>
          </a:xfrm>
          <a:prstGeom prst="roundRect">
            <a:avLst>
              <a:gd name="adj" fmla="val 3500"/>
            </a:avLst>
          </a:prstGeom>
          <a:solidFill>
            <a:srgbClr val="FFFFFF"/>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descr="01"/>
          <p:cNvSpPr txBox="1"/>
          <p:nvPr/>
        </p:nvSpPr>
        <p:spPr>
          <a:xfrm>
            <a:off x="950976" y="2660904"/>
            <a:ext cx="457200" cy="347472"/>
          </a:xfrm>
          <a:prstGeom prst="rect">
            <a:avLst/>
          </a:prstGeom>
          <a:noFill/>
        </p:spPr>
        <p:txBody>
          <a:bodyPr wrap="square" lIns="0" rIns="0" tIns="0" bIns="0">
            <a:noAutofit/>
          </a:bodyPr>
          <a:lstStyle/>
          <a:p>
            <a:pPr algn="l">
              <a:lnSpc>
                <a:spcPct val="112000"/>
              </a:lnSpc>
              <a:spcBef>
                <a:spcPts val="0"/>
              </a:spcBef>
              <a:spcAft>
                <a:spcPts val="0"/>
              </a:spcAft>
            </a:pPr>
            <a:r>
              <a:rPr sz="2200">
                <a:solidFill>
                  <a:srgbClr val="5B4DB1"/>
                </a:solidFill>
                <a:latin typeface="Segoe UI Light"/>
              </a:rPr>
              <a:t>01</a:t>
            </a:r>
          </a:p>
        </p:txBody>
      </p:sp>
      <p:sp>
        <p:nvSpPr>
          <p:cNvPr id="10" name="text" descr="Choose one document"/>
          <p:cNvSpPr txBox="1"/>
          <p:nvPr/>
        </p:nvSpPr>
        <p:spPr>
          <a:xfrm>
            <a:off x="950976" y="3127248"/>
            <a:ext cx="2112264" cy="521207"/>
          </a:xfrm>
          <a:prstGeom prst="rect">
            <a:avLst/>
          </a:prstGeom>
          <a:noFill/>
        </p:spPr>
        <p:txBody>
          <a:bodyPr wrap="square" lIns="0" rIns="0" tIns="0" bIns="0">
            <a:noAutofit/>
          </a:bodyPr>
          <a:lstStyle/>
          <a:p>
            <a:pPr algn="l">
              <a:lnSpc>
                <a:spcPct val="112000"/>
              </a:lnSpc>
              <a:spcBef>
                <a:spcPts val="0"/>
              </a:spcBef>
              <a:spcAft>
                <a:spcPts val="0"/>
              </a:spcAft>
            </a:pPr>
            <a:r>
              <a:rPr sz="1650">
                <a:solidFill>
                  <a:srgbClr val="0A1224"/>
                </a:solidFill>
                <a:latin typeface="Segoe UI Semibold"/>
              </a:rPr>
              <a:t>Frame the pilot</a:t>
            </a:r>
          </a:p>
        </p:txBody>
      </p:sp>
      <p:sp>
        <p:nvSpPr>
          <p:cNvPr id="11" name="text" descr="Contested, high-value, and actually argued about. A policy nobody disputes proves nothing."/>
          <p:cNvSpPr txBox="1"/>
          <p:nvPr/>
        </p:nvSpPr>
        <p:spPr>
          <a:xfrm>
            <a:off x="950976" y="3694176"/>
            <a:ext cx="2112264" cy="896112"/>
          </a:xfrm>
          <a:prstGeom prst="rect">
            <a:avLst/>
          </a:prstGeom>
          <a:noFill/>
        </p:spPr>
        <p:txBody>
          <a:bodyPr wrap="square" lIns="0" rIns="0" tIns="0" bIns="0">
            <a:noAutofit/>
          </a:bodyPr>
          <a:lstStyle/>
          <a:p>
            <a:pPr algn="l">
              <a:lnSpc>
                <a:spcPct val="112000"/>
              </a:lnSpc>
              <a:spcBef>
                <a:spcPts val="0"/>
              </a:spcBef>
              <a:spcAft>
                <a:spcPts val="0"/>
              </a:spcAft>
            </a:pPr>
            <a:r>
              <a:rPr sz="1250">
                <a:solidFill>
                  <a:srgbClr val="5C687C"/>
                </a:solidFill>
                <a:latin typeface="Segoe UI"/>
              </a:rPr>
              <a:t>Pick a high-value policy and real cases. Agree the baseline and acceptance criteria.</a:t>
            </a:r>
          </a:p>
        </p:txBody>
      </p:sp>
      <p:sp>
        <p:nvSpPr>
          <p:cNvPr id="12" name="text" descr="›"/>
          <p:cNvSpPr txBox="1"/>
          <p:nvPr/>
        </p:nvSpPr>
        <p:spPr>
          <a:xfrm>
            <a:off x="3282696" y="3611880"/>
            <a:ext cx="169164" cy="347472"/>
          </a:xfrm>
          <a:prstGeom prst="rect">
            <a:avLst/>
          </a:prstGeom>
          <a:noFill/>
        </p:spPr>
        <p:txBody>
          <a:bodyPr wrap="square" lIns="0" rIns="0" tIns="0" bIns="0">
            <a:noAutofit/>
          </a:bodyPr>
          <a:lstStyle/>
          <a:p>
            <a:pPr algn="ctr">
              <a:lnSpc>
                <a:spcPct val="112000"/>
              </a:lnSpc>
              <a:spcBef>
                <a:spcPts val="0"/>
              </a:spcBef>
              <a:spcAft>
                <a:spcPts val="0"/>
              </a:spcAft>
            </a:pPr>
            <a:r>
              <a:rPr sz="2400">
                <a:solidFill>
                  <a:srgbClr val="5B4DB1"/>
                </a:solidFill>
                <a:latin typeface="Segoe UI"/>
              </a:rPr>
              <a:t>›</a:t>
            </a:r>
          </a:p>
        </p:txBody>
      </p:sp>
      <p:sp>
        <p:nvSpPr>
          <p:cNvPr id="13" name="step-card" descr="step-card"/>
          <p:cNvSpPr/>
          <p:nvPr/>
        </p:nvSpPr>
        <p:spPr>
          <a:xfrm>
            <a:off x="3451860" y="2459736"/>
            <a:ext cx="2551176" cy="2596896"/>
          </a:xfrm>
          <a:prstGeom prst="roundRect">
            <a:avLst>
              <a:gd name="adj" fmla="val 3500"/>
            </a:avLst>
          </a:prstGeom>
          <a:solidFill>
            <a:srgbClr val="FFFFFF"/>
          </a:solidFill>
          <a:ln w="12700">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descr="02"/>
          <p:cNvSpPr txBox="1"/>
          <p:nvPr/>
        </p:nvSpPr>
        <p:spPr>
          <a:xfrm>
            <a:off x="3671316" y="2660904"/>
            <a:ext cx="457200" cy="347472"/>
          </a:xfrm>
          <a:prstGeom prst="rect">
            <a:avLst/>
          </a:prstGeom>
          <a:noFill/>
        </p:spPr>
        <p:txBody>
          <a:bodyPr wrap="square" lIns="0" rIns="0" tIns="0" bIns="0">
            <a:noAutofit/>
          </a:bodyPr>
          <a:lstStyle/>
          <a:p>
            <a:pPr algn="l">
              <a:lnSpc>
                <a:spcPct val="112000"/>
              </a:lnSpc>
              <a:spcBef>
                <a:spcPts val="0"/>
              </a:spcBef>
              <a:spcAft>
                <a:spcPts val="0"/>
              </a:spcAft>
            </a:pPr>
            <a:r>
              <a:rPr sz="2200">
                <a:solidFill>
                  <a:srgbClr val="5B4DB1"/>
                </a:solidFill>
                <a:latin typeface="Segoe UI Light"/>
              </a:rPr>
              <a:t>02</a:t>
            </a:r>
          </a:p>
        </p:txBody>
      </p:sp>
      <p:sp>
        <p:nvSpPr>
          <p:cNvPr id="15" name="text" descr="Upload and extract"/>
          <p:cNvSpPr txBox="1"/>
          <p:nvPr/>
        </p:nvSpPr>
        <p:spPr>
          <a:xfrm>
            <a:off x="3671316" y="3127248"/>
            <a:ext cx="2112264" cy="521207"/>
          </a:xfrm>
          <a:prstGeom prst="rect">
            <a:avLst/>
          </a:prstGeom>
          <a:noFill/>
        </p:spPr>
        <p:txBody>
          <a:bodyPr wrap="square" lIns="0" rIns="0" tIns="0" bIns="0">
            <a:noAutofit/>
          </a:bodyPr>
          <a:lstStyle/>
          <a:p>
            <a:pPr algn="l">
              <a:lnSpc>
                <a:spcPct val="112000"/>
              </a:lnSpc>
              <a:spcBef>
                <a:spcPts val="0"/>
              </a:spcBef>
              <a:spcAft>
                <a:spcPts val="0"/>
              </a:spcAft>
            </a:pPr>
            <a:r>
              <a:rPr sz="1650">
                <a:solidFill>
                  <a:srgbClr val="0A1224"/>
                </a:solidFill>
                <a:latin typeface="Segoe UI Semibold"/>
              </a:rPr>
              <a:t>Load and inspect</a:t>
            </a:r>
          </a:p>
        </p:txBody>
      </p:sp>
      <p:sp>
        <p:nvSpPr>
          <p:cNvPr id="16" name="text" descr="Read the ingestion diagnostics first; a source that read badly will not extract well."/>
          <p:cNvSpPr txBox="1"/>
          <p:nvPr/>
        </p:nvSpPr>
        <p:spPr>
          <a:xfrm>
            <a:off x="3671316" y="3694176"/>
            <a:ext cx="2112264" cy="896112"/>
          </a:xfrm>
          <a:prstGeom prst="rect">
            <a:avLst/>
          </a:prstGeom>
          <a:noFill/>
        </p:spPr>
        <p:txBody>
          <a:bodyPr wrap="square" lIns="0" rIns="0" tIns="0" bIns="0">
            <a:noAutofit/>
          </a:bodyPr>
          <a:lstStyle/>
          <a:p>
            <a:pPr algn="l">
              <a:lnSpc>
                <a:spcPct val="112000"/>
              </a:lnSpc>
              <a:spcBef>
                <a:spcPts val="0"/>
              </a:spcBef>
              <a:spcAft>
                <a:spcPts val="0"/>
              </a:spcAft>
            </a:pPr>
            <a:r>
              <a:rPr sz="1250">
                <a:solidFill>
                  <a:srgbClr val="5C687C"/>
                </a:solidFill>
                <a:latin typeface="Segoe UI"/>
              </a:rPr>
              <a:t>Ingest the source. Check locators, coverage and unresolved issues.</a:t>
            </a:r>
          </a:p>
        </p:txBody>
      </p:sp>
      <p:sp>
        <p:nvSpPr>
          <p:cNvPr id="17" name="text" descr="›"/>
          <p:cNvSpPr txBox="1"/>
          <p:nvPr/>
        </p:nvSpPr>
        <p:spPr>
          <a:xfrm>
            <a:off x="6003036" y="3611880"/>
            <a:ext cx="169164" cy="347472"/>
          </a:xfrm>
          <a:prstGeom prst="rect">
            <a:avLst/>
          </a:prstGeom>
          <a:noFill/>
        </p:spPr>
        <p:txBody>
          <a:bodyPr wrap="square" lIns="0" rIns="0" tIns="0" bIns="0">
            <a:noAutofit/>
          </a:bodyPr>
          <a:lstStyle/>
          <a:p>
            <a:pPr algn="ctr">
              <a:lnSpc>
                <a:spcPct val="112000"/>
              </a:lnSpc>
              <a:spcBef>
                <a:spcPts val="0"/>
              </a:spcBef>
              <a:spcAft>
                <a:spcPts val="0"/>
              </a:spcAft>
            </a:pPr>
            <a:r>
              <a:rPr sz="2400">
                <a:solidFill>
                  <a:srgbClr val="5B4DB1"/>
                </a:solidFill>
                <a:latin typeface="Segoe UI"/>
              </a:rPr>
              <a:t>›</a:t>
            </a:r>
          </a:p>
        </p:txBody>
      </p:sp>
      <p:sp>
        <p:nvSpPr>
          <p:cNvPr id="18" name="step-card" descr="step-card"/>
          <p:cNvSpPr/>
          <p:nvPr/>
        </p:nvSpPr>
        <p:spPr>
          <a:xfrm>
            <a:off x="6172200" y="2459736"/>
            <a:ext cx="2551176" cy="2596896"/>
          </a:xfrm>
          <a:prstGeom prst="roundRect">
            <a:avLst>
              <a:gd name="adj" fmla="val 3500"/>
            </a:avLst>
          </a:prstGeom>
          <a:solidFill>
            <a:srgbClr val="5B4DB1"/>
          </a:solidFill>
          <a:ln w="12700">
            <a:solidFill>
              <a:srgbClr val="5B4D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descr="03"/>
          <p:cNvSpPr txBox="1"/>
          <p:nvPr/>
        </p:nvSpPr>
        <p:spPr>
          <a:xfrm>
            <a:off x="6391656" y="2660904"/>
            <a:ext cx="457200" cy="347472"/>
          </a:xfrm>
          <a:prstGeom prst="rect">
            <a:avLst/>
          </a:prstGeom>
          <a:noFill/>
        </p:spPr>
        <p:txBody>
          <a:bodyPr wrap="square" lIns="0" rIns="0" tIns="0" bIns="0">
            <a:noAutofit/>
          </a:bodyPr>
          <a:lstStyle/>
          <a:p>
            <a:pPr algn="l">
              <a:lnSpc>
                <a:spcPct val="112000"/>
              </a:lnSpc>
              <a:spcBef>
                <a:spcPts val="0"/>
              </a:spcBef>
              <a:spcAft>
                <a:spcPts val="0"/>
              </a:spcAft>
            </a:pPr>
            <a:r>
              <a:rPr sz="2200">
                <a:solidFill>
                  <a:srgbClr val="FFFFFF"/>
                </a:solidFill>
                <a:latin typeface="Segoe UI Light"/>
              </a:rPr>
              <a:t>03</a:t>
            </a:r>
          </a:p>
        </p:txBody>
      </p:sp>
      <p:sp>
        <p:nvSpPr>
          <p:cNvPr id="20" name="text" descr="Review and publish"/>
          <p:cNvSpPr txBox="1"/>
          <p:nvPr/>
        </p:nvSpPr>
        <p:spPr>
          <a:xfrm>
            <a:off x="6391656" y="3127248"/>
            <a:ext cx="2112264" cy="521207"/>
          </a:xfrm>
          <a:prstGeom prst="rect">
            <a:avLst/>
          </a:prstGeom>
          <a:noFill/>
        </p:spPr>
        <p:txBody>
          <a:bodyPr wrap="square" lIns="0" rIns="0" tIns="0" bIns="0">
            <a:noAutofit/>
          </a:bodyPr>
          <a:lstStyle/>
          <a:p>
            <a:pPr algn="l">
              <a:lnSpc>
                <a:spcPct val="112000"/>
              </a:lnSpc>
              <a:spcBef>
                <a:spcPts val="0"/>
              </a:spcBef>
              <a:spcAft>
                <a:spcPts val="0"/>
              </a:spcAft>
            </a:pPr>
            <a:r>
              <a:rPr sz="1650">
                <a:solidFill>
                  <a:srgbClr val="FFFFFF"/>
                </a:solidFill>
                <a:latin typeface="Segoe UI Semibold"/>
              </a:rPr>
              <a:t>Approve + publish</a:t>
            </a:r>
          </a:p>
        </p:txBody>
      </p:sp>
      <p:sp>
        <p:nvSpPr>
          <p:cNvPr id="21" name="text" descr="Work the queue against the source, run a quality evaluation, then publish version one."/>
          <p:cNvSpPr txBox="1"/>
          <p:nvPr/>
        </p:nvSpPr>
        <p:spPr>
          <a:xfrm>
            <a:off x="6391656" y="3694176"/>
            <a:ext cx="2112264" cy="896112"/>
          </a:xfrm>
          <a:prstGeom prst="rect">
            <a:avLst/>
          </a:prstGeom>
          <a:noFill/>
        </p:spPr>
        <p:txBody>
          <a:bodyPr wrap="square" lIns="0" rIns="0" tIns="0" bIns="0">
            <a:noAutofit/>
          </a:bodyPr>
          <a:lstStyle/>
          <a:p>
            <a:pPr algn="l">
              <a:lnSpc>
                <a:spcPct val="112000"/>
              </a:lnSpc>
              <a:spcBef>
                <a:spcPts val="0"/>
              </a:spcBef>
              <a:spcAft>
                <a:spcPts val="0"/>
              </a:spcAft>
            </a:pPr>
            <a:r>
              <a:rPr sz="1250">
                <a:solidFill>
                  <a:srgbClr val="FFFFFF"/>
                </a:solidFill>
                <a:latin typeface="Segoe UI"/>
              </a:rPr>
              <a:t>Approve the evidence, publish a fixed release and verify the Search index.</a:t>
            </a:r>
          </a:p>
        </p:txBody>
      </p:sp>
      <p:sp>
        <p:nvSpPr>
          <p:cNvPr id="22" name="text" descr="›"/>
          <p:cNvSpPr txBox="1"/>
          <p:nvPr/>
        </p:nvSpPr>
        <p:spPr>
          <a:xfrm>
            <a:off x="8723376" y="3611880"/>
            <a:ext cx="169164" cy="347472"/>
          </a:xfrm>
          <a:prstGeom prst="rect">
            <a:avLst/>
          </a:prstGeom>
          <a:noFill/>
        </p:spPr>
        <p:txBody>
          <a:bodyPr wrap="square" lIns="0" rIns="0" tIns="0" bIns="0">
            <a:noAutofit/>
          </a:bodyPr>
          <a:lstStyle/>
          <a:p>
            <a:pPr algn="ctr">
              <a:lnSpc>
                <a:spcPct val="112000"/>
              </a:lnSpc>
              <a:spcBef>
                <a:spcPts val="0"/>
              </a:spcBef>
              <a:spcAft>
                <a:spcPts val="0"/>
              </a:spcAft>
            </a:pPr>
            <a:r>
              <a:rPr sz="2400">
                <a:solidFill>
                  <a:srgbClr val="5B4DB1"/>
                </a:solidFill>
                <a:latin typeface="Segoe UI"/>
              </a:rPr>
              <a:t>›</a:t>
            </a:r>
          </a:p>
        </p:txBody>
      </p:sp>
      <p:sp>
        <p:nvSpPr>
          <p:cNvPr id="23" name="step-card" descr="step-card"/>
          <p:cNvSpPr/>
          <p:nvPr/>
        </p:nvSpPr>
        <p:spPr>
          <a:xfrm>
            <a:off x="8892540" y="2459736"/>
            <a:ext cx="2551176" cy="2596896"/>
          </a:xfrm>
          <a:prstGeom prst="roundRect">
            <a:avLst>
              <a:gd name="adj" fmla="val 3500"/>
            </a:avLst>
          </a:prstGeom>
          <a:solidFill>
            <a:srgbClr val="EDEAF9"/>
          </a:solidFill>
          <a:ln w="12700">
            <a:solidFill>
              <a:srgbClr val="5B4DB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descr="04"/>
          <p:cNvSpPr txBox="1"/>
          <p:nvPr/>
        </p:nvSpPr>
        <p:spPr>
          <a:xfrm>
            <a:off x="9111996" y="2660904"/>
            <a:ext cx="457200" cy="347472"/>
          </a:xfrm>
          <a:prstGeom prst="rect">
            <a:avLst/>
          </a:prstGeom>
          <a:noFill/>
        </p:spPr>
        <p:txBody>
          <a:bodyPr wrap="square" lIns="0" rIns="0" tIns="0" bIns="0">
            <a:noAutofit/>
          </a:bodyPr>
          <a:lstStyle/>
          <a:p>
            <a:pPr algn="l">
              <a:lnSpc>
                <a:spcPct val="112000"/>
              </a:lnSpc>
              <a:spcBef>
                <a:spcPts val="0"/>
              </a:spcBef>
              <a:spcAft>
                <a:spcPts val="0"/>
              </a:spcAft>
            </a:pPr>
            <a:r>
              <a:rPr sz="2200">
                <a:solidFill>
                  <a:srgbClr val="5B4DB1"/>
                </a:solidFill>
                <a:latin typeface="Segoe UI Light"/>
              </a:rPr>
              <a:t>04</a:t>
            </a:r>
          </a:p>
        </p:txBody>
      </p:sp>
      <p:sp>
        <p:nvSpPr>
          <p:cNvPr id="25" name="text" descr="Integrate one consumer"/>
          <p:cNvSpPr txBox="1"/>
          <p:nvPr/>
        </p:nvSpPr>
        <p:spPr>
          <a:xfrm>
            <a:off x="9111996" y="3127248"/>
            <a:ext cx="2112264" cy="521207"/>
          </a:xfrm>
          <a:prstGeom prst="rect">
            <a:avLst/>
          </a:prstGeom>
          <a:noFill/>
        </p:spPr>
        <p:txBody>
          <a:bodyPr wrap="square" lIns="0" rIns="0" tIns="0" bIns="0">
            <a:noAutofit/>
          </a:bodyPr>
          <a:lstStyle/>
          <a:p>
            <a:pPr algn="l">
              <a:lnSpc>
                <a:spcPct val="112000"/>
              </a:lnSpc>
              <a:spcBef>
                <a:spcPts val="0"/>
              </a:spcBef>
              <a:spcAft>
                <a:spcPts val="0"/>
              </a:spcAft>
            </a:pPr>
            <a:r>
              <a:rPr sz="1650">
                <a:solidFill>
                  <a:srgbClr val="0A1224"/>
                </a:solidFill>
                <a:latin typeface="Segoe UI Semibold"/>
              </a:rPr>
              <a:t>Integrate + evaluate</a:t>
            </a:r>
          </a:p>
        </p:txBody>
      </p:sp>
      <p:sp>
        <p:nvSpPr>
          <p:cNvPr id="26" name="text" descr="Point a single real agent or workflow at the register and judge the citations it returns."/>
          <p:cNvSpPr txBox="1"/>
          <p:nvPr/>
        </p:nvSpPr>
        <p:spPr>
          <a:xfrm>
            <a:off x="9111996" y="3694176"/>
            <a:ext cx="2112264" cy="896112"/>
          </a:xfrm>
          <a:prstGeom prst="rect">
            <a:avLst/>
          </a:prstGeom>
          <a:noFill/>
        </p:spPr>
        <p:txBody>
          <a:bodyPr wrap="square" lIns="0" rIns="0" tIns="0" bIns="0">
            <a:noAutofit/>
          </a:bodyPr>
          <a:lstStyle/>
          <a:p>
            <a:pPr algn="l">
              <a:lnSpc>
                <a:spcPct val="112000"/>
              </a:lnSpc>
              <a:spcBef>
                <a:spcPts val="0"/>
              </a:spcBef>
              <a:spcAft>
                <a:spcPts val="0"/>
              </a:spcAft>
            </a:pPr>
            <a:r>
              <a:rPr sz="1250">
                <a:solidFill>
                  <a:srgbClr val="5C687C"/>
                </a:solidFill>
                <a:latin typeface="Segoe UI"/>
              </a:rPr>
              <a:t>Connect Desk, REST or MCP. Grade findings against the source; track effort and failures.</a:t>
            </a:r>
          </a:p>
        </p:txBody>
      </p:sp>
      <p:sp>
        <p:nvSpPr>
          <p:cNvPr id="45" name="Rounded Rectangle 44"/>
          <p:cNvSpPr/>
          <p:nvPr/>
        </p:nvSpPr>
        <p:spPr>
          <a:xfrm>
            <a:off x="731520" y="5248656"/>
            <a:ext cx="10725912" cy="576072"/>
          </a:xfrm>
          <a:prstGeom prst="roundRect">
            <a:avLst>
              <a:gd name="adj" fmla="val 10000"/>
            </a:avLst>
          </a:prstGeom>
          <a:solidFill>
            <a:srgbClr val="EDEA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descr="Judge it on"/>
          <p:cNvSpPr txBox="1"/>
          <p:nvPr/>
        </p:nvSpPr>
        <p:spPr>
          <a:xfrm>
            <a:off x="932688" y="5376672"/>
            <a:ext cx="1645920" cy="393192"/>
          </a:xfrm>
          <a:prstGeom prst="rect">
            <a:avLst/>
          </a:prstGeom>
          <a:noFill/>
        </p:spPr>
        <p:txBody>
          <a:bodyPr wrap="square" lIns="0" rIns="0" tIns="0" bIns="0">
            <a:noAutofit/>
          </a:bodyPr>
          <a:lstStyle/>
          <a:p>
            <a:pPr algn="l">
              <a:lnSpc>
                <a:spcPct val="112000"/>
              </a:lnSpc>
              <a:spcBef>
                <a:spcPts val="0"/>
              </a:spcBef>
              <a:spcAft>
                <a:spcPts val="0"/>
              </a:spcAft>
            </a:pPr>
            <a:r>
              <a:rPr sz="1100">
                <a:solidFill>
                  <a:srgbClr val="5B4DB1"/>
                </a:solidFill>
                <a:latin typeface="Segoe UI Semibold"/>
              </a:rPr>
              <a:t>EXPAND ONLY</a:t>
            </a:r>
          </a:p>
          <a:p>
            <a:pPr>
              <a:lnSpc>
                <a:spcPct val="112000"/>
              </a:lnSpc>
              <a:spcBef>
                <a:spcPts val="0"/>
              </a:spcBef>
              <a:spcAft>
                <a:spcPts val="0"/>
              </a:spcAft>
            </a:pPr>
            <a:r>
              <a:rPr sz="1100">
                <a:solidFill>
                  <a:srgbClr val="5B4DB1"/>
                </a:solidFill>
                <a:latin typeface="Segoe UI Semibold"/>
              </a:rPr>
              <a:t>WHEN...</a:t>
            </a:r>
          </a:p>
        </p:txBody>
      </p:sp>
      <p:sp>
        <p:nvSpPr>
          <p:cNvPr id="28" name="text" descr="•  Can a reviewer defend each published rule against the source?"/>
          <p:cNvSpPr txBox="1"/>
          <p:nvPr/>
        </p:nvSpPr>
        <p:spPr>
          <a:xfrm>
            <a:off x="2770632" y="5367528"/>
            <a:ext cx="2596896" cy="393192"/>
          </a:xfrm>
          <a:prstGeom prst="rect">
            <a:avLst/>
          </a:prstGeom>
          <a:noFill/>
        </p:spPr>
        <p:txBody>
          <a:bodyPr wrap="square" lIns="0" rIns="0" tIns="0" bIns="0">
            <a:noAutofit/>
          </a:bodyPr>
          <a:lstStyle/>
          <a:p>
            <a:pPr algn="l">
              <a:lnSpc>
                <a:spcPct val="112000"/>
              </a:lnSpc>
              <a:spcBef>
                <a:spcPts val="0"/>
              </a:spcBef>
              <a:spcAft>
                <a:spcPts val="0"/>
              </a:spcAft>
            </a:pPr>
            <a:r>
              <a:rPr sz="1200">
                <a:solidFill>
                  <a:srgbClr val="0A1224"/>
                </a:solidFill>
                <a:latin typeface="Segoe UI"/>
              </a:rPr>
              <a:t>Source-grounded findings</a:t>
            </a:r>
          </a:p>
          <a:p>
            <a:pPr>
              <a:lnSpc>
                <a:spcPct val="112000"/>
              </a:lnSpc>
              <a:spcBef>
                <a:spcPts val="0"/>
              </a:spcBef>
              <a:spcAft>
                <a:spcPts val="0"/>
              </a:spcAft>
            </a:pPr>
            <a:r>
              <a:rPr sz="1200">
                <a:solidFill>
                  <a:srgbClr val="0A1224"/>
                </a:solidFill>
                <a:latin typeface="Segoe UI"/>
              </a:rPr>
              <a:t>pass agreed criteria</a:t>
            </a:r>
          </a:p>
        </p:txBody>
      </p:sp>
      <p:sp>
        <p:nvSpPr>
          <p:cNvPr id="29" name="text" descr="•  Does a consuming system get an answer it can cite?"/>
          <p:cNvSpPr txBox="1"/>
          <p:nvPr/>
        </p:nvSpPr>
        <p:spPr>
          <a:xfrm>
            <a:off x="5715000" y="5367528"/>
            <a:ext cx="2596896" cy="393192"/>
          </a:xfrm>
          <a:prstGeom prst="rect">
            <a:avLst/>
          </a:prstGeom>
          <a:noFill/>
        </p:spPr>
        <p:txBody>
          <a:bodyPr wrap="square" lIns="0" rIns="0" tIns="0" bIns="0">
            <a:noAutofit/>
          </a:bodyPr>
          <a:lstStyle/>
          <a:p>
            <a:pPr algn="l">
              <a:lnSpc>
                <a:spcPct val="112000"/>
              </a:lnSpc>
              <a:spcBef>
                <a:spcPts val="0"/>
              </a:spcBef>
              <a:spcAft>
                <a:spcPts val="0"/>
              </a:spcAft>
            </a:pPr>
            <a:r>
              <a:rPr sz="1200">
                <a:solidFill>
                  <a:srgbClr val="0A1224"/>
                </a:solidFill>
                <a:latin typeface="Segoe UI"/>
              </a:rPr>
              <a:t>Missing facts and refusals</a:t>
            </a:r>
          </a:p>
          <a:p>
            <a:pPr>
              <a:lnSpc>
                <a:spcPct val="112000"/>
              </a:lnSpc>
              <a:spcBef>
                <a:spcPts val="0"/>
              </a:spcBef>
              <a:spcAft>
                <a:spcPts val="0"/>
              </a:spcAft>
            </a:pPr>
            <a:r>
              <a:rPr sz="1200">
                <a:solidFill>
                  <a:srgbClr val="0A1224"/>
                </a:solidFill>
                <a:latin typeface="Segoe UI"/>
              </a:rPr>
              <a:t>stay visible</a:t>
            </a:r>
          </a:p>
        </p:txBody>
      </p:sp>
      <p:sp>
        <p:nvSpPr>
          <p:cNvPr id="30" name="text" descr="•  Is the change boundary clear when the next edition lands?"/>
          <p:cNvSpPr txBox="1"/>
          <p:nvPr/>
        </p:nvSpPr>
        <p:spPr>
          <a:xfrm>
            <a:off x="8668512" y="5367528"/>
            <a:ext cx="2596896" cy="393192"/>
          </a:xfrm>
          <a:prstGeom prst="rect">
            <a:avLst/>
          </a:prstGeom>
          <a:noFill/>
        </p:spPr>
        <p:txBody>
          <a:bodyPr wrap="square" lIns="0" rIns="0" tIns="0" bIns="0">
            <a:noAutofit/>
          </a:bodyPr>
          <a:lstStyle/>
          <a:p>
            <a:pPr algn="l">
              <a:lnSpc>
                <a:spcPct val="112000"/>
              </a:lnSpc>
              <a:spcBef>
                <a:spcPts val="0"/>
              </a:spcBef>
              <a:spcAft>
                <a:spcPts val="0"/>
              </a:spcAft>
            </a:pPr>
            <a:r>
              <a:rPr sz="1200">
                <a:solidFill>
                  <a:srgbClr val="0A1224"/>
                </a:solidFill>
                <a:latin typeface="Segoe UI"/>
              </a:rPr>
              <a:t>Version and access</a:t>
            </a:r>
          </a:p>
          <a:p>
            <a:pPr>
              <a:lnSpc>
                <a:spcPct val="112000"/>
              </a:lnSpc>
              <a:spcBef>
                <a:spcPts val="0"/>
              </a:spcBef>
              <a:spcAft>
                <a:spcPts val="0"/>
              </a:spcAft>
            </a:pPr>
            <a:r>
              <a:rPr sz="1200">
                <a:solidFill>
                  <a:srgbClr val="0A1224"/>
                </a:solidFill>
                <a:latin typeface="Segoe UI"/>
              </a:rPr>
              <a:t>boundaries are verified</a:t>
            </a:r>
          </a:p>
        </p:txBody>
      </p:sp>
      <p:sp>
        <p:nvSpPr>
          <p:cNvPr id="31" name="footer-bar" descr="footer-bar"/>
          <p:cNvSpPr/>
          <p:nvPr/>
        </p:nvSpPr>
        <p:spPr>
          <a:xfrm>
            <a:off x="731520" y="6053328"/>
            <a:ext cx="10725912" cy="475488"/>
          </a:xfrm>
          <a:prstGeom prst="rect">
            <a:avLst/>
          </a:prstGeom>
          <a:solidFill>
            <a:srgbClr val="5B4D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ooter-text" descr="Success criteria are qualitative on purpose. No target percentage is set here, because none has been measured "/>
          <p:cNvSpPr txBox="1"/>
          <p:nvPr/>
        </p:nvSpPr>
        <p:spPr>
          <a:xfrm>
            <a:off x="987552" y="6172200"/>
            <a:ext cx="10213848" cy="274320"/>
          </a:xfrm>
          <a:prstGeom prst="rect">
            <a:avLst/>
          </a:prstGeom>
          <a:noFill/>
        </p:spPr>
        <p:txBody>
          <a:bodyPr wrap="square" lIns="0" rIns="0" tIns="0" bIns="0">
            <a:noAutofit/>
          </a:bodyPr>
          <a:lstStyle/>
          <a:p>
            <a:pPr algn="l">
              <a:lnSpc>
                <a:spcPct val="112000"/>
              </a:lnSpc>
              <a:spcBef>
                <a:spcPts val="0"/>
              </a:spcBef>
              <a:spcAft>
                <a:spcPts val="0"/>
              </a:spcAft>
            </a:pPr>
            <a:r>
              <a:rPr sz="1500">
                <a:solidFill>
                  <a:srgbClr val="FFFFFF"/>
                </a:solidFill>
                <a:latin typeface="Segoe UI Semibold"/>
              </a:rPr>
              <a:t>Start with one policy owner, one source set and one consuming channel.</a:t>
            </a:r>
          </a:p>
        </p:txBody>
      </p:sp>
      <p:sp>
        <p:nvSpPr>
          <p:cNvPr id="33" name="TextBox 32"/>
          <p:cNvSpPr txBox="1"/>
          <p:nvPr/>
        </p:nvSpPr>
        <p:spPr>
          <a:xfrm>
            <a:off x="1499616" y="2756916"/>
            <a:ext cx="1591056" cy="210312"/>
          </a:xfrm>
          <a:prstGeom prst="rect">
            <a:avLst/>
          </a:prstGeom>
          <a:noFill/>
        </p:spPr>
        <p:txBody>
          <a:bodyPr wrap="square" lIns="0" rIns="0" tIns="0" bIns="0">
            <a:noAutofit/>
          </a:bodyPr>
          <a:lstStyle/>
          <a:p>
            <a:pPr>
              <a:lnSpc>
                <a:spcPct val="112000"/>
              </a:lnSpc>
              <a:spcBef>
                <a:spcPts val="0"/>
              </a:spcBef>
              <a:spcAft>
                <a:spcPts val="0"/>
              </a:spcAft>
            </a:pPr>
            <a:r>
              <a:rPr sz="950">
                <a:solidFill>
                  <a:srgbClr val="5B4DB1"/>
                </a:solidFill>
                <a:latin typeface="Segoe UI Semibold"/>
              </a:rPr>
              <a:t>PILOT SCOPE</a:t>
            </a:r>
          </a:p>
        </p:txBody>
      </p:sp>
      <p:sp>
        <p:nvSpPr>
          <p:cNvPr id="34" name="Rectangle 33"/>
          <p:cNvSpPr/>
          <p:nvPr/>
        </p:nvSpPr>
        <p:spPr>
          <a:xfrm>
            <a:off x="950976" y="4709160"/>
            <a:ext cx="2112263" cy="1016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50976" y="4828032"/>
            <a:ext cx="2112264" cy="201168"/>
          </a:xfrm>
          <a:prstGeom prst="rect">
            <a:avLst/>
          </a:prstGeom>
          <a:noFill/>
        </p:spPr>
        <p:txBody>
          <a:bodyPr wrap="square" lIns="0" rIns="0" tIns="0" bIns="0">
            <a:noAutofit/>
          </a:bodyPr>
          <a:lstStyle/>
          <a:p>
            <a:pPr>
              <a:lnSpc>
                <a:spcPct val="112000"/>
              </a:lnSpc>
              <a:spcBef>
                <a:spcPts val="0"/>
              </a:spcBef>
              <a:spcAft>
                <a:spcPts val="0"/>
              </a:spcAft>
            </a:pPr>
            <a:r>
              <a:rPr sz="1050">
                <a:solidFill>
                  <a:srgbClr val="5B4DB1"/>
                </a:solidFill>
                <a:latin typeface="Segoe UI Semibold"/>
              </a:rPr>
              <a:t>Scope + success criteria</a:t>
            </a:r>
          </a:p>
        </p:txBody>
      </p:sp>
      <p:sp>
        <p:nvSpPr>
          <p:cNvPr id="36" name="TextBox 35"/>
          <p:cNvSpPr txBox="1"/>
          <p:nvPr/>
        </p:nvSpPr>
        <p:spPr>
          <a:xfrm>
            <a:off x="4219956" y="2756916"/>
            <a:ext cx="1591056" cy="210312"/>
          </a:xfrm>
          <a:prstGeom prst="rect">
            <a:avLst/>
          </a:prstGeom>
          <a:noFill/>
        </p:spPr>
        <p:txBody>
          <a:bodyPr wrap="square" lIns="0" rIns="0" tIns="0" bIns="0">
            <a:noAutofit/>
          </a:bodyPr>
          <a:lstStyle/>
          <a:p>
            <a:pPr>
              <a:lnSpc>
                <a:spcPct val="112000"/>
              </a:lnSpc>
              <a:spcBef>
                <a:spcPts val="0"/>
              </a:spcBef>
              <a:spcAft>
                <a:spcPts val="0"/>
              </a:spcAft>
            </a:pPr>
            <a:r>
              <a:rPr sz="950">
                <a:solidFill>
                  <a:srgbClr val="5B4DB1"/>
                </a:solidFill>
                <a:latin typeface="Segoe UI Semibold"/>
              </a:rPr>
              <a:t>SOURCE QUALITY</a:t>
            </a:r>
          </a:p>
        </p:txBody>
      </p:sp>
      <p:sp>
        <p:nvSpPr>
          <p:cNvPr id="37" name="Rectangle 36"/>
          <p:cNvSpPr/>
          <p:nvPr/>
        </p:nvSpPr>
        <p:spPr>
          <a:xfrm>
            <a:off x="3671316" y="4709160"/>
            <a:ext cx="2112263" cy="1016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71316" y="4828032"/>
            <a:ext cx="2112264" cy="201168"/>
          </a:xfrm>
          <a:prstGeom prst="rect">
            <a:avLst/>
          </a:prstGeom>
          <a:noFill/>
        </p:spPr>
        <p:txBody>
          <a:bodyPr wrap="square" lIns="0" rIns="0" tIns="0" bIns="0">
            <a:noAutofit/>
          </a:bodyPr>
          <a:lstStyle/>
          <a:p>
            <a:pPr>
              <a:lnSpc>
                <a:spcPct val="112000"/>
              </a:lnSpc>
              <a:spcBef>
                <a:spcPts val="0"/>
              </a:spcBef>
              <a:spcAft>
                <a:spcPts val="0"/>
              </a:spcAft>
            </a:pPr>
            <a:r>
              <a:rPr sz="1050">
                <a:solidFill>
                  <a:srgbClr val="5B4DB1"/>
                </a:solidFill>
                <a:latin typeface="Segoe UI Semibold"/>
              </a:rPr>
              <a:t>Source-quality review</a:t>
            </a:r>
          </a:p>
        </p:txBody>
      </p:sp>
      <p:sp>
        <p:nvSpPr>
          <p:cNvPr id="39" name="TextBox 38"/>
          <p:cNvSpPr txBox="1"/>
          <p:nvPr/>
        </p:nvSpPr>
        <p:spPr>
          <a:xfrm>
            <a:off x="6940296" y="2756916"/>
            <a:ext cx="1591056" cy="210312"/>
          </a:xfrm>
          <a:prstGeom prst="rect">
            <a:avLst/>
          </a:prstGeom>
          <a:noFill/>
        </p:spPr>
        <p:txBody>
          <a:bodyPr wrap="square" lIns="0" rIns="0" tIns="0" bIns="0">
            <a:noAutofit/>
          </a:bodyPr>
          <a:lstStyle/>
          <a:p>
            <a:pPr>
              <a:lnSpc>
                <a:spcPct val="112000"/>
              </a:lnSpc>
              <a:spcBef>
                <a:spcPts val="0"/>
              </a:spcBef>
              <a:spcAft>
                <a:spcPts val="0"/>
              </a:spcAft>
            </a:pPr>
            <a:r>
              <a:rPr sz="950">
                <a:solidFill>
                  <a:srgbClr val="FFFFFF"/>
                </a:solidFill>
                <a:latin typeface="Segoe UI Semibold"/>
              </a:rPr>
              <a:t>HUMAN + INDEX GATE</a:t>
            </a:r>
          </a:p>
        </p:txBody>
      </p:sp>
      <p:sp>
        <p:nvSpPr>
          <p:cNvPr id="40" name="Rectangle 39"/>
          <p:cNvSpPr/>
          <p:nvPr/>
        </p:nvSpPr>
        <p:spPr>
          <a:xfrm>
            <a:off x="6391656" y="4709160"/>
            <a:ext cx="2112264" cy="10160"/>
          </a:xfrm>
          <a:prstGeom prst="rect">
            <a:avLst/>
          </a:prstGeom>
          <a:solidFill>
            <a:srgbClr val="9B8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91656" y="4828032"/>
            <a:ext cx="2112264" cy="201168"/>
          </a:xfrm>
          <a:prstGeom prst="rect">
            <a:avLst/>
          </a:prstGeom>
          <a:noFill/>
        </p:spPr>
        <p:txBody>
          <a:bodyPr wrap="square" lIns="0" rIns="0" tIns="0" bIns="0">
            <a:noAutofit/>
          </a:bodyPr>
          <a:lstStyle/>
          <a:p>
            <a:pPr>
              <a:lnSpc>
                <a:spcPct val="112000"/>
              </a:lnSpc>
              <a:spcBef>
                <a:spcPts val="0"/>
              </a:spcBef>
              <a:spcAft>
                <a:spcPts val="0"/>
              </a:spcAft>
            </a:pPr>
            <a:r>
              <a:rPr sz="1050">
                <a:solidFill>
                  <a:srgbClr val="FFFFFF"/>
                </a:solidFill>
                <a:latin typeface="Segoe UI Semibold"/>
              </a:rPr>
              <a:t>Approved release + index</a:t>
            </a:r>
          </a:p>
        </p:txBody>
      </p:sp>
      <p:sp>
        <p:nvSpPr>
          <p:cNvPr id="42" name="TextBox 41"/>
          <p:cNvSpPr txBox="1"/>
          <p:nvPr/>
        </p:nvSpPr>
        <p:spPr>
          <a:xfrm>
            <a:off x="9660636" y="2756916"/>
            <a:ext cx="1591056" cy="210312"/>
          </a:xfrm>
          <a:prstGeom prst="rect">
            <a:avLst/>
          </a:prstGeom>
          <a:noFill/>
        </p:spPr>
        <p:txBody>
          <a:bodyPr wrap="square" lIns="0" rIns="0" tIns="0" bIns="0">
            <a:noAutofit/>
          </a:bodyPr>
          <a:lstStyle/>
          <a:p>
            <a:pPr>
              <a:lnSpc>
                <a:spcPct val="112000"/>
              </a:lnSpc>
              <a:spcBef>
                <a:spcPts val="0"/>
              </a:spcBef>
              <a:spcAft>
                <a:spcPts val="0"/>
              </a:spcAft>
            </a:pPr>
            <a:r>
              <a:rPr sz="950">
                <a:solidFill>
                  <a:srgbClr val="5B4DB1"/>
                </a:solidFill>
                <a:latin typeface="Segoe UI Semibold"/>
              </a:rPr>
              <a:t>PILOT EVIDENCE</a:t>
            </a:r>
          </a:p>
        </p:txBody>
      </p:sp>
      <p:sp>
        <p:nvSpPr>
          <p:cNvPr id="43" name="Rectangle 42"/>
          <p:cNvSpPr/>
          <p:nvPr/>
        </p:nvSpPr>
        <p:spPr>
          <a:xfrm>
            <a:off x="9111996" y="4709160"/>
            <a:ext cx="2112264" cy="10160"/>
          </a:xfrm>
          <a:prstGeom prst="rect">
            <a:avLst/>
          </a:prstGeom>
          <a:solidFill>
            <a:srgbClr val="DCE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11996" y="4828032"/>
            <a:ext cx="2112264" cy="201168"/>
          </a:xfrm>
          <a:prstGeom prst="rect">
            <a:avLst/>
          </a:prstGeom>
          <a:noFill/>
        </p:spPr>
        <p:txBody>
          <a:bodyPr wrap="square" lIns="0" rIns="0" tIns="0" bIns="0">
            <a:noAutofit/>
          </a:bodyPr>
          <a:lstStyle/>
          <a:p>
            <a:pPr>
              <a:lnSpc>
                <a:spcPct val="112000"/>
              </a:lnSpc>
              <a:spcBef>
                <a:spcPts val="0"/>
              </a:spcBef>
              <a:spcAft>
                <a:spcPts val="0"/>
              </a:spcAft>
            </a:pPr>
            <a:r>
              <a:rPr sz="1050">
                <a:solidFill>
                  <a:srgbClr val="5B4DB1"/>
                </a:solidFill>
                <a:latin typeface="Segoe UI Semibold"/>
              </a:rPr>
              <a:t>Graded pilot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PolicyVerbAItim | Business overview and architecture</dc:title>
  <dc:subject>Ten slides: original design, market positioning and Azure components</dc:subject>
  <dc:creator/>
  <cp:keywords/>
  <dc:description>Original slides 1, 2, 4, 5, 31, 27, 6, 33 retained; main 4dfce681 source basis.</dc:description>
  <cp:lastModifiedBy>Steve Canny</cp:lastModifiedBy>
  <cp:revision>1</cp:revision>
  <dcterms:created xsi:type="dcterms:W3CDTF">2013-01-27T09:14:16Z</dcterms:created>
  <dcterms:modified xsi:type="dcterms:W3CDTF">2013-01-27T09:15:58Z</dcterms:modified>
  <cp:category/>
</cp:coreProperties>
</file>